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panel and introduce the project: Enterprise Document Intelligence &amp; Workflow Automation Platform, developed for 25CS1302E - Database Systems (DBS-DBD), Project Review-1. Introduce the team and supervisor.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organizations struggle to manage large volumes of digital documents due to scattered storage, manual workflows, inefficient search, duplication, and security risks. Highlight the affected personas: employees, managers, HR, finance, and enterprise organizations.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societal need for centralized document management to reduce paperwork, improve collaboration, speed up retrieval, and automate workflows. Mention beneficiaries such as companies, educational institutions, hospitals, government offices, and small businesses, and explain the productivity and security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core objectives: a centralized platform, secure authentication, document upload/organization/search, version history, and workflow automation efficiency.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technology stack and justify each choice: React.js for the frontend, Spring Boot for the backend, MySQL for the database, Spring Security with JWT for authentication, Git/GitHub for version control, Java and JavaScript as languages, IntelliJ IDEA/VS Code as IDEs, and Postman for API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proposed workflow: user login, authentication, dashboard, folder creation, document upload, metadata storage in MySQL, search, version management, sharing, and activity logging. Summarize the expected outcome: a secure, scalable enterprise document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each of the nine modules briefly: authentication, user management, folder management, document upload &amp; storage, search, version management, sharing, dashboard &amp; reports, and activity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what makes the project unique - centralized management, role-based access, version control, intelligent search, workflow automation, activity tracking, and improved collaboration - and contrast it with traditional manual/file-based systems using the comparison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8-week implementation plan from requirement analysis through database design, backend APIs, authentication, document management, search/version control, frontend integration/testing, and final documentation. Close by inviting questions from the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3" Type="http://schemas.openxmlformats.org/officeDocument/2006/relationships/notesSlide" Target="../notesSlides/notesSlide2.xml"/><Relationship Id="rId12" Type="http://schemas.openxmlformats.org/officeDocument/2006/relationships/slideLayout" Target="../slideLayouts/slideLayout1.xml"/><Relationship Id="rId11" Type="http://schemas.openxmlformats.org/officeDocument/2006/relationships/image" Target="../media/image11.png"/><Relationship Id="rId10" Type="http://schemas.openxmlformats.org/officeDocument/2006/relationships/image" Target="../media/image10.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1.xml"/><Relationship Id="rId7" Type="http://schemas.openxmlformats.org/officeDocument/2006/relationships/image" Target="../media/image11.png"/><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5.xml.rels><?xml version="1.0" encoding="UTF-8" standalone="yes"?>
<Relationships xmlns="http://schemas.openxmlformats.org/package/2006/relationships"><Relationship Id="rId9" Type="http://schemas.openxmlformats.org/officeDocument/2006/relationships/image" Target="../media/image11.png"/><Relationship Id="rId8" Type="http://schemas.openxmlformats.org/officeDocument/2006/relationships/image" Target="../media/image30.png"/><Relationship Id="rId7" Type="http://schemas.openxmlformats.org/officeDocument/2006/relationships/image" Target="../media/image29.png"/><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1" Type="http://schemas.openxmlformats.org/officeDocument/2006/relationships/notesSlide" Target="../notesSlides/notesSlide5.xml"/><Relationship Id="rId10" Type="http://schemas.openxmlformats.org/officeDocument/2006/relationships/slideLayout" Target="../slideLayouts/slideLayout1.xml"/><Relationship Id="rId1" Type="http://schemas.openxmlformats.org/officeDocument/2006/relationships/image" Target="../media/image23.png"/></Relationships>
</file>

<file path=ppt/slides/_rels/slide6.xml.rels><?xml version="1.0" encoding="UTF-8" standalone="yes"?>
<Relationships xmlns="http://schemas.openxmlformats.org/package/2006/relationships"><Relationship Id="rId9" Type="http://schemas.openxmlformats.org/officeDocument/2006/relationships/image" Target="../media/image37.png"/><Relationship Id="rId8" Type="http://schemas.openxmlformats.org/officeDocument/2006/relationships/image" Target="../media/image36.png"/><Relationship Id="rId7" Type="http://schemas.openxmlformats.org/officeDocument/2006/relationships/image" Target="../media/image35.png"/><Relationship Id="rId6" Type="http://schemas.openxmlformats.org/officeDocument/2006/relationships/image" Target="../media/image20.png"/><Relationship Id="rId5" Type="http://schemas.openxmlformats.org/officeDocument/2006/relationships/image" Target="../media/image34.png"/><Relationship Id="rId4" Type="http://schemas.openxmlformats.org/officeDocument/2006/relationships/image" Target="../media/image33.png"/><Relationship Id="rId3" Type="http://schemas.openxmlformats.org/officeDocument/2006/relationships/image" Target="../media/image19.png"/><Relationship Id="rId2" Type="http://schemas.openxmlformats.org/officeDocument/2006/relationships/image" Target="../media/image32.png"/><Relationship Id="rId14" Type="http://schemas.openxmlformats.org/officeDocument/2006/relationships/notesSlide" Target="../notesSlides/notesSlide6.xml"/><Relationship Id="rId13" Type="http://schemas.openxmlformats.org/officeDocument/2006/relationships/slideLayout" Target="../slideLayouts/slideLayout1.xml"/><Relationship Id="rId12" Type="http://schemas.openxmlformats.org/officeDocument/2006/relationships/image" Target="../media/image11.png"/><Relationship Id="rId11" Type="http://schemas.openxmlformats.org/officeDocument/2006/relationships/image" Target="../media/image39.png"/><Relationship Id="rId10" Type="http://schemas.openxmlformats.org/officeDocument/2006/relationships/image" Target="../media/image38.png"/><Relationship Id="rId1" Type="http://schemas.openxmlformats.org/officeDocument/2006/relationships/image" Target="../media/image31.png"/></Relationships>
</file>

<file path=ppt/slides/_rels/slide7.xml.rels><?xml version="1.0" encoding="UTF-8" standalone="yes"?>
<Relationships xmlns="http://schemas.openxmlformats.org/package/2006/relationships"><Relationship Id="rId9" Type="http://schemas.openxmlformats.org/officeDocument/2006/relationships/image" Target="../media/image39.png"/><Relationship Id="rId8" Type="http://schemas.openxmlformats.org/officeDocument/2006/relationships/image" Target="../media/image43.png"/><Relationship Id="rId7" Type="http://schemas.openxmlformats.org/officeDocument/2006/relationships/image" Target="../media/image38.png"/><Relationship Id="rId6" Type="http://schemas.openxmlformats.org/officeDocument/2006/relationships/image" Target="../media/image21.png"/><Relationship Id="rId5" Type="http://schemas.openxmlformats.org/officeDocument/2006/relationships/image" Target="../media/image36.png"/><Relationship Id="rId4" Type="http://schemas.openxmlformats.org/officeDocument/2006/relationships/image" Target="../media/image20.png"/><Relationship Id="rId3" Type="http://schemas.openxmlformats.org/officeDocument/2006/relationships/image" Target="../media/image42.png"/><Relationship Id="rId2" Type="http://schemas.openxmlformats.org/officeDocument/2006/relationships/image" Target="../media/image41.png"/><Relationship Id="rId12" Type="http://schemas.openxmlformats.org/officeDocument/2006/relationships/notesSlide" Target="../notesSlides/notesSlide7.xml"/><Relationship Id="rId11" Type="http://schemas.openxmlformats.org/officeDocument/2006/relationships/slideLayout" Target="../slideLayouts/slideLayout1.xml"/><Relationship Id="rId10" Type="http://schemas.openxmlformats.org/officeDocument/2006/relationships/image" Target="../media/image11.png"/><Relationship Id="rId1" Type="http://schemas.openxmlformats.org/officeDocument/2006/relationships/image" Target="../media/image40.png"/></Relationships>
</file>

<file path=ppt/slides/_rels/slide8.xml.rels><?xml version="1.0" encoding="UTF-8" standalone="yes"?>
<Relationships xmlns="http://schemas.openxmlformats.org/package/2006/relationships"><Relationship Id="rId9" Type="http://schemas.openxmlformats.org/officeDocument/2006/relationships/image" Target="../media/image48.png"/><Relationship Id="rId8" Type="http://schemas.openxmlformats.org/officeDocument/2006/relationships/image" Target="../media/image47.png"/><Relationship Id="rId7" Type="http://schemas.openxmlformats.org/officeDocument/2006/relationships/image" Target="../media/image46.png"/><Relationship Id="rId6" Type="http://schemas.openxmlformats.org/officeDocument/2006/relationships/image" Target="../media/image45.png"/><Relationship Id="rId5" Type="http://schemas.openxmlformats.org/officeDocument/2006/relationships/image" Target="../media/image22.png"/><Relationship Id="rId4" Type="http://schemas.openxmlformats.org/officeDocument/2006/relationships/image" Target="../media/image36.png"/><Relationship Id="rId3" Type="http://schemas.openxmlformats.org/officeDocument/2006/relationships/image" Target="../media/image37.png"/><Relationship Id="rId2" Type="http://schemas.openxmlformats.org/officeDocument/2006/relationships/image" Target="../media/image19.png"/><Relationship Id="rId12" Type="http://schemas.openxmlformats.org/officeDocument/2006/relationships/notesSlide" Target="../notesSlides/notesSlide8.xml"/><Relationship Id="rId11" Type="http://schemas.openxmlformats.org/officeDocument/2006/relationships/slideLayout" Target="../slideLayouts/slideLayout1.xml"/><Relationship Id="rId10" Type="http://schemas.openxmlformats.org/officeDocument/2006/relationships/image" Target="../media/image11.png"/><Relationship Id="rId1" Type="http://schemas.openxmlformats.org/officeDocument/2006/relationships/image" Target="../media/image4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94B"/>
        </a:solidFill>
        <a:effectLst/>
      </p:bgPr>
    </p:bg>
    <p:spTree>
      <p:nvGrpSpPr>
        <p:cNvPr id="1" name=""/>
        <p:cNvGrpSpPr/>
        <p:nvPr/>
      </p:nvGrpSpPr>
      <p:grpSpPr>
        <a:xfrm>
          <a:off x="0" y="0"/>
          <a:ext cx="0" cy="0"/>
          <a:chOff x="0" y="0"/>
          <a:chExt cx="0" cy="0"/>
        </a:xfrm>
      </p:grpSpPr>
      <p:sp>
        <p:nvSpPr>
          <p:cNvPr id="4" name="Text 2"/>
          <p:cNvSpPr/>
          <p:nvPr/>
        </p:nvSpPr>
        <p:spPr>
          <a:xfrm>
            <a:off x="640080" y="594360"/>
            <a:ext cx="7315200" cy="320040"/>
          </a:xfrm>
          <a:prstGeom prst="rect">
            <a:avLst/>
          </a:prstGeom>
          <a:noFill/>
        </p:spPr>
        <p:txBody>
          <a:bodyPr wrap="square"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  </a:t>
            </a:r>
            <a:r>
              <a:rPr lang="en-US" b="1" kern="0" spc="200" dirty="0">
                <a:solidFill>
                  <a:srgbClr val="D9A441"/>
                </a:solidFill>
                <a:latin typeface="Calibri" pitchFamily="34" charset="0"/>
                <a:ea typeface="Calibri" pitchFamily="34" charset="-122"/>
                <a:cs typeface="Calibri" pitchFamily="34" charset="-120"/>
              </a:rPr>
              <a:t>PROJECT REVIEW – 1</a:t>
            </a:r>
            <a:endParaRPr lang="en-US" dirty="0"/>
          </a:p>
        </p:txBody>
      </p:sp>
      <p:sp>
        <p:nvSpPr>
          <p:cNvPr id="5" name="Text 3"/>
          <p:cNvSpPr/>
          <p:nvPr/>
        </p:nvSpPr>
        <p:spPr>
          <a:xfrm>
            <a:off x="640080" y="1051560"/>
            <a:ext cx="6949440" cy="1920240"/>
          </a:xfrm>
          <a:prstGeom prst="rect">
            <a:avLst/>
          </a:prstGeom>
          <a:noFill/>
        </p:spPr>
        <p:txBody>
          <a:bodyPr wrap="square" rtlCol="0" anchor="ctr"/>
          <a:lstStyle/>
          <a:p>
            <a:pPr marL="0" indent="0">
              <a:lnSpc>
                <a:spcPct val="112000"/>
              </a:lnSpc>
              <a:buNone/>
            </a:pPr>
            <a:r>
              <a:rPr lang="en-US" sz="3400" b="1" dirty="0">
                <a:solidFill>
                  <a:srgbClr val="FFFFFF"/>
                </a:solidFill>
                <a:latin typeface="Poppins" pitchFamily="34" charset="0"/>
                <a:ea typeface="Poppins" pitchFamily="34" charset="-122"/>
                <a:cs typeface="Poppins" pitchFamily="34" charset="-120"/>
              </a:rPr>
              <a:t>Enterprise Document Intelligence &amp;</a:t>
            </a:r>
            <a:endParaRPr lang="en-US" sz="3400" dirty="0"/>
          </a:p>
          <a:p>
            <a:pPr marL="0" indent="0">
              <a:lnSpc>
                <a:spcPct val="112000"/>
              </a:lnSpc>
              <a:buNone/>
            </a:pPr>
            <a:r>
              <a:rPr lang="en-US" sz="3400" b="1" dirty="0">
                <a:solidFill>
                  <a:srgbClr val="FFFFFF"/>
                </a:solidFill>
                <a:latin typeface="Poppins" pitchFamily="34" charset="0"/>
                <a:ea typeface="Poppins" pitchFamily="34" charset="-122"/>
                <a:cs typeface="Poppins" pitchFamily="34" charset="-120"/>
              </a:rPr>
              <a:t>Workflow Automation Platform</a:t>
            </a:r>
            <a:endParaRPr lang="en-US" sz="3400" dirty="0"/>
          </a:p>
        </p:txBody>
      </p:sp>
      <p:sp>
        <p:nvSpPr>
          <p:cNvPr id="6" name="Shape 4"/>
          <p:cNvSpPr/>
          <p:nvPr/>
        </p:nvSpPr>
        <p:spPr>
          <a:xfrm>
            <a:off x="658495" y="3062605"/>
            <a:ext cx="10405745" cy="635"/>
          </a:xfrm>
          <a:prstGeom prst="line">
            <a:avLst/>
          </a:prstGeom>
          <a:noFill/>
          <a:ln w="31750">
            <a:solidFill>
              <a:srgbClr val="D9A441"/>
            </a:solidFill>
            <a:prstDash val="solid"/>
          </a:ln>
        </p:spPr>
      </p:sp>
      <p:sp>
        <p:nvSpPr>
          <p:cNvPr id="7" name="Text 5"/>
          <p:cNvSpPr/>
          <p:nvPr/>
        </p:nvSpPr>
        <p:spPr>
          <a:xfrm>
            <a:off x="640080" y="3200400"/>
            <a:ext cx="6858000" cy="365760"/>
          </a:xfrm>
          <a:prstGeom prst="rect">
            <a:avLst/>
          </a:prstGeom>
          <a:noFill/>
        </p:spPr>
        <p:txBody>
          <a:bodyPr wrap="square" rtlCol="0" anchor="ctr"/>
          <a:lstStyle/>
          <a:p>
            <a:pPr marL="0" indent="0">
              <a:buNone/>
            </a:pPr>
            <a:r>
              <a:rPr lang="en-US" sz="1500" b="1" dirty="0">
                <a:solidFill>
                  <a:srgbClr val="E8F0FA"/>
                </a:solidFill>
                <a:latin typeface="Calibri" pitchFamily="34" charset="0"/>
                <a:ea typeface="Calibri" pitchFamily="34" charset="-122"/>
                <a:cs typeface="Calibri" pitchFamily="34" charset="-120"/>
              </a:rPr>
              <a:t>25CS1302E  –  Database Systems Engineering &amp; Distributed Backend Development (DBS-DBD)</a:t>
            </a:r>
            <a:endParaRPr lang="en-US" sz="1500" dirty="0"/>
          </a:p>
        </p:txBody>
      </p:sp>
      <p:sp>
        <p:nvSpPr>
          <p:cNvPr id="8" name="Text 6"/>
          <p:cNvSpPr/>
          <p:nvPr/>
        </p:nvSpPr>
        <p:spPr>
          <a:xfrm>
            <a:off x="640080" y="3794760"/>
            <a:ext cx="2743200" cy="256032"/>
          </a:xfrm>
          <a:prstGeom prst="rect">
            <a:avLst/>
          </a:prstGeom>
          <a:noFill/>
        </p:spPr>
        <p:txBody>
          <a:bodyPr wrap="square" rtlCol="0" anchor="ctr"/>
          <a:lstStyle/>
          <a:p>
            <a:pPr marL="0" indent="0">
              <a:buNone/>
            </a:pPr>
            <a:endParaRPr lang="en-US" sz="1050" dirty="0"/>
          </a:p>
        </p:txBody>
      </p:sp>
      <p:sp>
        <p:nvSpPr>
          <p:cNvPr id="9" name="Text 7"/>
          <p:cNvSpPr/>
          <p:nvPr/>
        </p:nvSpPr>
        <p:spPr>
          <a:xfrm>
            <a:off x="640080" y="4050792"/>
            <a:ext cx="3657600" cy="320040"/>
          </a:xfrm>
          <a:prstGeom prst="rect">
            <a:avLst/>
          </a:prstGeom>
          <a:noFill/>
        </p:spPr>
        <p:txBody>
          <a:bodyPr wrap="square" rtlCol="0" anchor="ctr"/>
          <a:lstStyle/>
          <a:p>
            <a:pPr marL="0" indent="0">
              <a:buNone/>
            </a:pPr>
            <a:endParaRPr lang="en-US" sz="1500" dirty="0"/>
          </a:p>
        </p:txBody>
      </p:sp>
      <p:sp>
        <p:nvSpPr>
          <p:cNvPr id="10" name="Text 8"/>
          <p:cNvSpPr/>
          <p:nvPr/>
        </p:nvSpPr>
        <p:spPr>
          <a:xfrm>
            <a:off x="658495" y="3783330"/>
            <a:ext cx="6016625" cy="267335"/>
          </a:xfrm>
          <a:prstGeom prst="rect">
            <a:avLst/>
          </a:prstGeom>
          <a:noFill/>
        </p:spPr>
        <p:txBody>
          <a:bodyPr wrap="square" rtlCol="0" anchor="ctr"/>
          <a:lstStyle/>
          <a:p>
            <a:pPr marL="0" indent="0">
              <a:buNone/>
            </a:pPr>
            <a:r>
              <a:rPr lang="en-US" sz="1400" b="1" kern="0" spc="100" dirty="0">
                <a:solidFill>
                  <a:srgbClr val="6E94BC"/>
                </a:solidFill>
                <a:latin typeface="Calibri" pitchFamily="34" charset="0"/>
                <a:ea typeface="Calibri" pitchFamily="34" charset="-122"/>
                <a:cs typeface="Calibri" pitchFamily="34" charset="-120"/>
              </a:rPr>
              <a:t>SUPERVISOR</a:t>
            </a:r>
            <a:endParaRPr lang="en-US" sz="1400" dirty="0"/>
          </a:p>
        </p:txBody>
      </p:sp>
      <p:sp>
        <p:nvSpPr>
          <p:cNvPr id="11" name="Text 9"/>
          <p:cNvSpPr/>
          <p:nvPr/>
        </p:nvSpPr>
        <p:spPr>
          <a:xfrm>
            <a:off x="659130" y="4136390"/>
            <a:ext cx="5436870" cy="234315"/>
          </a:xfrm>
          <a:prstGeom prst="rect">
            <a:avLst/>
          </a:prstGeom>
          <a:noFill/>
        </p:spPr>
        <p:txBody>
          <a:bodyPr wrap="square" rtlCol="0" anchor="ctr"/>
          <a:lstStyle/>
          <a:p>
            <a:pPr marL="0" indent="0">
              <a:buNone/>
            </a:pPr>
            <a:r>
              <a:rPr lang="en-US" sz="1500" dirty="0">
                <a:solidFill>
                  <a:srgbClr val="FFFFFF"/>
                </a:solidFill>
                <a:latin typeface="Heiti TC Light" panose="02000000000000000000" charset="-122"/>
                <a:ea typeface="Heiti TC Light" panose="02000000000000000000" charset="-122"/>
                <a:cs typeface="Calibri" pitchFamily="34" charset="-120"/>
              </a:rPr>
              <a:t>Dr Sasidhar Kothuru</a:t>
            </a:r>
            <a:endParaRPr lang="en-US" sz="1500" dirty="0">
              <a:latin typeface="Heiti TC Light" panose="02000000000000000000" charset="-122"/>
              <a:ea typeface="Heiti TC Light" panose="02000000000000000000" charset="-122"/>
            </a:endParaRPr>
          </a:p>
        </p:txBody>
      </p:sp>
      <p:sp>
        <p:nvSpPr>
          <p:cNvPr id="12" name="Text 10"/>
          <p:cNvSpPr/>
          <p:nvPr/>
        </p:nvSpPr>
        <p:spPr>
          <a:xfrm>
            <a:off x="640080" y="4663440"/>
            <a:ext cx="4572000" cy="256032"/>
          </a:xfrm>
          <a:prstGeom prst="rect">
            <a:avLst/>
          </a:prstGeom>
          <a:noFill/>
        </p:spPr>
        <p:txBody>
          <a:bodyPr wrap="square" rtlCol="0" anchor="ctr"/>
          <a:lstStyle/>
          <a:p>
            <a:pPr marL="0" indent="0">
              <a:buNone/>
            </a:pPr>
            <a:r>
              <a:rPr lang="en-US" sz="1400" b="1" kern="0" spc="100" dirty="0">
                <a:solidFill>
                  <a:srgbClr val="6E94BC"/>
                </a:solidFill>
                <a:latin typeface="Calibri" pitchFamily="34" charset="0"/>
                <a:ea typeface="Calibri" pitchFamily="34" charset="-122"/>
                <a:cs typeface="Calibri" pitchFamily="34" charset="-120"/>
              </a:rPr>
              <a:t>TEAM MEMBERS</a:t>
            </a:r>
            <a:endParaRPr lang="en-US" sz="1400" dirty="0"/>
          </a:p>
        </p:txBody>
      </p:sp>
      <p:sp>
        <p:nvSpPr>
          <p:cNvPr id="13" name="Text 11"/>
          <p:cNvSpPr/>
          <p:nvPr/>
        </p:nvSpPr>
        <p:spPr>
          <a:xfrm>
            <a:off x="640080" y="4919472"/>
            <a:ext cx="6035040" cy="1371600"/>
          </a:xfrm>
          <a:prstGeom prst="rect">
            <a:avLst/>
          </a:prstGeom>
          <a:noFill/>
        </p:spPr>
        <p:txBody>
          <a:bodyPr wrap="square" rtlCol="0" anchor="ctr"/>
          <a:lstStyle/>
          <a:p>
            <a:pPr marL="0" indent="0">
              <a:lnSpc>
                <a:spcPct val="135000"/>
              </a:lnSpc>
              <a:buNone/>
            </a:pPr>
            <a:r>
              <a:rPr lang="en-US" sz="1300" dirty="0">
                <a:solidFill>
                  <a:srgbClr val="E8F0FA"/>
                </a:solidFill>
                <a:latin typeface="Heiti TC Light" panose="02000000000000000000" charset="-122"/>
                <a:ea typeface="Heiti TC Light" panose="02000000000000000000" charset="-122"/>
                <a:cs typeface="Calibri" pitchFamily="34" charset="-120"/>
              </a:rPr>
              <a:t>Lakshith – 2510030332</a:t>
            </a:r>
            <a:endParaRPr lang="en-US" sz="1300" dirty="0">
              <a:latin typeface="Heiti TC Light" panose="02000000000000000000" charset="-122"/>
              <a:ea typeface="Heiti TC Light" panose="02000000000000000000" charset="-122"/>
            </a:endParaRPr>
          </a:p>
          <a:p>
            <a:pPr marL="0" indent="0">
              <a:lnSpc>
                <a:spcPct val="135000"/>
              </a:lnSpc>
              <a:buNone/>
            </a:pPr>
            <a:r>
              <a:rPr lang="en-US" sz="1300" dirty="0">
                <a:solidFill>
                  <a:srgbClr val="E8F0FA"/>
                </a:solidFill>
                <a:latin typeface="Heiti TC Light" panose="02000000000000000000" charset="-122"/>
                <a:ea typeface="Heiti TC Light" panose="02000000000000000000" charset="-122"/>
                <a:cs typeface="Calibri" pitchFamily="34" charset="-120"/>
              </a:rPr>
              <a:t>Ranadeep – 2510030337</a:t>
            </a:r>
            <a:endParaRPr lang="en-US" sz="1300" dirty="0">
              <a:latin typeface="Heiti TC Light" panose="02000000000000000000" charset="-122"/>
              <a:ea typeface="Heiti TC Light" panose="02000000000000000000" charset="-122"/>
            </a:endParaRPr>
          </a:p>
          <a:p>
            <a:pPr marL="0" indent="0">
              <a:lnSpc>
                <a:spcPct val="135000"/>
              </a:lnSpc>
              <a:buNone/>
            </a:pPr>
            <a:r>
              <a:rPr lang="en-US" sz="1300" dirty="0">
                <a:solidFill>
                  <a:srgbClr val="E8F0FA"/>
                </a:solidFill>
                <a:latin typeface="Heiti TC Light" panose="02000000000000000000" charset="-122"/>
                <a:ea typeface="Heiti TC Light" panose="02000000000000000000" charset="-122"/>
                <a:cs typeface="Calibri" pitchFamily="34" charset="-120"/>
              </a:rPr>
              <a:t>Jivith – 2510030430</a:t>
            </a:r>
            <a:endParaRPr lang="en-US" sz="1300" dirty="0">
              <a:latin typeface="Heiti TC Light" panose="02000000000000000000" charset="-122"/>
              <a:ea typeface="Heiti TC Light" panose="02000000000000000000" charset="-122"/>
            </a:endParaRPr>
          </a:p>
          <a:p>
            <a:pPr marL="0" indent="0">
              <a:lnSpc>
                <a:spcPct val="135000"/>
              </a:lnSpc>
              <a:buNone/>
            </a:pPr>
            <a:r>
              <a:rPr lang="en-US" sz="1300" dirty="0">
                <a:solidFill>
                  <a:srgbClr val="E8F0FA"/>
                </a:solidFill>
                <a:latin typeface="Heiti TC Light" panose="02000000000000000000" charset="-122"/>
                <a:ea typeface="Heiti TC Light" panose="02000000000000000000" charset="-122"/>
                <a:cs typeface="Calibri" pitchFamily="34" charset="-120"/>
              </a:rPr>
              <a:t>Rahul – 2510030322</a:t>
            </a:r>
            <a:endParaRPr lang="en-US" sz="1300" dirty="0">
              <a:latin typeface="Heiti TC Light" panose="02000000000000000000" charset="-122"/>
              <a:ea typeface="Heiti TC Light" panose="02000000000000000000" charset="-122"/>
            </a:endParaRPr>
          </a:p>
        </p:txBody>
      </p:sp>
      <p:sp>
        <p:nvSpPr>
          <p:cNvPr id="24" name="Text 17"/>
          <p:cNvSpPr/>
          <p:nvPr/>
        </p:nvSpPr>
        <p:spPr>
          <a:xfrm>
            <a:off x="457200" y="6519672"/>
            <a:ext cx="5486400" cy="274320"/>
          </a:xfrm>
          <a:prstGeom prst="rect">
            <a:avLst/>
          </a:prstGeom>
          <a:noFill/>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Enterprise Document Intelligence &amp; Workflow Automation Platform</a:t>
            </a:r>
            <a:endParaRPr lang="en-US" sz="900" dirty="0"/>
          </a:p>
        </p:txBody>
      </p:sp>
      <p:sp>
        <p:nvSpPr>
          <p:cNvPr id="25" name="Text 18"/>
          <p:cNvSpPr/>
          <p:nvPr/>
        </p:nvSpPr>
        <p:spPr>
          <a:xfrm>
            <a:off x="11277295" y="6519672"/>
            <a:ext cx="457200" cy="274320"/>
          </a:xfrm>
          <a:prstGeom prst="rect">
            <a:avLst/>
          </a:prstGeom>
          <a:noFill/>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p:spPr>
        <p:txBody>
          <a:bodyPr wrap="square" rtlCol="0" anchor="ctr"/>
          <a:lstStyle/>
          <a:p>
            <a:pPr marL="0" indent="0">
              <a:buNone/>
            </a:pPr>
            <a:r>
              <a:rPr lang="en-US" b="1" kern="0" spc="200" dirty="0">
                <a:solidFill>
                  <a:srgbClr val="D9A441"/>
                </a:solidFill>
                <a:latin typeface="Calibri" pitchFamily="34" charset="0"/>
                <a:ea typeface="Calibri" pitchFamily="34" charset="-122"/>
                <a:cs typeface="Calibri" pitchFamily="34" charset="-120"/>
              </a:rPr>
              <a:t>THE CHALLENGE</a:t>
            </a:r>
            <a:endParaRPr lang="en-US" dirty="0"/>
          </a:p>
        </p:txBody>
      </p:sp>
      <p:sp>
        <p:nvSpPr>
          <p:cNvPr id="3" name="Text 1"/>
          <p:cNvSpPr/>
          <p:nvPr/>
        </p:nvSpPr>
        <p:spPr>
          <a:xfrm>
            <a:off x="548640" y="658368"/>
            <a:ext cx="10515600" cy="640080"/>
          </a:xfrm>
          <a:prstGeom prst="rect">
            <a:avLst/>
          </a:prstGeom>
          <a:noFill/>
        </p:spPr>
        <p:txBody>
          <a:bodyPr wrap="square" rtlCol="0" anchor="ctr"/>
          <a:lstStyle/>
          <a:p>
            <a:pPr marL="0" indent="0">
              <a:buNone/>
            </a:pPr>
            <a:r>
              <a:rPr lang="en-US" sz="3000" b="1" dirty="0">
                <a:solidFill>
                  <a:srgbClr val="1B2A4A"/>
                </a:solidFill>
                <a:latin typeface="Poppins" pitchFamily="34" charset="0"/>
                <a:ea typeface="Poppins" pitchFamily="34" charset="-122"/>
                <a:cs typeface="Poppins" pitchFamily="34" charset="-120"/>
              </a:rPr>
              <a:t>Problem Statement</a:t>
            </a:r>
            <a:endParaRPr lang="en-US" sz="3000" dirty="0"/>
          </a:p>
        </p:txBody>
      </p:sp>
      <p:sp>
        <p:nvSpPr>
          <p:cNvPr id="4" name="Text 2"/>
          <p:cNvSpPr/>
          <p:nvPr/>
        </p:nvSpPr>
        <p:spPr>
          <a:xfrm>
            <a:off x="548640" y="1371600"/>
            <a:ext cx="11064240" cy="640080"/>
          </a:xfrm>
          <a:prstGeom prst="rect">
            <a:avLst/>
          </a:prstGeom>
          <a:noFill/>
        </p:spPr>
        <p:txBody>
          <a:bodyPr wrap="square" rtlCol="0" anchor="ctr"/>
          <a:lstStyle/>
          <a:p>
            <a:pPr marL="0" indent="0">
              <a:lnSpc>
                <a:spcPct val="120000"/>
              </a:lnSpc>
              <a:buNone/>
            </a:pPr>
            <a:r>
              <a:rPr lang="en-US" sz="1400" dirty="0">
                <a:solidFill>
                  <a:srgbClr val="5B6B82"/>
                </a:solidFill>
                <a:latin typeface="Calibri" pitchFamily="34" charset="0"/>
                <a:ea typeface="Calibri" pitchFamily="34" charset="-122"/>
                <a:cs typeface="Calibri" pitchFamily="34" charset="-120"/>
              </a:rPr>
              <a:t>Organizations manage large volumes of digital documents scattered across systems — manual workflows, slow search, duplicate files, and unauthorized access put efficiency and security at risk.</a:t>
            </a:r>
            <a:endParaRPr lang="en-US" sz="1400" dirty="0"/>
          </a:p>
        </p:txBody>
      </p:sp>
      <p:sp>
        <p:nvSpPr>
          <p:cNvPr id="5" name="Shape 3"/>
          <p:cNvSpPr/>
          <p:nvPr/>
        </p:nvSpPr>
        <p:spPr>
          <a:xfrm>
            <a:off x="548640" y="2331720"/>
            <a:ext cx="2084832" cy="1783080"/>
          </a:xfrm>
          <a:prstGeom prst="roundRect">
            <a:avLst>
              <a:gd name="adj" fmla="val 4615"/>
            </a:avLst>
          </a:prstGeom>
          <a:solidFill>
            <a:srgbClr val="F4F7FB"/>
          </a:solidFill>
          <a:effectLst>
            <a:outerShdw blurRad="63500" dist="25400" dir="5400000" algn="bl" rotWithShape="0">
              <a:srgbClr val="13294B">
                <a:alpha val="10000"/>
              </a:srgbClr>
            </a:outerShdw>
          </a:effectLst>
        </p:spPr>
      </p:sp>
      <p:sp>
        <p:nvSpPr>
          <p:cNvPr id="6" name="Shape 4"/>
          <p:cNvSpPr/>
          <p:nvPr/>
        </p:nvSpPr>
        <p:spPr>
          <a:xfrm>
            <a:off x="1261872" y="2505456"/>
            <a:ext cx="658368" cy="658368"/>
          </a:xfrm>
          <a:prstGeom prst="ellipse">
            <a:avLst/>
          </a:prstGeom>
          <a:solidFill>
            <a:srgbClr val="2F5D8A"/>
          </a:solidFill>
          <a:effectLst>
            <a:outerShdw blurRad="76200" dist="25400" dir="5400000" algn="bl" rotWithShape="0">
              <a:srgbClr val="13294B">
                <a:alpha val="18000"/>
              </a:srgbClr>
            </a:outerShdw>
          </a:effectLst>
        </p:spPr>
      </p:sp>
      <p:pic>
        <p:nvPicPr>
          <p:cNvPr id="7" name="Image 0" descr="/home/claude/dbs_ppt/icons/prob_scatter.png"/>
          <p:cNvPicPr>
            <a:picLocks noChangeAspect="1"/>
          </p:cNvPicPr>
          <p:nvPr/>
        </p:nvPicPr>
        <p:blipFill>
          <a:blip r:embed="rId1"/>
          <a:stretch>
            <a:fillRect/>
          </a:stretch>
        </p:blipFill>
        <p:spPr>
          <a:xfrm>
            <a:off x="1433048" y="2676632"/>
            <a:ext cx="316017" cy="316017"/>
          </a:xfrm>
          <a:prstGeom prst="rect">
            <a:avLst/>
          </a:prstGeom>
        </p:spPr>
      </p:pic>
      <p:sp>
        <p:nvSpPr>
          <p:cNvPr id="8" name="Text 5"/>
          <p:cNvSpPr/>
          <p:nvPr/>
        </p:nvSpPr>
        <p:spPr>
          <a:xfrm>
            <a:off x="640080" y="3246120"/>
            <a:ext cx="1901952" cy="365760"/>
          </a:xfrm>
          <a:prstGeom prst="rect">
            <a:avLst/>
          </a:prstGeom>
          <a:noFill/>
        </p:spPr>
        <p:txBody>
          <a:bodyPr wrap="square" rtlCol="0" anchor="ctr"/>
          <a:lstStyle/>
          <a:p>
            <a:pPr marL="0" indent="0" algn="ctr">
              <a:buNone/>
            </a:pPr>
            <a:r>
              <a:rPr lang="en-US" sz="1250" b="1" dirty="0">
                <a:solidFill>
                  <a:srgbClr val="1B2A4A"/>
                </a:solidFill>
                <a:latin typeface="Calibri" pitchFamily="34" charset="0"/>
                <a:ea typeface="Calibri" pitchFamily="34" charset="-122"/>
                <a:cs typeface="Calibri" pitchFamily="34" charset="-120"/>
              </a:rPr>
              <a:t>Scattered Storage</a:t>
            </a:r>
            <a:endParaRPr lang="en-US" sz="1250" dirty="0"/>
          </a:p>
        </p:txBody>
      </p:sp>
      <p:sp>
        <p:nvSpPr>
          <p:cNvPr id="9" name="Text 6"/>
          <p:cNvSpPr/>
          <p:nvPr/>
        </p:nvSpPr>
        <p:spPr>
          <a:xfrm>
            <a:off x="658368" y="3611880"/>
            <a:ext cx="1865376" cy="457200"/>
          </a:xfrm>
          <a:prstGeom prst="rect">
            <a:avLst/>
          </a:prstGeom>
          <a:noFill/>
        </p:spPr>
        <p:txBody>
          <a:bodyPr wrap="square" rtlCol="0" anchor="ctr"/>
          <a:lstStyle/>
          <a:p>
            <a:pPr marL="0" indent="0" algn="ctr">
              <a:lnSpc>
                <a:spcPct val="110000"/>
              </a:lnSpc>
              <a:buNone/>
            </a:pPr>
            <a:r>
              <a:rPr lang="en-US" sz="950" dirty="0">
                <a:solidFill>
                  <a:srgbClr val="5B6B82"/>
                </a:solidFill>
                <a:latin typeface="Calibri" pitchFamily="34" charset="0"/>
                <a:ea typeface="Calibri" pitchFamily="34" charset="-122"/>
                <a:cs typeface="Calibri" pitchFamily="34" charset="-120"/>
              </a:rPr>
              <a:t>Files spread across drives &amp; tools</a:t>
            </a:r>
            <a:endParaRPr lang="en-US" sz="950" dirty="0"/>
          </a:p>
        </p:txBody>
      </p:sp>
      <p:sp>
        <p:nvSpPr>
          <p:cNvPr id="10" name="Shape 7"/>
          <p:cNvSpPr/>
          <p:nvPr/>
        </p:nvSpPr>
        <p:spPr>
          <a:xfrm>
            <a:off x="2798064" y="2331720"/>
            <a:ext cx="2084832" cy="1783080"/>
          </a:xfrm>
          <a:prstGeom prst="roundRect">
            <a:avLst>
              <a:gd name="adj" fmla="val 4615"/>
            </a:avLst>
          </a:prstGeom>
          <a:solidFill>
            <a:srgbClr val="F4F7FB"/>
          </a:solidFill>
          <a:effectLst>
            <a:outerShdw blurRad="63500" dist="25400" dir="5400000" algn="bl" rotWithShape="0">
              <a:srgbClr val="13294B">
                <a:alpha val="10000"/>
              </a:srgbClr>
            </a:outerShdw>
          </a:effectLst>
        </p:spPr>
      </p:sp>
      <p:sp>
        <p:nvSpPr>
          <p:cNvPr id="11" name="Shape 8"/>
          <p:cNvSpPr/>
          <p:nvPr/>
        </p:nvSpPr>
        <p:spPr>
          <a:xfrm>
            <a:off x="3511296" y="2505456"/>
            <a:ext cx="658368" cy="658368"/>
          </a:xfrm>
          <a:prstGeom prst="ellipse">
            <a:avLst/>
          </a:prstGeom>
          <a:solidFill>
            <a:srgbClr val="2F5D8A"/>
          </a:solidFill>
          <a:effectLst>
            <a:outerShdw blurRad="76200" dist="25400" dir="5400000" algn="bl" rotWithShape="0">
              <a:srgbClr val="13294B">
                <a:alpha val="18000"/>
              </a:srgbClr>
            </a:outerShdw>
          </a:effectLst>
        </p:spPr>
      </p:sp>
      <p:pic>
        <p:nvPicPr>
          <p:cNvPr id="12" name="Image 1" descr="/home/claude/dbs_ppt/icons/prob_time.png"/>
          <p:cNvPicPr>
            <a:picLocks noChangeAspect="1"/>
          </p:cNvPicPr>
          <p:nvPr/>
        </p:nvPicPr>
        <p:blipFill>
          <a:blip r:embed="rId2"/>
          <a:stretch>
            <a:fillRect/>
          </a:stretch>
        </p:blipFill>
        <p:spPr>
          <a:xfrm>
            <a:off x="3682472" y="2676632"/>
            <a:ext cx="316017" cy="316017"/>
          </a:xfrm>
          <a:prstGeom prst="rect">
            <a:avLst/>
          </a:prstGeom>
        </p:spPr>
      </p:pic>
      <p:sp>
        <p:nvSpPr>
          <p:cNvPr id="13" name="Text 9"/>
          <p:cNvSpPr/>
          <p:nvPr/>
        </p:nvSpPr>
        <p:spPr>
          <a:xfrm>
            <a:off x="2889504" y="3246120"/>
            <a:ext cx="1901952" cy="365760"/>
          </a:xfrm>
          <a:prstGeom prst="rect">
            <a:avLst/>
          </a:prstGeom>
          <a:noFill/>
        </p:spPr>
        <p:txBody>
          <a:bodyPr wrap="square" rtlCol="0" anchor="ctr"/>
          <a:lstStyle/>
          <a:p>
            <a:pPr marL="0" indent="0" algn="ctr">
              <a:buNone/>
            </a:pPr>
            <a:r>
              <a:rPr lang="en-US" sz="1250" b="1" dirty="0">
                <a:solidFill>
                  <a:srgbClr val="1B2A4A"/>
                </a:solidFill>
                <a:latin typeface="Calibri" pitchFamily="34" charset="0"/>
                <a:ea typeface="Calibri" pitchFamily="34" charset="-122"/>
                <a:cs typeface="Calibri" pitchFamily="34" charset="-120"/>
              </a:rPr>
              <a:t>Manual Workflows</a:t>
            </a:r>
            <a:endParaRPr lang="en-US" sz="1250" dirty="0"/>
          </a:p>
        </p:txBody>
      </p:sp>
      <p:sp>
        <p:nvSpPr>
          <p:cNvPr id="14" name="Text 10"/>
          <p:cNvSpPr/>
          <p:nvPr/>
        </p:nvSpPr>
        <p:spPr>
          <a:xfrm>
            <a:off x="2907792" y="3611880"/>
            <a:ext cx="1865376" cy="457200"/>
          </a:xfrm>
          <a:prstGeom prst="rect">
            <a:avLst/>
          </a:prstGeom>
          <a:noFill/>
        </p:spPr>
        <p:txBody>
          <a:bodyPr wrap="square" rtlCol="0" anchor="ctr"/>
          <a:lstStyle/>
          <a:p>
            <a:pPr marL="0" indent="0" algn="ctr">
              <a:lnSpc>
                <a:spcPct val="110000"/>
              </a:lnSpc>
              <a:buNone/>
            </a:pPr>
            <a:r>
              <a:rPr lang="en-US" sz="950" dirty="0">
                <a:solidFill>
                  <a:srgbClr val="5B6B82"/>
                </a:solidFill>
                <a:latin typeface="Calibri" pitchFamily="34" charset="0"/>
                <a:ea typeface="Calibri" pitchFamily="34" charset="-122"/>
                <a:cs typeface="Calibri" pitchFamily="34" charset="-120"/>
              </a:rPr>
              <a:t>Time-consuming approvals</a:t>
            </a:r>
            <a:endParaRPr lang="en-US" sz="950" dirty="0"/>
          </a:p>
        </p:txBody>
      </p:sp>
      <p:sp>
        <p:nvSpPr>
          <p:cNvPr id="15" name="Shape 11"/>
          <p:cNvSpPr/>
          <p:nvPr/>
        </p:nvSpPr>
        <p:spPr>
          <a:xfrm>
            <a:off x="5047488" y="2331720"/>
            <a:ext cx="2084832" cy="1783080"/>
          </a:xfrm>
          <a:prstGeom prst="roundRect">
            <a:avLst>
              <a:gd name="adj" fmla="val 4615"/>
            </a:avLst>
          </a:prstGeom>
          <a:solidFill>
            <a:srgbClr val="F4F7FB"/>
          </a:solidFill>
          <a:effectLst>
            <a:outerShdw blurRad="63500" dist="25400" dir="5400000" algn="bl" rotWithShape="0">
              <a:srgbClr val="13294B">
                <a:alpha val="10000"/>
              </a:srgbClr>
            </a:outerShdw>
          </a:effectLst>
        </p:spPr>
      </p:sp>
      <p:sp>
        <p:nvSpPr>
          <p:cNvPr id="16" name="Shape 12"/>
          <p:cNvSpPr/>
          <p:nvPr/>
        </p:nvSpPr>
        <p:spPr>
          <a:xfrm>
            <a:off x="5760720" y="2505456"/>
            <a:ext cx="658368" cy="658368"/>
          </a:xfrm>
          <a:prstGeom prst="ellipse">
            <a:avLst/>
          </a:prstGeom>
          <a:solidFill>
            <a:srgbClr val="2F5D8A"/>
          </a:solidFill>
          <a:effectLst>
            <a:outerShdw blurRad="76200" dist="25400" dir="5400000" algn="bl" rotWithShape="0">
              <a:srgbClr val="13294B">
                <a:alpha val="18000"/>
              </a:srgbClr>
            </a:outerShdw>
          </a:effectLst>
        </p:spPr>
      </p:sp>
      <p:pic>
        <p:nvPicPr>
          <p:cNvPr id="17" name="Image 2" descr="/home/claude/dbs_ppt/icons/prob_search.png"/>
          <p:cNvPicPr>
            <a:picLocks noChangeAspect="1"/>
          </p:cNvPicPr>
          <p:nvPr/>
        </p:nvPicPr>
        <p:blipFill>
          <a:blip r:embed="rId3"/>
          <a:stretch>
            <a:fillRect/>
          </a:stretch>
        </p:blipFill>
        <p:spPr>
          <a:xfrm>
            <a:off x="5931896" y="2676632"/>
            <a:ext cx="316017" cy="316017"/>
          </a:xfrm>
          <a:prstGeom prst="rect">
            <a:avLst/>
          </a:prstGeom>
        </p:spPr>
      </p:pic>
      <p:sp>
        <p:nvSpPr>
          <p:cNvPr id="18" name="Text 13"/>
          <p:cNvSpPr/>
          <p:nvPr/>
        </p:nvSpPr>
        <p:spPr>
          <a:xfrm>
            <a:off x="5138928" y="3246120"/>
            <a:ext cx="1901952" cy="365760"/>
          </a:xfrm>
          <a:prstGeom prst="rect">
            <a:avLst/>
          </a:prstGeom>
          <a:noFill/>
        </p:spPr>
        <p:txBody>
          <a:bodyPr wrap="square" rtlCol="0" anchor="ctr"/>
          <a:lstStyle/>
          <a:p>
            <a:pPr marL="0" indent="0" algn="ctr">
              <a:buNone/>
            </a:pPr>
            <a:r>
              <a:rPr lang="en-US" sz="1250" b="1" dirty="0">
                <a:solidFill>
                  <a:srgbClr val="1B2A4A"/>
                </a:solidFill>
                <a:latin typeface="Calibri" pitchFamily="34" charset="0"/>
                <a:ea typeface="Calibri" pitchFamily="34" charset="-122"/>
                <a:cs typeface="Calibri" pitchFamily="34" charset="-120"/>
              </a:rPr>
              <a:t>Inefficient Search</a:t>
            </a:r>
            <a:endParaRPr lang="en-US" sz="1250" dirty="0"/>
          </a:p>
        </p:txBody>
      </p:sp>
      <p:sp>
        <p:nvSpPr>
          <p:cNvPr id="19" name="Text 14"/>
          <p:cNvSpPr/>
          <p:nvPr/>
        </p:nvSpPr>
        <p:spPr>
          <a:xfrm>
            <a:off x="5157216" y="3611880"/>
            <a:ext cx="1865376" cy="457200"/>
          </a:xfrm>
          <a:prstGeom prst="rect">
            <a:avLst/>
          </a:prstGeom>
          <a:noFill/>
        </p:spPr>
        <p:txBody>
          <a:bodyPr wrap="square" rtlCol="0" anchor="ctr"/>
          <a:lstStyle/>
          <a:p>
            <a:pPr marL="0" indent="0" algn="ctr">
              <a:lnSpc>
                <a:spcPct val="110000"/>
              </a:lnSpc>
              <a:buNone/>
            </a:pPr>
            <a:r>
              <a:rPr lang="en-US" sz="950" dirty="0">
                <a:solidFill>
                  <a:srgbClr val="5B6B82"/>
                </a:solidFill>
                <a:latin typeface="Calibri" pitchFamily="34" charset="0"/>
                <a:ea typeface="Calibri" pitchFamily="34" charset="-122"/>
                <a:cs typeface="Calibri" pitchFamily="34" charset="-120"/>
              </a:rPr>
              <a:t>Hard to locate documents</a:t>
            </a:r>
            <a:endParaRPr lang="en-US" sz="950" dirty="0"/>
          </a:p>
        </p:txBody>
      </p:sp>
      <p:sp>
        <p:nvSpPr>
          <p:cNvPr id="20" name="Shape 15"/>
          <p:cNvSpPr/>
          <p:nvPr/>
        </p:nvSpPr>
        <p:spPr>
          <a:xfrm>
            <a:off x="7296912" y="2331720"/>
            <a:ext cx="2084832" cy="1783080"/>
          </a:xfrm>
          <a:prstGeom prst="roundRect">
            <a:avLst>
              <a:gd name="adj" fmla="val 4615"/>
            </a:avLst>
          </a:prstGeom>
          <a:solidFill>
            <a:srgbClr val="F4F7FB"/>
          </a:solidFill>
          <a:effectLst>
            <a:outerShdw blurRad="63500" dist="25400" dir="5400000" algn="bl" rotWithShape="0">
              <a:srgbClr val="13294B">
                <a:alpha val="10000"/>
              </a:srgbClr>
            </a:outerShdw>
          </a:effectLst>
        </p:spPr>
      </p:sp>
      <p:sp>
        <p:nvSpPr>
          <p:cNvPr id="21" name="Shape 16"/>
          <p:cNvSpPr/>
          <p:nvPr/>
        </p:nvSpPr>
        <p:spPr>
          <a:xfrm>
            <a:off x="8010144" y="2505456"/>
            <a:ext cx="658368" cy="658368"/>
          </a:xfrm>
          <a:prstGeom prst="ellipse">
            <a:avLst/>
          </a:prstGeom>
          <a:solidFill>
            <a:srgbClr val="2F5D8A"/>
          </a:solidFill>
          <a:effectLst>
            <a:outerShdw blurRad="76200" dist="25400" dir="5400000" algn="bl" rotWithShape="0">
              <a:srgbClr val="13294B">
                <a:alpha val="18000"/>
              </a:srgbClr>
            </a:outerShdw>
          </a:effectLst>
        </p:spPr>
      </p:sp>
      <p:pic>
        <p:nvPicPr>
          <p:cNvPr id="22" name="Image 3" descr="/home/claude/dbs_ppt/icons/prob_dup.png"/>
          <p:cNvPicPr>
            <a:picLocks noChangeAspect="1"/>
          </p:cNvPicPr>
          <p:nvPr/>
        </p:nvPicPr>
        <p:blipFill>
          <a:blip r:embed="rId4"/>
          <a:stretch>
            <a:fillRect/>
          </a:stretch>
        </p:blipFill>
        <p:spPr>
          <a:xfrm>
            <a:off x="8181320" y="2676632"/>
            <a:ext cx="316017" cy="316017"/>
          </a:xfrm>
          <a:prstGeom prst="rect">
            <a:avLst/>
          </a:prstGeom>
        </p:spPr>
      </p:pic>
      <p:sp>
        <p:nvSpPr>
          <p:cNvPr id="23" name="Text 17"/>
          <p:cNvSpPr/>
          <p:nvPr/>
        </p:nvSpPr>
        <p:spPr>
          <a:xfrm>
            <a:off x="7388352" y="3246120"/>
            <a:ext cx="1901952" cy="365760"/>
          </a:xfrm>
          <a:prstGeom prst="rect">
            <a:avLst/>
          </a:prstGeom>
          <a:noFill/>
        </p:spPr>
        <p:txBody>
          <a:bodyPr wrap="square" rtlCol="0" anchor="ctr"/>
          <a:lstStyle/>
          <a:p>
            <a:pPr marL="0" indent="0" algn="ctr">
              <a:buNone/>
            </a:pPr>
            <a:r>
              <a:rPr lang="en-US" sz="1250" b="1" dirty="0">
                <a:solidFill>
                  <a:srgbClr val="1B2A4A"/>
                </a:solidFill>
                <a:latin typeface="Calibri" pitchFamily="34" charset="0"/>
                <a:ea typeface="Calibri" pitchFamily="34" charset="-122"/>
                <a:cs typeface="Calibri" pitchFamily="34" charset="-120"/>
              </a:rPr>
              <a:t>Duplicate Files</a:t>
            </a:r>
            <a:endParaRPr lang="en-US" sz="1250" dirty="0"/>
          </a:p>
        </p:txBody>
      </p:sp>
      <p:sp>
        <p:nvSpPr>
          <p:cNvPr id="24" name="Text 18"/>
          <p:cNvSpPr/>
          <p:nvPr/>
        </p:nvSpPr>
        <p:spPr>
          <a:xfrm>
            <a:off x="7406640" y="3611880"/>
            <a:ext cx="1865376" cy="457200"/>
          </a:xfrm>
          <a:prstGeom prst="rect">
            <a:avLst/>
          </a:prstGeom>
          <a:noFill/>
        </p:spPr>
        <p:txBody>
          <a:bodyPr wrap="square" rtlCol="0" anchor="ctr"/>
          <a:lstStyle/>
          <a:p>
            <a:pPr marL="0" indent="0" algn="ctr">
              <a:lnSpc>
                <a:spcPct val="110000"/>
              </a:lnSpc>
              <a:buNone/>
            </a:pPr>
            <a:r>
              <a:rPr lang="en-US" sz="950" dirty="0">
                <a:solidFill>
                  <a:srgbClr val="5B6B82"/>
                </a:solidFill>
                <a:latin typeface="Calibri" pitchFamily="34" charset="0"/>
                <a:ea typeface="Calibri" pitchFamily="34" charset="-122"/>
                <a:cs typeface="Calibri" pitchFamily="34" charset="-120"/>
              </a:rPr>
              <a:t>Redundant, conflicting copies</a:t>
            </a:r>
            <a:endParaRPr lang="en-US" sz="950" dirty="0"/>
          </a:p>
        </p:txBody>
      </p:sp>
      <p:sp>
        <p:nvSpPr>
          <p:cNvPr id="25" name="Shape 19"/>
          <p:cNvSpPr/>
          <p:nvPr/>
        </p:nvSpPr>
        <p:spPr>
          <a:xfrm>
            <a:off x="9546336" y="2331720"/>
            <a:ext cx="2084832" cy="1783080"/>
          </a:xfrm>
          <a:prstGeom prst="roundRect">
            <a:avLst>
              <a:gd name="adj" fmla="val 4615"/>
            </a:avLst>
          </a:prstGeom>
          <a:solidFill>
            <a:srgbClr val="F4F7FB"/>
          </a:solidFill>
          <a:effectLst>
            <a:outerShdw blurRad="63500" dist="25400" dir="5400000" algn="bl" rotWithShape="0">
              <a:srgbClr val="13294B">
                <a:alpha val="10000"/>
              </a:srgbClr>
            </a:outerShdw>
          </a:effectLst>
        </p:spPr>
      </p:sp>
      <p:sp>
        <p:nvSpPr>
          <p:cNvPr id="26" name="Shape 20"/>
          <p:cNvSpPr/>
          <p:nvPr/>
        </p:nvSpPr>
        <p:spPr>
          <a:xfrm>
            <a:off x="10259568" y="2505456"/>
            <a:ext cx="658368" cy="658368"/>
          </a:xfrm>
          <a:prstGeom prst="ellipse">
            <a:avLst/>
          </a:prstGeom>
          <a:solidFill>
            <a:srgbClr val="D9A441"/>
          </a:solidFill>
          <a:effectLst>
            <a:outerShdw blurRad="76200" dist="25400" dir="5400000" algn="bl" rotWithShape="0">
              <a:srgbClr val="13294B">
                <a:alpha val="18000"/>
              </a:srgbClr>
            </a:outerShdw>
          </a:effectLst>
        </p:spPr>
      </p:sp>
      <p:pic>
        <p:nvPicPr>
          <p:cNvPr id="27" name="Image 4" descr="/home/claude/dbs_ppt/icons/prob_risk.png"/>
          <p:cNvPicPr>
            <a:picLocks noChangeAspect="1"/>
          </p:cNvPicPr>
          <p:nvPr/>
        </p:nvPicPr>
        <p:blipFill>
          <a:blip r:embed="rId5"/>
          <a:stretch>
            <a:fillRect/>
          </a:stretch>
        </p:blipFill>
        <p:spPr>
          <a:xfrm>
            <a:off x="10430744" y="2676632"/>
            <a:ext cx="316017" cy="316017"/>
          </a:xfrm>
          <a:prstGeom prst="rect">
            <a:avLst/>
          </a:prstGeom>
        </p:spPr>
      </p:pic>
      <p:sp>
        <p:nvSpPr>
          <p:cNvPr id="28" name="Text 21"/>
          <p:cNvSpPr/>
          <p:nvPr/>
        </p:nvSpPr>
        <p:spPr>
          <a:xfrm>
            <a:off x="9637776" y="3246120"/>
            <a:ext cx="1901952" cy="365760"/>
          </a:xfrm>
          <a:prstGeom prst="rect">
            <a:avLst/>
          </a:prstGeom>
          <a:noFill/>
        </p:spPr>
        <p:txBody>
          <a:bodyPr wrap="square" rtlCol="0" anchor="ctr"/>
          <a:lstStyle/>
          <a:p>
            <a:pPr marL="0" indent="0" algn="ctr">
              <a:buNone/>
            </a:pPr>
            <a:r>
              <a:rPr lang="en-US" sz="1250" b="1" dirty="0">
                <a:solidFill>
                  <a:srgbClr val="1B2A4A"/>
                </a:solidFill>
                <a:latin typeface="Calibri" pitchFamily="34" charset="0"/>
                <a:ea typeface="Calibri" pitchFamily="34" charset="-122"/>
                <a:cs typeface="Calibri" pitchFamily="34" charset="-120"/>
              </a:rPr>
              <a:t>Security Risks</a:t>
            </a:r>
            <a:endParaRPr lang="en-US" sz="1250" dirty="0"/>
          </a:p>
        </p:txBody>
      </p:sp>
      <p:sp>
        <p:nvSpPr>
          <p:cNvPr id="29" name="Text 22"/>
          <p:cNvSpPr/>
          <p:nvPr/>
        </p:nvSpPr>
        <p:spPr>
          <a:xfrm>
            <a:off x="9656064" y="3611880"/>
            <a:ext cx="1865376" cy="457200"/>
          </a:xfrm>
          <a:prstGeom prst="rect">
            <a:avLst/>
          </a:prstGeom>
          <a:noFill/>
        </p:spPr>
        <p:txBody>
          <a:bodyPr wrap="square" rtlCol="0" anchor="ctr"/>
          <a:lstStyle/>
          <a:p>
            <a:pPr marL="0" indent="0" algn="ctr">
              <a:lnSpc>
                <a:spcPct val="110000"/>
              </a:lnSpc>
              <a:buNone/>
            </a:pPr>
            <a:r>
              <a:rPr lang="en-US" sz="950" dirty="0">
                <a:solidFill>
                  <a:srgbClr val="5B6B82"/>
                </a:solidFill>
                <a:latin typeface="Calibri" pitchFamily="34" charset="0"/>
                <a:ea typeface="Calibri" pitchFamily="34" charset="-122"/>
                <a:cs typeface="Calibri" pitchFamily="34" charset="-120"/>
              </a:rPr>
              <a:t>Unauthorized document access</a:t>
            </a:r>
            <a:endParaRPr lang="en-US" sz="950" dirty="0"/>
          </a:p>
        </p:txBody>
      </p:sp>
      <p:sp>
        <p:nvSpPr>
          <p:cNvPr id="30" name="Shape 23"/>
          <p:cNvSpPr/>
          <p:nvPr/>
        </p:nvSpPr>
        <p:spPr>
          <a:xfrm>
            <a:off x="0" y="4526280"/>
            <a:ext cx="12191695" cy="1417320"/>
          </a:xfrm>
          <a:prstGeom prst="rect">
            <a:avLst/>
          </a:prstGeom>
          <a:solidFill>
            <a:srgbClr val="E8F0FA"/>
          </a:solidFill>
        </p:spPr>
      </p:sp>
      <p:sp>
        <p:nvSpPr>
          <p:cNvPr id="31" name="Text 24"/>
          <p:cNvSpPr/>
          <p:nvPr/>
        </p:nvSpPr>
        <p:spPr>
          <a:xfrm>
            <a:off x="548640" y="4626864"/>
            <a:ext cx="3657600" cy="274320"/>
          </a:xfrm>
          <a:prstGeom prst="rect">
            <a:avLst/>
          </a:prstGeom>
          <a:noFill/>
        </p:spPr>
        <p:txBody>
          <a:bodyPr wrap="square" rtlCol="0" anchor="ctr"/>
          <a:lstStyle/>
          <a:p>
            <a:pPr marL="0" indent="0">
              <a:buNone/>
            </a:pPr>
            <a:r>
              <a:rPr lang="en-US" sz="1100" b="1" kern="0" spc="150" dirty="0">
                <a:solidFill>
                  <a:srgbClr val="2F5D8A"/>
                </a:solidFill>
                <a:latin typeface="Calibri" pitchFamily="34" charset="0"/>
                <a:ea typeface="Calibri" pitchFamily="34" charset="-122"/>
                <a:cs typeface="Calibri" pitchFamily="34" charset="-120"/>
              </a:rPr>
              <a:t>AFFECTED PERSONAS</a:t>
            </a:r>
            <a:endParaRPr lang="en-US" sz="1100" dirty="0"/>
          </a:p>
        </p:txBody>
      </p:sp>
      <p:sp>
        <p:nvSpPr>
          <p:cNvPr id="32" name="Shape 25"/>
          <p:cNvSpPr/>
          <p:nvPr/>
        </p:nvSpPr>
        <p:spPr>
          <a:xfrm>
            <a:off x="589788" y="5070348"/>
            <a:ext cx="685800" cy="685800"/>
          </a:xfrm>
          <a:prstGeom prst="ellipse">
            <a:avLst/>
          </a:prstGeom>
          <a:solidFill>
            <a:srgbClr val="FFFFFF"/>
          </a:solidFill>
          <a:effectLst>
            <a:outerShdw blurRad="76200" dist="25400" dir="5400000" algn="bl" rotWithShape="0">
              <a:srgbClr val="13294B">
                <a:alpha val="18000"/>
              </a:srgbClr>
            </a:outerShdw>
          </a:effectLst>
        </p:spPr>
      </p:sp>
      <p:pic>
        <p:nvPicPr>
          <p:cNvPr id="33" name="Image 5" descr="/home/claude/dbs_ppt/icons/persona_employee.png"/>
          <p:cNvPicPr>
            <a:picLocks noChangeAspect="1"/>
          </p:cNvPicPr>
          <p:nvPr/>
        </p:nvPicPr>
        <p:blipFill>
          <a:blip r:embed="rId6"/>
          <a:stretch>
            <a:fillRect/>
          </a:stretch>
        </p:blipFill>
        <p:spPr>
          <a:xfrm>
            <a:off x="763524" y="5244084"/>
            <a:ext cx="338328" cy="338328"/>
          </a:xfrm>
          <a:prstGeom prst="rect">
            <a:avLst/>
          </a:prstGeom>
        </p:spPr>
      </p:pic>
      <p:sp>
        <p:nvSpPr>
          <p:cNvPr id="34" name="Text 26"/>
          <p:cNvSpPr/>
          <p:nvPr/>
        </p:nvSpPr>
        <p:spPr>
          <a:xfrm>
            <a:off x="1371600" y="5193792"/>
            <a:ext cx="1261872" cy="457200"/>
          </a:xfrm>
          <a:prstGeom prst="rect">
            <a:avLst/>
          </a:prstGeom>
          <a:noFill/>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Employees</a:t>
            </a:r>
            <a:endParaRPr lang="en-US" sz="1250" dirty="0"/>
          </a:p>
        </p:txBody>
      </p:sp>
      <p:sp>
        <p:nvSpPr>
          <p:cNvPr id="35" name="Shape 27"/>
          <p:cNvSpPr/>
          <p:nvPr/>
        </p:nvSpPr>
        <p:spPr>
          <a:xfrm>
            <a:off x="2839212" y="5070348"/>
            <a:ext cx="685800" cy="685800"/>
          </a:xfrm>
          <a:prstGeom prst="ellipse">
            <a:avLst/>
          </a:prstGeom>
          <a:solidFill>
            <a:srgbClr val="FFFFFF"/>
          </a:solidFill>
          <a:effectLst>
            <a:outerShdw blurRad="76200" dist="25400" dir="5400000" algn="bl" rotWithShape="0">
              <a:srgbClr val="13294B">
                <a:alpha val="18000"/>
              </a:srgbClr>
            </a:outerShdw>
          </a:effectLst>
        </p:spPr>
      </p:sp>
      <p:pic>
        <p:nvPicPr>
          <p:cNvPr id="36" name="Image 6" descr="/home/claude/dbs_ppt/icons/persona_manager.png"/>
          <p:cNvPicPr>
            <a:picLocks noChangeAspect="1"/>
          </p:cNvPicPr>
          <p:nvPr/>
        </p:nvPicPr>
        <p:blipFill>
          <a:blip r:embed="rId7"/>
          <a:stretch>
            <a:fillRect/>
          </a:stretch>
        </p:blipFill>
        <p:spPr>
          <a:xfrm>
            <a:off x="3012948" y="5244084"/>
            <a:ext cx="338328" cy="338328"/>
          </a:xfrm>
          <a:prstGeom prst="rect">
            <a:avLst/>
          </a:prstGeom>
        </p:spPr>
      </p:pic>
      <p:sp>
        <p:nvSpPr>
          <p:cNvPr id="37" name="Text 28"/>
          <p:cNvSpPr/>
          <p:nvPr/>
        </p:nvSpPr>
        <p:spPr>
          <a:xfrm>
            <a:off x="3621024" y="5193792"/>
            <a:ext cx="1261872" cy="457200"/>
          </a:xfrm>
          <a:prstGeom prst="rect">
            <a:avLst/>
          </a:prstGeom>
          <a:noFill/>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Managers</a:t>
            </a:r>
            <a:endParaRPr lang="en-US" sz="1250" dirty="0"/>
          </a:p>
        </p:txBody>
      </p:sp>
      <p:sp>
        <p:nvSpPr>
          <p:cNvPr id="38" name="Shape 29"/>
          <p:cNvSpPr/>
          <p:nvPr/>
        </p:nvSpPr>
        <p:spPr>
          <a:xfrm>
            <a:off x="5088636" y="5070348"/>
            <a:ext cx="685800" cy="685800"/>
          </a:xfrm>
          <a:prstGeom prst="ellipse">
            <a:avLst/>
          </a:prstGeom>
          <a:solidFill>
            <a:srgbClr val="FFFFFF"/>
          </a:solidFill>
          <a:effectLst>
            <a:outerShdw blurRad="76200" dist="25400" dir="5400000" algn="bl" rotWithShape="0">
              <a:srgbClr val="13294B">
                <a:alpha val="18000"/>
              </a:srgbClr>
            </a:outerShdw>
          </a:effectLst>
        </p:spPr>
      </p:sp>
      <p:pic>
        <p:nvPicPr>
          <p:cNvPr id="39" name="Image 7" descr="/home/claude/dbs_ppt/icons/persona_hr.png"/>
          <p:cNvPicPr>
            <a:picLocks noChangeAspect="1"/>
          </p:cNvPicPr>
          <p:nvPr/>
        </p:nvPicPr>
        <p:blipFill>
          <a:blip r:embed="rId8"/>
          <a:stretch>
            <a:fillRect/>
          </a:stretch>
        </p:blipFill>
        <p:spPr>
          <a:xfrm>
            <a:off x="5262372" y="5244084"/>
            <a:ext cx="338328" cy="338328"/>
          </a:xfrm>
          <a:prstGeom prst="rect">
            <a:avLst/>
          </a:prstGeom>
        </p:spPr>
      </p:pic>
      <p:sp>
        <p:nvSpPr>
          <p:cNvPr id="40" name="Text 30"/>
          <p:cNvSpPr/>
          <p:nvPr/>
        </p:nvSpPr>
        <p:spPr>
          <a:xfrm>
            <a:off x="5870448" y="5193792"/>
            <a:ext cx="1261872" cy="457200"/>
          </a:xfrm>
          <a:prstGeom prst="rect">
            <a:avLst/>
          </a:prstGeom>
          <a:noFill/>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HR Dept.</a:t>
            </a:r>
            <a:endParaRPr lang="en-US" sz="1250" dirty="0"/>
          </a:p>
        </p:txBody>
      </p:sp>
      <p:sp>
        <p:nvSpPr>
          <p:cNvPr id="41" name="Shape 31"/>
          <p:cNvSpPr/>
          <p:nvPr/>
        </p:nvSpPr>
        <p:spPr>
          <a:xfrm>
            <a:off x="7338060" y="5070348"/>
            <a:ext cx="685800" cy="685800"/>
          </a:xfrm>
          <a:prstGeom prst="ellipse">
            <a:avLst/>
          </a:prstGeom>
          <a:solidFill>
            <a:srgbClr val="FFFFFF"/>
          </a:solidFill>
          <a:effectLst>
            <a:outerShdw blurRad="76200" dist="25400" dir="5400000" algn="bl" rotWithShape="0">
              <a:srgbClr val="13294B">
                <a:alpha val="18000"/>
              </a:srgbClr>
            </a:outerShdw>
          </a:effectLst>
        </p:spPr>
      </p:sp>
      <p:pic>
        <p:nvPicPr>
          <p:cNvPr id="42" name="Image 8" descr="/home/claude/dbs_ppt/icons/persona_finance.png"/>
          <p:cNvPicPr>
            <a:picLocks noChangeAspect="1"/>
          </p:cNvPicPr>
          <p:nvPr/>
        </p:nvPicPr>
        <p:blipFill>
          <a:blip r:embed="rId9"/>
          <a:stretch>
            <a:fillRect/>
          </a:stretch>
        </p:blipFill>
        <p:spPr>
          <a:xfrm>
            <a:off x="7511796" y="5244084"/>
            <a:ext cx="338328" cy="338328"/>
          </a:xfrm>
          <a:prstGeom prst="rect">
            <a:avLst/>
          </a:prstGeom>
        </p:spPr>
      </p:pic>
      <p:sp>
        <p:nvSpPr>
          <p:cNvPr id="43" name="Text 32"/>
          <p:cNvSpPr/>
          <p:nvPr/>
        </p:nvSpPr>
        <p:spPr>
          <a:xfrm>
            <a:off x="8119872" y="5193792"/>
            <a:ext cx="1261872" cy="457200"/>
          </a:xfrm>
          <a:prstGeom prst="rect">
            <a:avLst/>
          </a:prstGeom>
          <a:noFill/>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Finance Dept.</a:t>
            </a:r>
            <a:endParaRPr lang="en-US" sz="1250" dirty="0"/>
          </a:p>
        </p:txBody>
      </p:sp>
      <p:sp>
        <p:nvSpPr>
          <p:cNvPr id="44" name="Shape 33"/>
          <p:cNvSpPr/>
          <p:nvPr/>
        </p:nvSpPr>
        <p:spPr>
          <a:xfrm>
            <a:off x="9587484" y="5070348"/>
            <a:ext cx="685800" cy="685800"/>
          </a:xfrm>
          <a:prstGeom prst="ellipse">
            <a:avLst/>
          </a:prstGeom>
          <a:solidFill>
            <a:srgbClr val="FFFFFF"/>
          </a:solidFill>
          <a:effectLst>
            <a:outerShdw blurRad="76200" dist="25400" dir="5400000" algn="bl" rotWithShape="0">
              <a:srgbClr val="13294B">
                <a:alpha val="18000"/>
              </a:srgbClr>
            </a:outerShdw>
          </a:effectLst>
        </p:spPr>
      </p:sp>
      <p:pic>
        <p:nvPicPr>
          <p:cNvPr id="45" name="Image 9" descr="/home/claude/dbs_ppt/icons/persona_enterprise.png"/>
          <p:cNvPicPr>
            <a:picLocks noChangeAspect="1"/>
          </p:cNvPicPr>
          <p:nvPr/>
        </p:nvPicPr>
        <p:blipFill>
          <a:blip r:embed="rId10"/>
          <a:stretch>
            <a:fillRect/>
          </a:stretch>
        </p:blipFill>
        <p:spPr>
          <a:xfrm>
            <a:off x="9761220" y="5244084"/>
            <a:ext cx="338328" cy="338328"/>
          </a:xfrm>
          <a:prstGeom prst="rect">
            <a:avLst/>
          </a:prstGeom>
        </p:spPr>
      </p:pic>
      <p:sp>
        <p:nvSpPr>
          <p:cNvPr id="46" name="Text 34"/>
          <p:cNvSpPr/>
          <p:nvPr/>
        </p:nvSpPr>
        <p:spPr>
          <a:xfrm>
            <a:off x="10369296" y="5193792"/>
            <a:ext cx="1261872" cy="457200"/>
          </a:xfrm>
          <a:prstGeom prst="rect">
            <a:avLst/>
          </a:prstGeom>
          <a:noFill/>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Enterprises</a:t>
            </a:r>
            <a:endParaRPr lang="en-US" sz="1250" dirty="0"/>
          </a:p>
        </p:txBody>
      </p:sp>
      <p:sp>
        <p:nvSpPr>
          <p:cNvPr id="47" name="Text 35"/>
          <p:cNvSpPr/>
          <p:nvPr/>
        </p:nvSpPr>
        <p:spPr>
          <a:xfrm>
            <a:off x="457200" y="6519672"/>
            <a:ext cx="5486400" cy="274320"/>
          </a:xfrm>
          <a:prstGeom prst="rect">
            <a:avLst/>
          </a:prstGeom>
          <a:noFill/>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25CS1302E – DBS-DBD  |  Project Review-1</a:t>
            </a:r>
            <a:endParaRPr lang="en-US" sz="900" dirty="0"/>
          </a:p>
        </p:txBody>
      </p:sp>
      <p:sp>
        <p:nvSpPr>
          <p:cNvPr id="48" name="Text 36"/>
          <p:cNvSpPr/>
          <p:nvPr/>
        </p:nvSpPr>
        <p:spPr>
          <a:xfrm>
            <a:off x="11277295" y="6519672"/>
            <a:ext cx="457200" cy="274320"/>
          </a:xfrm>
          <a:prstGeom prst="rect">
            <a:avLst/>
          </a:prstGeom>
          <a:noFill/>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2</a:t>
            </a:r>
            <a:endParaRPr lang="en-US" sz="900" dirty="0"/>
          </a:p>
        </p:txBody>
      </p:sp>
      <p:pic>
        <p:nvPicPr>
          <p:cNvPr id="360564775" name="Picture 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a:xfrm>
            <a:off x="9959340" y="137160"/>
            <a:ext cx="1903730" cy="768350"/>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p:spPr>
        <p:txBody>
          <a:bodyPr wrap="square" rtlCol="0" anchor="ctr"/>
          <a:lstStyle/>
          <a:p>
            <a:pPr marL="0" indent="0">
              <a:buNone/>
            </a:pPr>
            <a:r>
              <a:rPr lang="en-US" b="1" kern="0" spc="200" dirty="0">
                <a:solidFill>
                  <a:srgbClr val="D9A441"/>
                </a:solidFill>
                <a:latin typeface="Calibri" pitchFamily="34" charset="0"/>
                <a:ea typeface="Calibri" pitchFamily="34" charset="-122"/>
                <a:cs typeface="Calibri" pitchFamily="34" charset="-120"/>
              </a:rPr>
              <a:t>SOCIETAL NEED</a:t>
            </a:r>
            <a:endParaRPr lang="en-US" dirty="0"/>
          </a:p>
        </p:txBody>
      </p:sp>
      <p:sp>
        <p:nvSpPr>
          <p:cNvPr id="3" name="Text 1"/>
          <p:cNvSpPr/>
          <p:nvPr/>
        </p:nvSpPr>
        <p:spPr>
          <a:xfrm>
            <a:off x="548640" y="658368"/>
            <a:ext cx="10515600" cy="640080"/>
          </a:xfrm>
          <a:prstGeom prst="rect">
            <a:avLst/>
          </a:prstGeom>
          <a:noFill/>
        </p:spPr>
        <p:txBody>
          <a:bodyPr wrap="square" rtlCol="0" anchor="ctr"/>
          <a:lstStyle/>
          <a:p>
            <a:pPr marL="0" indent="0">
              <a:buNone/>
            </a:pPr>
            <a:r>
              <a:rPr lang="en-US" sz="3000" b="1" dirty="0">
                <a:solidFill>
                  <a:srgbClr val="1B2A4A"/>
                </a:solidFill>
                <a:latin typeface="Poppins" pitchFamily="34" charset="0"/>
                <a:ea typeface="Poppins" pitchFamily="34" charset="-122"/>
                <a:cs typeface="Poppins" pitchFamily="34" charset="-120"/>
              </a:rPr>
              <a:t>Need for the Project</a:t>
            </a:r>
            <a:endParaRPr lang="en-US" sz="3000" dirty="0"/>
          </a:p>
        </p:txBody>
      </p:sp>
      <p:sp>
        <p:nvSpPr>
          <p:cNvPr id="4" name="Shape 2"/>
          <p:cNvSpPr/>
          <p:nvPr/>
        </p:nvSpPr>
        <p:spPr>
          <a:xfrm>
            <a:off x="566928" y="1581912"/>
            <a:ext cx="91440" cy="91440"/>
          </a:xfrm>
          <a:prstGeom prst="ellipse">
            <a:avLst/>
          </a:prstGeom>
          <a:solidFill>
            <a:srgbClr val="D9A441"/>
          </a:solidFill>
        </p:spPr>
      </p:sp>
      <p:sp>
        <p:nvSpPr>
          <p:cNvPr id="5" name="Text 3"/>
          <p:cNvSpPr/>
          <p:nvPr/>
        </p:nvSpPr>
        <p:spPr>
          <a:xfrm>
            <a:off x="804672" y="1435608"/>
            <a:ext cx="4572000" cy="384048"/>
          </a:xfrm>
          <a:prstGeom prst="rect">
            <a:avLst/>
          </a:prstGeom>
          <a:noFill/>
        </p:spPr>
        <p:txBody>
          <a:bodyPr wrap="square" rtlCol="0" anchor="ctr"/>
          <a:lstStyle/>
          <a:p>
            <a:pPr marL="0" indent="0">
              <a:buNone/>
            </a:pPr>
            <a:r>
              <a:rPr lang="en-US" sz="1350" dirty="0">
                <a:solidFill>
                  <a:srgbClr val="1B2A4A"/>
                </a:solidFill>
                <a:latin typeface="Calibri" pitchFamily="34" charset="0"/>
                <a:ea typeface="Calibri" pitchFamily="34" charset="-122"/>
                <a:cs typeface="Calibri" pitchFamily="34" charset="-120"/>
              </a:rPr>
              <a:t>Centralized document management</a:t>
            </a:r>
            <a:endParaRPr lang="en-US" sz="1350" dirty="0"/>
          </a:p>
        </p:txBody>
      </p:sp>
      <p:sp>
        <p:nvSpPr>
          <p:cNvPr id="6" name="Shape 4"/>
          <p:cNvSpPr/>
          <p:nvPr/>
        </p:nvSpPr>
        <p:spPr>
          <a:xfrm>
            <a:off x="566928" y="2039112"/>
            <a:ext cx="91440" cy="91440"/>
          </a:xfrm>
          <a:prstGeom prst="ellipse">
            <a:avLst/>
          </a:prstGeom>
          <a:solidFill>
            <a:srgbClr val="D9A441"/>
          </a:solidFill>
        </p:spPr>
      </p:sp>
      <p:sp>
        <p:nvSpPr>
          <p:cNvPr id="7" name="Text 5"/>
          <p:cNvSpPr/>
          <p:nvPr/>
        </p:nvSpPr>
        <p:spPr>
          <a:xfrm>
            <a:off x="804672" y="1892808"/>
            <a:ext cx="4572000" cy="384048"/>
          </a:xfrm>
          <a:prstGeom prst="rect">
            <a:avLst/>
          </a:prstGeom>
          <a:noFill/>
        </p:spPr>
        <p:txBody>
          <a:bodyPr wrap="square" rtlCol="0" anchor="ctr"/>
          <a:lstStyle/>
          <a:p>
            <a:pPr marL="0" indent="0">
              <a:buNone/>
            </a:pPr>
            <a:r>
              <a:rPr lang="en-US" sz="1350" dirty="0">
                <a:solidFill>
                  <a:srgbClr val="1B2A4A"/>
                </a:solidFill>
                <a:latin typeface="Calibri" pitchFamily="34" charset="0"/>
                <a:ea typeface="Calibri" pitchFamily="34" charset="-122"/>
                <a:cs typeface="Calibri" pitchFamily="34" charset="-120"/>
              </a:rPr>
              <a:t>Reduced paperwork &amp; manual effort</a:t>
            </a:r>
            <a:endParaRPr lang="en-US" sz="1350" dirty="0"/>
          </a:p>
        </p:txBody>
      </p:sp>
      <p:sp>
        <p:nvSpPr>
          <p:cNvPr id="8" name="Shape 6"/>
          <p:cNvSpPr/>
          <p:nvPr/>
        </p:nvSpPr>
        <p:spPr>
          <a:xfrm>
            <a:off x="566928" y="2496312"/>
            <a:ext cx="91440" cy="91440"/>
          </a:xfrm>
          <a:prstGeom prst="ellipse">
            <a:avLst/>
          </a:prstGeom>
          <a:solidFill>
            <a:srgbClr val="D9A441"/>
          </a:solidFill>
        </p:spPr>
      </p:sp>
      <p:sp>
        <p:nvSpPr>
          <p:cNvPr id="9" name="Text 7"/>
          <p:cNvSpPr/>
          <p:nvPr/>
        </p:nvSpPr>
        <p:spPr>
          <a:xfrm>
            <a:off x="804672" y="2350008"/>
            <a:ext cx="4572000" cy="384048"/>
          </a:xfrm>
          <a:prstGeom prst="rect">
            <a:avLst/>
          </a:prstGeom>
          <a:noFill/>
        </p:spPr>
        <p:txBody>
          <a:bodyPr wrap="square" rtlCol="0" anchor="ctr"/>
          <a:lstStyle/>
          <a:p>
            <a:pPr marL="0" indent="0">
              <a:buNone/>
            </a:pPr>
            <a:r>
              <a:rPr lang="en-US" sz="1350" dirty="0">
                <a:solidFill>
                  <a:srgbClr val="1B2A4A"/>
                </a:solidFill>
                <a:latin typeface="Calibri" pitchFamily="34" charset="0"/>
                <a:ea typeface="Calibri" pitchFamily="34" charset="-122"/>
                <a:cs typeface="Calibri" pitchFamily="34" charset="-120"/>
              </a:rPr>
              <a:t>Improved team collaboration</a:t>
            </a:r>
            <a:endParaRPr lang="en-US" sz="1350" dirty="0"/>
          </a:p>
        </p:txBody>
      </p:sp>
      <p:sp>
        <p:nvSpPr>
          <p:cNvPr id="10" name="Shape 8"/>
          <p:cNvSpPr/>
          <p:nvPr/>
        </p:nvSpPr>
        <p:spPr>
          <a:xfrm>
            <a:off x="566928" y="2953512"/>
            <a:ext cx="91440" cy="91440"/>
          </a:xfrm>
          <a:prstGeom prst="ellipse">
            <a:avLst/>
          </a:prstGeom>
          <a:solidFill>
            <a:srgbClr val="D9A441"/>
          </a:solidFill>
        </p:spPr>
      </p:sp>
      <p:sp>
        <p:nvSpPr>
          <p:cNvPr id="11" name="Text 9"/>
          <p:cNvSpPr/>
          <p:nvPr/>
        </p:nvSpPr>
        <p:spPr>
          <a:xfrm>
            <a:off x="804672" y="2807208"/>
            <a:ext cx="4572000" cy="384048"/>
          </a:xfrm>
          <a:prstGeom prst="rect">
            <a:avLst/>
          </a:prstGeom>
          <a:noFill/>
        </p:spPr>
        <p:txBody>
          <a:bodyPr wrap="square" rtlCol="0" anchor="ctr"/>
          <a:lstStyle/>
          <a:p>
            <a:pPr marL="0" indent="0">
              <a:buNone/>
            </a:pPr>
            <a:r>
              <a:rPr lang="en-US" sz="1350" dirty="0">
                <a:solidFill>
                  <a:srgbClr val="1B2A4A"/>
                </a:solidFill>
                <a:latin typeface="Calibri" pitchFamily="34" charset="0"/>
                <a:ea typeface="Calibri" pitchFamily="34" charset="-122"/>
                <a:cs typeface="Calibri" pitchFamily="34" charset="-120"/>
              </a:rPr>
              <a:t>Faster, reliable document retrieval</a:t>
            </a:r>
            <a:endParaRPr lang="en-US" sz="1350" dirty="0"/>
          </a:p>
        </p:txBody>
      </p:sp>
      <p:sp>
        <p:nvSpPr>
          <p:cNvPr id="12" name="Shape 10"/>
          <p:cNvSpPr/>
          <p:nvPr/>
        </p:nvSpPr>
        <p:spPr>
          <a:xfrm>
            <a:off x="566928" y="3410712"/>
            <a:ext cx="91440" cy="91440"/>
          </a:xfrm>
          <a:prstGeom prst="ellipse">
            <a:avLst/>
          </a:prstGeom>
          <a:solidFill>
            <a:srgbClr val="D9A441"/>
          </a:solidFill>
        </p:spPr>
      </p:sp>
      <p:sp>
        <p:nvSpPr>
          <p:cNvPr id="13" name="Text 11"/>
          <p:cNvSpPr/>
          <p:nvPr/>
        </p:nvSpPr>
        <p:spPr>
          <a:xfrm>
            <a:off x="804672" y="3264408"/>
            <a:ext cx="4572000" cy="384048"/>
          </a:xfrm>
          <a:prstGeom prst="rect">
            <a:avLst/>
          </a:prstGeom>
          <a:noFill/>
        </p:spPr>
        <p:txBody>
          <a:bodyPr wrap="square" rtlCol="0" anchor="ctr"/>
          <a:lstStyle/>
          <a:p>
            <a:pPr marL="0" indent="0">
              <a:buNone/>
            </a:pPr>
            <a:r>
              <a:rPr lang="en-US" sz="1350" dirty="0">
                <a:solidFill>
                  <a:srgbClr val="1B2A4A"/>
                </a:solidFill>
                <a:latin typeface="Calibri" pitchFamily="34" charset="0"/>
                <a:ea typeface="Calibri" pitchFamily="34" charset="-122"/>
                <a:cs typeface="Calibri" pitchFamily="34" charset="-120"/>
              </a:rPr>
              <a:t>Secure sharing &amp; workflow automation</a:t>
            </a:r>
            <a:endParaRPr lang="en-US" sz="1350" dirty="0"/>
          </a:p>
        </p:txBody>
      </p:sp>
      <p:sp>
        <p:nvSpPr>
          <p:cNvPr id="14" name="Shape 12"/>
          <p:cNvSpPr/>
          <p:nvPr/>
        </p:nvSpPr>
        <p:spPr>
          <a:xfrm>
            <a:off x="548640" y="3977640"/>
            <a:ext cx="4892040" cy="1417320"/>
          </a:xfrm>
          <a:prstGeom prst="roundRect">
            <a:avLst>
              <a:gd name="adj" fmla="val 5161"/>
            </a:avLst>
          </a:prstGeom>
          <a:solidFill>
            <a:srgbClr val="F4F7FB"/>
          </a:solidFill>
        </p:spPr>
      </p:sp>
      <p:sp>
        <p:nvSpPr>
          <p:cNvPr id="15" name="Text 13"/>
          <p:cNvSpPr/>
          <p:nvPr/>
        </p:nvSpPr>
        <p:spPr>
          <a:xfrm>
            <a:off x="731520" y="4096512"/>
            <a:ext cx="2743200" cy="256032"/>
          </a:xfrm>
          <a:prstGeom prst="rect">
            <a:avLst/>
          </a:prstGeom>
          <a:noFill/>
        </p:spPr>
        <p:txBody>
          <a:bodyPr wrap="square" rtlCol="0" anchor="ctr"/>
          <a:lstStyle/>
          <a:p>
            <a:pPr marL="0" indent="0">
              <a:buNone/>
            </a:pPr>
            <a:r>
              <a:rPr lang="en-US" sz="1050" b="1" kern="0" spc="150" dirty="0">
                <a:solidFill>
                  <a:srgbClr val="2F5D8A"/>
                </a:solidFill>
                <a:latin typeface="Calibri" pitchFamily="34" charset="0"/>
                <a:ea typeface="Calibri" pitchFamily="34" charset="-122"/>
                <a:cs typeface="Calibri" pitchFamily="34" charset="-120"/>
              </a:rPr>
              <a:t>IMPACT</a:t>
            </a:r>
            <a:endParaRPr lang="en-US" sz="1050" dirty="0"/>
          </a:p>
        </p:txBody>
      </p:sp>
      <p:sp>
        <p:nvSpPr>
          <p:cNvPr id="16" name="Text 14"/>
          <p:cNvSpPr/>
          <p:nvPr/>
        </p:nvSpPr>
        <p:spPr>
          <a:xfrm>
            <a:off x="731520" y="4370832"/>
            <a:ext cx="4526280" cy="914400"/>
          </a:xfrm>
          <a:prstGeom prst="rect">
            <a:avLst/>
          </a:prstGeom>
          <a:noFill/>
        </p:spPr>
        <p:txBody>
          <a:bodyPr wrap="square" rtlCol="0" anchor="ctr"/>
          <a:lstStyle/>
          <a:p>
            <a:pPr marL="0" indent="0">
              <a:lnSpc>
                <a:spcPct val="125000"/>
              </a:lnSpc>
              <a:buNone/>
            </a:pPr>
            <a:r>
              <a:rPr lang="en-US" sz="1200" dirty="0">
                <a:solidFill>
                  <a:srgbClr val="5B6B82"/>
                </a:solidFill>
                <a:latin typeface="Calibri" pitchFamily="34" charset="0"/>
                <a:ea typeface="Calibri" pitchFamily="34" charset="-122"/>
                <a:cs typeface="Calibri" pitchFamily="34" charset="-120"/>
              </a:rPr>
              <a:t>Digital document management improves efficiency, cuts manual effort, and strengthens data security across the organization.</a:t>
            </a:r>
            <a:endParaRPr lang="en-US" sz="1200" dirty="0"/>
          </a:p>
        </p:txBody>
      </p:sp>
      <p:sp>
        <p:nvSpPr>
          <p:cNvPr id="17" name="Shape 15"/>
          <p:cNvSpPr/>
          <p:nvPr/>
        </p:nvSpPr>
        <p:spPr>
          <a:xfrm flipH="1" flipV="1">
            <a:off x="7452360" y="1737360"/>
            <a:ext cx="1417320" cy="1783080"/>
          </a:xfrm>
          <a:prstGeom prst="line">
            <a:avLst/>
          </a:prstGeom>
          <a:noFill/>
          <a:ln w="19050">
            <a:solidFill>
              <a:srgbClr val="6E94BC"/>
            </a:solidFill>
            <a:prstDash val="sysDot"/>
          </a:ln>
        </p:spPr>
      </p:sp>
      <p:sp>
        <p:nvSpPr>
          <p:cNvPr id="18" name="Shape 16"/>
          <p:cNvSpPr/>
          <p:nvPr/>
        </p:nvSpPr>
        <p:spPr>
          <a:xfrm>
            <a:off x="7018020" y="1303020"/>
            <a:ext cx="868680" cy="868680"/>
          </a:xfrm>
          <a:prstGeom prst="ellipse">
            <a:avLst/>
          </a:prstGeom>
          <a:solidFill>
            <a:srgbClr val="F4F7FB"/>
          </a:solidFill>
          <a:effectLst>
            <a:outerShdw blurRad="76200" dist="25400" dir="5400000" algn="bl" rotWithShape="0">
              <a:srgbClr val="13294B">
                <a:alpha val="18000"/>
              </a:srgbClr>
            </a:outerShdw>
          </a:effectLst>
        </p:spPr>
      </p:sp>
      <p:pic>
        <p:nvPicPr>
          <p:cNvPr id="19" name="Image 0" descr="/home/claude/dbs_ppt/icons/ben_company.png"/>
          <p:cNvPicPr>
            <a:picLocks noChangeAspect="1"/>
          </p:cNvPicPr>
          <p:nvPr/>
        </p:nvPicPr>
        <p:blipFill>
          <a:blip r:embed="rId1"/>
          <a:stretch>
            <a:fillRect/>
          </a:stretch>
        </p:blipFill>
        <p:spPr>
          <a:xfrm>
            <a:off x="7237476" y="1522476"/>
            <a:ext cx="429768" cy="429768"/>
          </a:xfrm>
          <a:prstGeom prst="rect">
            <a:avLst/>
          </a:prstGeom>
        </p:spPr>
      </p:pic>
      <p:sp>
        <p:nvSpPr>
          <p:cNvPr id="20" name="Text 17"/>
          <p:cNvSpPr/>
          <p:nvPr/>
        </p:nvSpPr>
        <p:spPr>
          <a:xfrm>
            <a:off x="6629400" y="2194560"/>
            <a:ext cx="1645920" cy="502920"/>
          </a:xfrm>
          <a:prstGeom prst="rect">
            <a:avLst/>
          </a:prstGeom>
          <a:noFill/>
        </p:spPr>
        <p:txBody>
          <a:bodyPr wrap="square" rtlCol="0" anchor="ctr"/>
          <a:lstStyle/>
          <a:p>
            <a:pPr marL="0" indent="0" algn="ctr">
              <a:lnSpc>
                <a:spcPct val="100000"/>
              </a:lnSpc>
              <a:buNone/>
            </a:pPr>
            <a:r>
              <a:rPr lang="en-US" sz="1000" b="1" dirty="0">
                <a:solidFill>
                  <a:srgbClr val="1B2A4A"/>
                </a:solidFill>
                <a:latin typeface="Calibri" pitchFamily="34" charset="0"/>
                <a:ea typeface="Calibri" pitchFamily="34" charset="-122"/>
                <a:cs typeface="Calibri" pitchFamily="34" charset="-120"/>
              </a:rPr>
              <a:t>Companies</a:t>
            </a:r>
            <a:endParaRPr lang="en-US" sz="1000" dirty="0"/>
          </a:p>
        </p:txBody>
      </p:sp>
      <p:sp>
        <p:nvSpPr>
          <p:cNvPr id="21" name="Shape 18"/>
          <p:cNvSpPr/>
          <p:nvPr/>
        </p:nvSpPr>
        <p:spPr>
          <a:xfrm flipV="1">
            <a:off x="8869680" y="1965960"/>
            <a:ext cx="1600200" cy="1554480"/>
          </a:xfrm>
          <a:prstGeom prst="line">
            <a:avLst/>
          </a:prstGeom>
          <a:noFill/>
          <a:ln w="19050">
            <a:solidFill>
              <a:srgbClr val="6E94BC"/>
            </a:solidFill>
            <a:prstDash val="sysDot"/>
          </a:ln>
        </p:spPr>
      </p:sp>
      <p:sp>
        <p:nvSpPr>
          <p:cNvPr id="22" name="Shape 19"/>
          <p:cNvSpPr/>
          <p:nvPr/>
        </p:nvSpPr>
        <p:spPr>
          <a:xfrm>
            <a:off x="10035540" y="1531620"/>
            <a:ext cx="868680" cy="868680"/>
          </a:xfrm>
          <a:prstGeom prst="ellipse">
            <a:avLst/>
          </a:prstGeom>
          <a:solidFill>
            <a:srgbClr val="F4F7FB"/>
          </a:solidFill>
          <a:effectLst>
            <a:outerShdw blurRad="76200" dist="25400" dir="5400000" algn="bl" rotWithShape="0">
              <a:srgbClr val="13294B">
                <a:alpha val="18000"/>
              </a:srgbClr>
            </a:outerShdw>
          </a:effectLst>
        </p:spPr>
      </p:sp>
      <p:pic>
        <p:nvPicPr>
          <p:cNvPr id="23" name="Image 1" descr="/home/claude/dbs_ppt/icons/ben_edu.png"/>
          <p:cNvPicPr>
            <a:picLocks noChangeAspect="1"/>
          </p:cNvPicPr>
          <p:nvPr/>
        </p:nvPicPr>
        <p:blipFill>
          <a:blip r:embed="rId2"/>
          <a:stretch>
            <a:fillRect/>
          </a:stretch>
        </p:blipFill>
        <p:spPr>
          <a:xfrm>
            <a:off x="10254996" y="1751076"/>
            <a:ext cx="429768" cy="429768"/>
          </a:xfrm>
          <a:prstGeom prst="rect">
            <a:avLst/>
          </a:prstGeom>
        </p:spPr>
      </p:pic>
      <p:sp>
        <p:nvSpPr>
          <p:cNvPr id="24" name="Text 20"/>
          <p:cNvSpPr/>
          <p:nvPr/>
        </p:nvSpPr>
        <p:spPr>
          <a:xfrm>
            <a:off x="9646920" y="2423160"/>
            <a:ext cx="1645920" cy="502920"/>
          </a:xfrm>
          <a:prstGeom prst="rect">
            <a:avLst/>
          </a:prstGeom>
          <a:noFill/>
        </p:spPr>
        <p:txBody>
          <a:bodyPr wrap="square" rtlCol="0" anchor="ctr"/>
          <a:lstStyle/>
          <a:p>
            <a:pPr marL="0" indent="0" algn="ctr">
              <a:lnSpc>
                <a:spcPct val="100000"/>
              </a:lnSpc>
              <a:buNone/>
            </a:pPr>
            <a:r>
              <a:rPr lang="en-US" sz="1000" b="1" dirty="0">
                <a:solidFill>
                  <a:srgbClr val="1B2A4A"/>
                </a:solidFill>
                <a:latin typeface="Calibri" pitchFamily="34" charset="0"/>
                <a:ea typeface="Calibri" pitchFamily="34" charset="-122"/>
                <a:cs typeface="Calibri" pitchFamily="34" charset="-120"/>
              </a:rPr>
              <a:t>Educational</a:t>
            </a:r>
            <a:endParaRPr lang="en-US" sz="1000" dirty="0"/>
          </a:p>
          <a:p>
            <a:pPr marL="0" indent="0" algn="ctr">
              <a:lnSpc>
                <a:spcPct val="100000"/>
              </a:lnSpc>
              <a:buNone/>
            </a:pPr>
            <a:r>
              <a:rPr lang="en-US" sz="1000" b="1" dirty="0">
                <a:solidFill>
                  <a:srgbClr val="1B2A4A"/>
                </a:solidFill>
                <a:latin typeface="Calibri" pitchFamily="34" charset="0"/>
                <a:ea typeface="Calibri" pitchFamily="34" charset="-122"/>
                <a:cs typeface="Calibri" pitchFamily="34" charset="-120"/>
              </a:rPr>
              <a:t>Institutions</a:t>
            </a:r>
            <a:endParaRPr lang="en-US" sz="1000" dirty="0"/>
          </a:p>
        </p:txBody>
      </p:sp>
      <p:sp>
        <p:nvSpPr>
          <p:cNvPr id="25" name="Shape 21"/>
          <p:cNvSpPr/>
          <p:nvPr/>
        </p:nvSpPr>
        <p:spPr>
          <a:xfrm>
            <a:off x="8869680" y="3520440"/>
            <a:ext cx="2148840" cy="320040"/>
          </a:xfrm>
          <a:prstGeom prst="line">
            <a:avLst/>
          </a:prstGeom>
          <a:noFill/>
          <a:ln w="19050">
            <a:solidFill>
              <a:srgbClr val="6E94BC"/>
            </a:solidFill>
            <a:prstDash val="sysDot"/>
          </a:ln>
        </p:spPr>
      </p:sp>
      <p:sp>
        <p:nvSpPr>
          <p:cNvPr id="26" name="Shape 22"/>
          <p:cNvSpPr/>
          <p:nvPr/>
        </p:nvSpPr>
        <p:spPr>
          <a:xfrm>
            <a:off x="10584180" y="3406140"/>
            <a:ext cx="868680" cy="868680"/>
          </a:xfrm>
          <a:prstGeom prst="ellipse">
            <a:avLst/>
          </a:prstGeom>
          <a:solidFill>
            <a:srgbClr val="F4F7FB"/>
          </a:solidFill>
          <a:effectLst>
            <a:outerShdw blurRad="76200" dist="25400" dir="5400000" algn="bl" rotWithShape="0">
              <a:srgbClr val="13294B">
                <a:alpha val="18000"/>
              </a:srgbClr>
            </a:outerShdw>
          </a:effectLst>
        </p:spPr>
      </p:sp>
      <p:pic>
        <p:nvPicPr>
          <p:cNvPr id="27" name="Image 2" descr="/home/claude/dbs_ppt/icons/ben_hospital.png"/>
          <p:cNvPicPr>
            <a:picLocks noChangeAspect="1"/>
          </p:cNvPicPr>
          <p:nvPr/>
        </p:nvPicPr>
        <p:blipFill>
          <a:blip r:embed="rId3"/>
          <a:stretch>
            <a:fillRect/>
          </a:stretch>
        </p:blipFill>
        <p:spPr>
          <a:xfrm>
            <a:off x="10803636" y="3625596"/>
            <a:ext cx="429768" cy="429768"/>
          </a:xfrm>
          <a:prstGeom prst="rect">
            <a:avLst/>
          </a:prstGeom>
        </p:spPr>
      </p:pic>
      <p:sp>
        <p:nvSpPr>
          <p:cNvPr id="28" name="Text 23"/>
          <p:cNvSpPr/>
          <p:nvPr/>
        </p:nvSpPr>
        <p:spPr>
          <a:xfrm>
            <a:off x="10195560" y="4297680"/>
            <a:ext cx="1645920" cy="502920"/>
          </a:xfrm>
          <a:prstGeom prst="rect">
            <a:avLst/>
          </a:prstGeom>
          <a:noFill/>
        </p:spPr>
        <p:txBody>
          <a:bodyPr wrap="square" rtlCol="0" anchor="ctr"/>
          <a:lstStyle/>
          <a:p>
            <a:pPr marL="0" indent="0" algn="ctr">
              <a:lnSpc>
                <a:spcPct val="100000"/>
              </a:lnSpc>
              <a:buNone/>
            </a:pPr>
            <a:r>
              <a:rPr lang="en-US" sz="1000" b="1" dirty="0">
                <a:solidFill>
                  <a:srgbClr val="1B2A4A"/>
                </a:solidFill>
                <a:latin typeface="Calibri" pitchFamily="34" charset="0"/>
                <a:ea typeface="Calibri" pitchFamily="34" charset="-122"/>
                <a:cs typeface="Calibri" pitchFamily="34" charset="-120"/>
              </a:rPr>
              <a:t>Hospitals</a:t>
            </a:r>
            <a:endParaRPr lang="en-US" sz="1000" dirty="0"/>
          </a:p>
        </p:txBody>
      </p:sp>
      <p:sp>
        <p:nvSpPr>
          <p:cNvPr id="29" name="Shape 24"/>
          <p:cNvSpPr/>
          <p:nvPr/>
        </p:nvSpPr>
        <p:spPr>
          <a:xfrm>
            <a:off x="8869680" y="3520440"/>
            <a:ext cx="914400" cy="1965960"/>
          </a:xfrm>
          <a:prstGeom prst="line">
            <a:avLst/>
          </a:prstGeom>
          <a:noFill/>
          <a:ln w="19050">
            <a:solidFill>
              <a:srgbClr val="6E94BC"/>
            </a:solidFill>
            <a:prstDash val="sysDot"/>
          </a:ln>
        </p:spPr>
      </p:sp>
      <p:sp>
        <p:nvSpPr>
          <p:cNvPr id="30" name="Shape 25"/>
          <p:cNvSpPr/>
          <p:nvPr/>
        </p:nvSpPr>
        <p:spPr>
          <a:xfrm>
            <a:off x="9349740" y="5052060"/>
            <a:ext cx="868680" cy="868680"/>
          </a:xfrm>
          <a:prstGeom prst="ellipse">
            <a:avLst/>
          </a:prstGeom>
          <a:solidFill>
            <a:srgbClr val="F4F7FB"/>
          </a:solidFill>
          <a:effectLst>
            <a:outerShdw blurRad="76200" dist="25400" dir="5400000" algn="bl" rotWithShape="0">
              <a:srgbClr val="13294B">
                <a:alpha val="18000"/>
              </a:srgbClr>
            </a:outerShdw>
          </a:effectLst>
        </p:spPr>
      </p:sp>
      <p:pic>
        <p:nvPicPr>
          <p:cNvPr id="31" name="Image 3" descr="/home/claude/dbs_ppt/icons/ben_gov.png"/>
          <p:cNvPicPr>
            <a:picLocks noChangeAspect="1"/>
          </p:cNvPicPr>
          <p:nvPr/>
        </p:nvPicPr>
        <p:blipFill>
          <a:blip r:embed="rId4"/>
          <a:stretch>
            <a:fillRect/>
          </a:stretch>
        </p:blipFill>
        <p:spPr>
          <a:xfrm>
            <a:off x="9569196" y="5271516"/>
            <a:ext cx="429768" cy="429768"/>
          </a:xfrm>
          <a:prstGeom prst="rect">
            <a:avLst/>
          </a:prstGeom>
        </p:spPr>
      </p:pic>
      <p:sp>
        <p:nvSpPr>
          <p:cNvPr id="32" name="Text 26"/>
          <p:cNvSpPr/>
          <p:nvPr/>
        </p:nvSpPr>
        <p:spPr>
          <a:xfrm>
            <a:off x="8961120" y="5943600"/>
            <a:ext cx="1645920" cy="502920"/>
          </a:xfrm>
          <a:prstGeom prst="rect">
            <a:avLst/>
          </a:prstGeom>
          <a:noFill/>
        </p:spPr>
        <p:txBody>
          <a:bodyPr wrap="square" rtlCol="0" anchor="ctr"/>
          <a:lstStyle/>
          <a:p>
            <a:pPr marL="0" indent="0" algn="ctr">
              <a:lnSpc>
                <a:spcPct val="100000"/>
              </a:lnSpc>
              <a:buNone/>
            </a:pPr>
            <a:r>
              <a:rPr lang="en-US" sz="1000" b="1" dirty="0">
                <a:solidFill>
                  <a:srgbClr val="1B2A4A"/>
                </a:solidFill>
                <a:latin typeface="Calibri" pitchFamily="34" charset="0"/>
                <a:ea typeface="Calibri" pitchFamily="34" charset="-122"/>
                <a:cs typeface="Calibri" pitchFamily="34" charset="-120"/>
              </a:rPr>
              <a:t>Government</a:t>
            </a:r>
            <a:endParaRPr lang="en-US" sz="1000" dirty="0"/>
          </a:p>
          <a:p>
            <a:pPr marL="0" indent="0" algn="ctr">
              <a:lnSpc>
                <a:spcPct val="100000"/>
              </a:lnSpc>
              <a:buNone/>
            </a:pPr>
            <a:r>
              <a:rPr lang="en-US" sz="1000" b="1" dirty="0">
                <a:solidFill>
                  <a:srgbClr val="1B2A4A"/>
                </a:solidFill>
                <a:latin typeface="Calibri" pitchFamily="34" charset="0"/>
                <a:ea typeface="Calibri" pitchFamily="34" charset="-122"/>
                <a:cs typeface="Calibri" pitchFamily="34" charset="-120"/>
              </a:rPr>
              <a:t>Offices</a:t>
            </a:r>
            <a:endParaRPr lang="en-US" sz="1000" dirty="0"/>
          </a:p>
        </p:txBody>
      </p:sp>
      <p:sp>
        <p:nvSpPr>
          <p:cNvPr id="33" name="Shape 27"/>
          <p:cNvSpPr/>
          <p:nvPr/>
        </p:nvSpPr>
        <p:spPr>
          <a:xfrm flipH="1">
            <a:off x="7132320" y="3520440"/>
            <a:ext cx="1737360" cy="1417320"/>
          </a:xfrm>
          <a:prstGeom prst="line">
            <a:avLst/>
          </a:prstGeom>
          <a:noFill/>
          <a:ln w="19050">
            <a:solidFill>
              <a:srgbClr val="6E94BC"/>
            </a:solidFill>
            <a:prstDash val="sysDot"/>
          </a:ln>
        </p:spPr>
      </p:sp>
      <p:sp>
        <p:nvSpPr>
          <p:cNvPr id="34" name="Shape 28"/>
          <p:cNvSpPr/>
          <p:nvPr/>
        </p:nvSpPr>
        <p:spPr>
          <a:xfrm>
            <a:off x="6697980" y="4503420"/>
            <a:ext cx="868680" cy="868680"/>
          </a:xfrm>
          <a:prstGeom prst="ellipse">
            <a:avLst/>
          </a:prstGeom>
          <a:solidFill>
            <a:srgbClr val="F4F7FB"/>
          </a:solidFill>
          <a:effectLst>
            <a:outerShdw blurRad="76200" dist="25400" dir="5400000" algn="bl" rotWithShape="0">
              <a:srgbClr val="13294B">
                <a:alpha val="18000"/>
              </a:srgbClr>
            </a:outerShdw>
          </a:effectLst>
        </p:spPr>
      </p:sp>
      <p:pic>
        <p:nvPicPr>
          <p:cNvPr id="35" name="Image 4" descr="/home/claude/dbs_ppt/icons/ben_small.png"/>
          <p:cNvPicPr>
            <a:picLocks noChangeAspect="1"/>
          </p:cNvPicPr>
          <p:nvPr/>
        </p:nvPicPr>
        <p:blipFill>
          <a:blip r:embed="rId5"/>
          <a:stretch>
            <a:fillRect/>
          </a:stretch>
        </p:blipFill>
        <p:spPr>
          <a:xfrm>
            <a:off x="6917436" y="4722876"/>
            <a:ext cx="429768" cy="429768"/>
          </a:xfrm>
          <a:prstGeom prst="rect">
            <a:avLst/>
          </a:prstGeom>
        </p:spPr>
      </p:pic>
      <p:sp>
        <p:nvSpPr>
          <p:cNvPr id="36" name="Text 29"/>
          <p:cNvSpPr/>
          <p:nvPr/>
        </p:nvSpPr>
        <p:spPr>
          <a:xfrm>
            <a:off x="6309360" y="5394960"/>
            <a:ext cx="1645920" cy="502920"/>
          </a:xfrm>
          <a:prstGeom prst="rect">
            <a:avLst/>
          </a:prstGeom>
          <a:noFill/>
        </p:spPr>
        <p:txBody>
          <a:bodyPr wrap="square" rtlCol="0" anchor="ctr"/>
          <a:lstStyle/>
          <a:p>
            <a:pPr marL="0" indent="0" algn="ctr">
              <a:lnSpc>
                <a:spcPct val="100000"/>
              </a:lnSpc>
              <a:buNone/>
            </a:pPr>
            <a:r>
              <a:rPr lang="en-US" sz="1000" b="1" dirty="0">
                <a:solidFill>
                  <a:srgbClr val="1B2A4A"/>
                </a:solidFill>
                <a:latin typeface="Calibri" pitchFamily="34" charset="0"/>
                <a:ea typeface="Calibri" pitchFamily="34" charset="-122"/>
                <a:cs typeface="Calibri" pitchFamily="34" charset="-120"/>
              </a:rPr>
              <a:t>Small</a:t>
            </a:r>
            <a:endParaRPr lang="en-US" sz="1000" dirty="0"/>
          </a:p>
          <a:p>
            <a:pPr marL="0" indent="0" algn="ctr">
              <a:lnSpc>
                <a:spcPct val="100000"/>
              </a:lnSpc>
              <a:buNone/>
            </a:pPr>
            <a:r>
              <a:rPr lang="en-US" sz="1000" b="1" dirty="0">
                <a:solidFill>
                  <a:srgbClr val="1B2A4A"/>
                </a:solidFill>
                <a:latin typeface="Calibri" pitchFamily="34" charset="0"/>
                <a:ea typeface="Calibri" pitchFamily="34" charset="-122"/>
                <a:cs typeface="Calibri" pitchFamily="34" charset="-120"/>
              </a:rPr>
              <a:t>Businesses</a:t>
            </a:r>
            <a:endParaRPr lang="en-US" sz="1000" dirty="0"/>
          </a:p>
        </p:txBody>
      </p:sp>
      <p:sp>
        <p:nvSpPr>
          <p:cNvPr id="37" name="Shape 30"/>
          <p:cNvSpPr/>
          <p:nvPr/>
        </p:nvSpPr>
        <p:spPr>
          <a:xfrm>
            <a:off x="7909560" y="2560320"/>
            <a:ext cx="1920240" cy="1920240"/>
          </a:xfrm>
          <a:prstGeom prst="ellipse">
            <a:avLst/>
          </a:prstGeom>
          <a:solidFill>
            <a:srgbClr val="13294B"/>
          </a:solidFill>
          <a:effectLst>
            <a:outerShdw blurRad="76200" dist="25400" dir="5400000" algn="bl" rotWithShape="0">
              <a:srgbClr val="13294B">
                <a:alpha val="18000"/>
              </a:srgbClr>
            </a:outerShdw>
          </a:effectLst>
        </p:spPr>
      </p:sp>
      <p:pic>
        <p:nvPicPr>
          <p:cNvPr id="38" name="Image 5" descr="/home/claude/dbs_ppt/icons/need_center.png"/>
          <p:cNvPicPr>
            <a:picLocks noChangeAspect="1"/>
          </p:cNvPicPr>
          <p:nvPr/>
        </p:nvPicPr>
        <p:blipFill>
          <a:blip r:embed="rId6"/>
          <a:stretch>
            <a:fillRect/>
          </a:stretch>
        </p:blipFill>
        <p:spPr>
          <a:xfrm>
            <a:off x="8366760" y="3017520"/>
            <a:ext cx="1005840" cy="1005840"/>
          </a:xfrm>
          <a:prstGeom prst="rect">
            <a:avLst/>
          </a:prstGeom>
        </p:spPr>
      </p:pic>
      <p:sp>
        <p:nvSpPr>
          <p:cNvPr id="39" name="Text 31"/>
          <p:cNvSpPr/>
          <p:nvPr/>
        </p:nvSpPr>
        <p:spPr>
          <a:xfrm>
            <a:off x="7909560" y="4553712"/>
            <a:ext cx="1920240" cy="457200"/>
          </a:xfrm>
          <a:prstGeom prst="rect">
            <a:avLst/>
          </a:prstGeom>
          <a:noFill/>
        </p:spPr>
        <p:txBody>
          <a:bodyPr wrap="square" rtlCol="0" anchor="ctr"/>
          <a:lstStyle/>
          <a:p>
            <a:pPr marL="0" indent="0" algn="ctr">
              <a:buNone/>
            </a:pPr>
            <a:r>
              <a:rPr lang="en-US" sz="1100" b="1" dirty="0">
                <a:solidFill>
                  <a:srgbClr val="13294B"/>
                </a:solidFill>
                <a:latin typeface="Calibri" pitchFamily="34" charset="0"/>
                <a:ea typeface="Calibri" pitchFamily="34" charset="-122"/>
                <a:cs typeface="Calibri" pitchFamily="34" charset="-120"/>
              </a:rPr>
              <a:t>Centralized</a:t>
            </a:r>
            <a:endParaRPr lang="en-US" sz="1100" dirty="0"/>
          </a:p>
          <a:p>
            <a:pPr marL="0" indent="0" algn="ctr">
              <a:buNone/>
            </a:pPr>
            <a:r>
              <a:rPr lang="en-US" sz="1100" b="1" dirty="0">
                <a:solidFill>
                  <a:srgbClr val="13294B"/>
                </a:solidFill>
                <a:latin typeface="Calibri" pitchFamily="34" charset="0"/>
                <a:ea typeface="Calibri" pitchFamily="34" charset="-122"/>
                <a:cs typeface="Calibri" pitchFamily="34" charset="-120"/>
              </a:rPr>
              <a:t>Platform</a:t>
            </a:r>
            <a:endParaRPr lang="en-US" sz="1100" dirty="0"/>
          </a:p>
        </p:txBody>
      </p:sp>
      <p:sp>
        <p:nvSpPr>
          <p:cNvPr id="40" name="Text 32"/>
          <p:cNvSpPr/>
          <p:nvPr/>
        </p:nvSpPr>
        <p:spPr>
          <a:xfrm>
            <a:off x="457200" y="6519672"/>
            <a:ext cx="5486400" cy="274320"/>
          </a:xfrm>
          <a:prstGeom prst="rect">
            <a:avLst/>
          </a:prstGeom>
          <a:noFill/>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25CS1302E – DBS-DBD  |  Project Review-1</a:t>
            </a:r>
            <a:endParaRPr lang="en-US" sz="900" dirty="0"/>
          </a:p>
        </p:txBody>
      </p:sp>
      <p:sp>
        <p:nvSpPr>
          <p:cNvPr id="41" name="Text 33"/>
          <p:cNvSpPr/>
          <p:nvPr/>
        </p:nvSpPr>
        <p:spPr>
          <a:xfrm>
            <a:off x="11277295" y="6519672"/>
            <a:ext cx="457200" cy="274320"/>
          </a:xfrm>
          <a:prstGeom prst="rect">
            <a:avLst/>
          </a:prstGeom>
          <a:noFill/>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3</a:t>
            </a:r>
            <a:endParaRPr lang="en-US" sz="900" dirty="0"/>
          </a:p>
        </p:txBody>
      </p:sp>
      <p:pic>
        <p:nvPicPr>
          <p:cNvPr id="360564775" name="Picture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a:xfrm>
            <a:off x="9937750" y="291465"/>
            <a:ext cx="1903730" cy="768350"/>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p:spPr>
        <p:txBody>
          <a:bodyPr wrap="square" rtlCol="0" anchor="ctr"/>
          <a:lstStyle/>
          <a:p>
            <a:pPr marL="0" indent="0">
              <a:buNone/>
            </a:pPr>
            <a:r>
              <a:rPr lang="en-US" b="1" kern="0" spc="200" dirty="0">
                <a:solidFill>
                  <a:srgbClr val="D9A441"/>
                </a:solidFill>
                <a:latin typeface="Calibri" pitchFamily="34" charset="0"/>
                <a:ea typeface="Calibri" pitchFamily="34" charset="-122"/>
                <a:cs typeface="Calibri" pitchFamily="34" charset="-120"/>
              </a:rPr>
              <a:t>GOALS</a:t>
            </a:r>
            <a:endParaRPr lang="en-US" dirty="0"/>
          </a:p>
        </p:txBody>
      </p:sp>
      <p:sp>
        <p:nvSpPr>
          <p:cNvPr id="3" name="Text 1"/>
          <p:cNvSpPr/>
          <p:nvPr/>
        </p:nvSpPr>
        <p:spPr>
          <a:xfrm>
            <a:off x="548640" y="658368"/>
            <a:ext cx="10515600" cy="640080"/>
          </a:xfrm>
          <a:prstGeom prst="rect">
            <a:avLst/>
          </a:prstGeom>
          <a:noFill/>
        </p:spPr>
        <p:txBody>
          <a:bodyPr wrap="square" rtlCol="0" anchor="ctr"/>
          <a:lstStyle/>
          <a:p>
            <a:pPr marL="0" indent="0">
              <a:buNone/>
            </a:pPr>
            <a:r>
              <a:rPr lang="en-US" sz="3000" b="1" dirty="0">
                <a:solidFill>
                  <a:srgbClr val="1B2A4A"/>
                </a:solidFill>
                <a:latin typeface="Poppins" pitchFamily="34" charset="0"/>
                <a:ea typeface="Poppins" pitchFamily="34" charset="-122"/>
                <a:cs typeface="Poppins" pitchFamily="34" charset="-120"/>
              </a:rPr>
              <a:t>Project Objectives</a:t>
            </a:r>
            <a:endParaRPr lang="en-US" sz="3000" dirty="0"/>
          </a:p>
        </p:txBody>
      </p:sp>
      <p:sp>
        <p:nvSpPr>
          <p:cNvPr id="4" name="Shape 2"/>
          <p:cNvSpPr/>
          <p:nvPr/>
        </p:nvSpPr>
        <p:spPr>
          <a:xfrm>
            <a:off x="518008" y="1965960"/>
            <a:ext cx="2084832" cy="3566160"/>
          </a:xfrm>
          <a:prstGeom prst="roundRect">
            <a:avLst>
              <a:gd name="adj" fmla="val 4386"/>
            </a:avLst>
          </a:prstGeom>
          <a:solidFill>
            <a:srgbClr val="13294B"/>
          </a:solidFill>
          <a:effectLst>
            <a:outerShdw blurRad="76200" dist="25400" dir="5400000" algn="bl" rotWithShape="0">
              <a:srgbClr val="13294B">
                <a:alpha val="15000"/>
              </a:srgbClr>
            </a:outerShdw>
          </a:effectLst>
        </p:spPr>
      </p:sp>
      <p:sp>
        <p:nvSpPr>
          <p:cNvPr id="5" name="Text 3"/>
          <p:cNvSpPr/>
          <p:nvPr/>
        </p:nvSpPr>
        <p:spPr>
          <a:xfrm>
            <a:off x="682600" y="2103120"/>
            <a:ext cx="914400" cy="365760"/>
          </a:xfrm>
          <a:prstGeom prst="rect">
            <a:avLst/>
          </a:prstGeom>
          <a:noFill/>
        </p:spPr>
        <p:txBody>
          <a:bodyPr wrap="square" rtlCol="0" anchor="ctr"/>
          <a:lstStyle/>
          <a:p>
            <a:pPr marL="0" indent="0">
              <a:buNone/>
            </a:pPr>
            <a:r>
              <a:rPr lang="en-US" sz="1600" b="1" dirty="0">
                <a:solidFill>
                  <a:srgbClr val="D9A441"/>
                </a:solidFill>
                <a:latin typeface="Poppins" pitchFamily="34" charset="0"/>
                <a:ea typeface="Poppins" pitchFamily="34" charset="-122"/>
                <a:cs typeface="Poppins" pitchFamily="34" charset="-120"/>
              </a:rPr>
              <a:t>01</a:t>
            </a:r>
            <a:endParaRPr lang="en-US" sz="1600" dirty="0"/>
          </a:p>
        </p:txBody>
      </p:sp>
      <p:sp>
        <p:nvSpPr>
          <p:cNvPr id="6" name="Shape 4"/>
          <p:cNvSpPr/>
          <p:nvPr/>
        </p:nvSpPr>
        <p:spPr>
          <a:xfrm>
            <a:off x="1171804" y="2720340"/>
            <a:ext cx="777240" cy="777240"/>
          </a:xfrm>
          <a:prstGeom prst="ellipse">
            <a:avLst/>
          </a:prstGeom>
          <a:solidFill>
            <a:srgbClr val="FFFFFF"/>
          </a:solidFill>
          <a:effectLst>
            <a:outerShdw blurRad="76200" dist="25400" dir="5400000" algn="bl" rotWithShape="0">
              <a:srgbClr val="13294B">
                <a:alpha val="18000"/>
              </a:srgbClr>
            </a:outerShdw>
          </a:effectLst>
        </p:spPr>
      </p:sp>
      <p:pic>
        <p:nvPicPr>
          <p:cNvPr id="7" name="Image 0" descr="/home/claude/dbs_ppt/icons/obj_platform.png"/>
          <p:cNvPicPr>
            <a:picLocks noChangeAspect="1"/>
          </p:cNvPicPr>
          <p:nvPr/>
        </p:nvPicPr>
        <p:blipFill>
          <a:blip r:embed="rId1"/>
          <a:stretch>
            <a:fillRect/>
          </a:stretch>
        </p:blipFill>
        <p:spPr>
          <a:xfrm>
            <a:off x="1345540" y="2894076"/>
            <a:ext cx="429768" cy="429768"/>
          </a:xfrm>
          <a:prstGeom prst="rect">
            <a:avLst/>
          </a:prstGeom>
        </p:spPr>
      </p:pic>
      <p:sp>
        <p:nvSpPr>
          <p:cNvPr id="8" name="Text 5"/>
          <p:cNvSpPr/>
          <p:nvPr/>
        </p:nvSpPr>
        <p:spPr>
          <a:xfrm>
            <a:off x="664312" y="3749040"/>
            <a:ext cx="1792224" cy="594360"/>
          </a:xfrm>
          <a:prstGeom prst="rect">
            <a:avLst/>
          </a:prstGeom>
          <a:noFill/>
        </p:spPr>
        <p:txBody>
          <a:bodyPr wrap="square" rtlCol="0" anchor="ctr"/>
          <a:lstStyle/>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Centralized Platform</a:t>
            </a:r>
            <a:endParaRPr lang="en-US" sz="1300" dirty="0"/>
          </a:p>
        </p:txBody>
      </p:sp>
      <p:sp>
        <p:nvSpPr>
          <p:cNvPr id="9" name="Text 6"/>
          <p:cNvSpPr/>
          <p:nvPr/>
        </p:nvSpPr>
        <p:spPr>
          <a:xfrm>
            <a:off x="700888" y="4389120"/>
            <a:ext cx="1719072" cy="1005840"/>
          </a:xfrm>
          <a:prstGeom prst="rect">
            <a:avLst/>
          </a:prstGeom>
          <a:noFill/>
        </p:spPr>
        <p:txBody>
          <a:bodyPr wrap="square" rtlCol="0" anchor="ctr"/>
          <a:lstStyle/>
          <a:p>
            <a:pPr marL="0" indent="0" algn="ctr">
              <a:lnSpc>
                <a:spcPct val="120000"/>
              </a:lnSpc>
              <a:buNone/>
            </a:pPr>
            <a:r>
              <a:rPr lang="en-US" sz="1000" dirty="0">
                <a:solidFill>
                  <a:srgbClr val="E8F0FA"/>
                </a:solidFill>
                <a:latin typeface="Calibri" pitchFamily="34" charset="0"/>
                <a:ea typeface="Calibri" pitchFamily="34" charset="-122"/>
                <a:cs typeface="Calibri" pitchFamily="34" charset="-120"/>
              </a:rPr>
              <a:t>Build a unified document management system</a:t>
            </a:r>
            <a:endParaRPr lang="en-US" sz="1000" dirty="0"/>
          </a:p>
        </p:txBody>
      </p:sp>
      <p:sp>
        <p:nvSpPr>
          <p:cNvPr id="10" name="Shape 7"/>
          <p:cNvSpPr/>
          <p:nvPr/>
        </p:nvSpPr>
        <p:spPr>
          <a:xfrm>
            <a:off x="2785720" y="1965960"/>
            <a:ext cx="2084832" cy="3566160"/>
          </a:xfrm>
          <a:prstGeom prst="roundRect">
            <a:avLst>
              <a:gd name="adj" fmla="val 4386"/>
            </a:avLst>
          </a:prstGeom>
          <a:solidFill>
            <a:srgbClr val="2F5D8A"/>
          </a:solidFill>
          <a:effectLst>
            <a:outerShdw blurRad="76200" dist="25400" dir="5400000" algn="bl" rotWithShape="0">
              <a:srgbClr val="13294B">
                <a:alpha val="15000"/>
              </a:srgbClr>
            </a:outerShdw>
          </a:effectLst>
        </p:spPr>
      </p:sp>
      <p:sp>
        <p:nvSpPr>
          <p:cNvPr id="11" name="Text 8"/>
          <p:cNvSpPr/>
          <p:nvPr/>
        </p:nvSpPr>
        <p:spPr>
          <a:xfrm>
            <a:off x="2950312" y="2103120"/>
            <a:ext cx="914400" cy="365760"/>
          </a:xfrm>
          <a:prstGeom prst="rect">
            <a:avLst/>
          </a:prstGeom>
          <a:noFill/>
        </p:spPr>
        <p:txBody>
          <a:bodyPr wrap="square" rtlCol="0" anchor="ctr"/>
          <a:lstStyle/>
          <a:p>
            <a:pPr marL="0" indent="0">
              <a:buNone/>
            </a:pPr>
            <a:r>
              <a:rPr lang="en-US" sz="1600" b="1" dirty="0">
                <a:solidFill>
                  <a:srgbClr val="D9A441"/>
                </a:solidFill>
                <a:latin typeface="Poppins" pitchFamily="34" charset="0"/>
                <a:ea typeface="Poppins" pitchFamily="34" charset="-122"/>
                <a:cs typeface="Poppins" pitchFamily="34" charset="-120"/>
              </a:rPr>
              <a:t>02</a:t>
            </a:r>
            <a:endParaRPr lang="en-US" sz="1600" dirty="0"/>
          </a:p>
        </p:txBody>
      </p:sp>
      <p:sp>
        <p:nvSpPr>
          <p:cNvPr id="12" name="Shape 9"/>
          <p:cNvSpPr/>
          <p:nvPr/>
        </p:nvSpPr>
        <p:spPr>
          <a:xfrm>
            <a:off x="3439516" y="2720340"/>
            <a:ext cx="777240" cy="777240"/>
          </a:xfrm>
          <a:prstGeom prst="ellipse">
            <a:avLst/>
          </a:prstGeom>
          <a:solidFill>
            <a:srgbClr val="FFFFFF"/>
          </a:solidFill>
          <a:effectLst>
            <a:outerShdw blurRad="76200" dist="25400" dir="5400000" algn="bl" rotWithShape="0">
              <a:srgbClr val="13294B">
                <a:alpha val="18000"/>
              </a:srgbClr>
            </a:outerShdw>
          </a:effectLst>
        </p:spPr>
      </p:sp>
      <p:pic>
        <p:nvPicPr>
          <p:cNvPr id="13" name="Image 1" descr="/home/claude/dbs_ppt/icons/obj_auth.png"/>
          <p:cNvPicPr>
            <a:picLocks noChangeAspect="1"/>
          </p:cNvPicPr>
          <p:nvPr/>
        </p:nvPicPr>
        <p:blipFill>
          <a:blip r:embed="rId2"/>
          <a:stretch>
            <a:fillRect/>
          </a:stretch>
        </p:blipFill>
        <p:spPr>
          <a:xfrm>
            <a:off x="3613252" y="2894076"/>
            <a:ext cx="429768" cy="429768"/>
          </a:xfrm>
          <a:prstGeom prst="rect">
            <a:avLst/>
          </a:prstGeom>
        </p:spPr>
      </p:pic>
      <p:sp>
        <p:nvSpPr>
          <p:cNvPr id="14" name="Text 10"/>
          <p:cNvSpPr/>
          <p:nvPr/>
        </p:nvSpPr>
        <p:spPr>
          <a:xfrm>
            <a:off x="2932024" y="3749040"/>
            <a:ext cx="1792224" cy="594360"/>
          </a:xfrm>
          <a:prstGeom prst="rect">
            <a:avLst/>
          </a:prstGeom>
          <a:noFill/>
        </p:spPr>
        <p:txBody>
          <a:bodyPr wrap="square" rtlCol="0" anchor="ctr"/>
          <a:lstStyle/>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Secure Access</a:t>
            </a:r>
            <a:endParaRPr lang="en-US" sz="1300" dirty="0"/>
          </a:p>
        </p:txBody>
      </p:sp>
      <p:sp>
        <p:nvSpPr>
          <p:cNvPr id="15" name="Text 11"/>
          <p:cNvSpPr/>
          <p:nvPr/>
        </p:nvSpPr>
        <p:spPr>
          <a:xfrm>
            <a:off x="2968600" y="4389120"/>
            <a:ext cx="1719072" cy="1005840"/>
          </a:xfrm>
          <a:prstGeom prst="rect">
            <a:avLst/>
          </a:prstGeom>
          <a:noFill/>
        </p:spPr>
        <p:txBody>
          <a:bodyPr wrap="square" rtlCol="0" anchor="ctr"/>
          <a:lstStyle/>
          <a:p>
            <a:pPr marL="0" indent="0" algn="ctr">
              <a:lnSpc>
                <a:spcPct val="120000"/>
              </a:lnSpc>
              <a:buNone/>
            </a:pPr>
            <a:r>
              <a:rPr lang="en-US" sz="1000" dirty="0">
                <a:solidFill>
                  <a:srgbClr val="E8F0FA"/>
                </a:solidFill>
                <a:latin typeface="Calibri" pitchFamily="34" charset="0"/>
                <a:ea typeface="Calibri" pitchFamily="34" charset="-122"/>
                <a:cs typeface="Calibri" pitchFamily="34" charset="-120"/>
              </a:rPr>
              <a:t>Enable authentication &amp; authorization</a:t>
            </a:r>
            <a:endParaRPr lang="en-US" sz="1000" dirty="0"/>
          </a:p>
        </p:txBody>
      </p:sp>
      <p:sp>
        <p:nvSpPr>
          <p:cNvPr id="16" name="Shape 12"/>
          <p:cNvSpPr/>
          <p:nvPr/>
        </p:nvSpPr>
        <p:spPr>
          <a:xfrm>
            <a:off x="5053432" y="1965960"/>
            <a:ext cx="2084832" cy="3566160"/>
          </a:xfrm>
          <a:prstGeom prst="roundRect">
            <a:avLst>
              <a:gd name="adj" fmla="val 4386"/>
            </a:avLst>
          </a:prstGeom>
          <a:solidFill>
            <a:srgbClr val="13294B"/>
          </a:solidFill>
          <a:effectLst>
            <a:outerShdw blurRad="76200" dist="25400" dir="5400000" algn="bl" rotWithShape="0">
              <a:srgbClr val="13294B">
                <a:alpha val="15000"/>
              </a:srgbClr>
            </a:outerShdw>
          </a:effectLst>
        </p:spPr>
      </p:sp>
      <p:sp>
        <p:nvSpPr>
          <p:cNvPr id="17" name="Text 13"/>
          <p:cNvSpPr/>
          <p:nvPr/>
        </p:nvSpPr>
        <p:spPr>
          <a:xfrm>
            <a:off x="5218024" y="2103120"/>
            <a:ext cx="914400" cy="365760"/>
          </a:xfrm>
          <a:prstGeom prst="rect">
            <a:avLst/>
          </a:prstGeom>
          <a:noFill/>
        </p:spPr>
        <p:txBody>
          <a:bodyPr wrap="square" rtlCol="0" anchor="ctr"/>
          <a:lstStyle/>
          <a:p>
            <a:pPr marL="0" indent="0">
              <a:buNone/>
            </a:pPr>
            <a:r>
              <a:rPr lang="en-US" sz="1600" b="1" dirty="0">
                <a:solidFill>
                  <a:srgbClr val="D9A441"/>
                </a:solidFill>
                <a:latin typeface="Poppins" pitchFamily="34" charset="0"/>
                <a:ea typeface="Poppins" pitchFamily="34" charset="-122"/>
                <a:cs typeface="Poppins" pitchFamily="34" charset="-120"/>
              </a:rPr>
              <a:t>03</a:t>
            </a:r>
            <a:endParaRPr lang="en-US" sz="1600" dirty="0"/>
          </a:p>
        </p:txBody>
      </p:sp>
      <p:sp>
        <p:nvSpPr>
          <p:cNvPr id="18" name="Shape 14"/>
          <p:cNvSpPr/>
          <p:nvPr/>
        </p:nvSpPr>
        <p:spPr>
          <a:xfrm>
            <a:off x="5707228" y="2720340"/>
            <a:ext cx="777240" cy="777240"/>
          </a:xfrm>
          <a:prstGeom prst="ellipse">
            <a:avLst/>
          </a:prstGeom>
          <a:solidFill>
            <a:srgbClr val="FFFFFF"/>
          </a:solidFill>
          <a:effectLst>
            <a:outerShdw blurRad="76200" dist="25400" dir="5400000" algn="bl" rotWithShape="0">
              <a:srgbClr val="13294B">
                <a:alpha val="18000"/>
              </a:srgbClr>
            </a:outerShdw>
          </a:effectLst>
        </p:spPr>
      </p:sp>
      <p:pic>
        <p:nvPicPr>
          <p:cNvPr id="19" name="Image 2" descr="/home/claude/dbs_ppt/icons/obj_upload.png"/>
          <p:cNvPicPr>
            <a:picLocks noChangeAspect="1"/>
          </p:cNvPicPr>
          <p:nvPr/>
        </p:nvPicPr>
        <p:blipFill>
          <a:blip r:embed="rId3"/>
          <a:stretch>
            <a:fillRect/>
          </a:stretch>
        </p:blipFill>
        <p:spPr>
          <a:xfrm>
            <a:off x="5880964" y="2894076"/>
            <a:ext cx="429768" cy="429768"/>
          </a:xfrm>
          <a:prstGeom prst="rect">
            <a:avLst/>
          </a:prstGeom>
        </p:spPr>
      </p:pic>
      <p:sp>
        <p:nvSpPr>
          <p:cNvPr id="20" name="Text 15"/>
          <p:cNvSpPr/>
          <p:nvPr/>
        </p:nvSpPr>
        <p:spPr>
          <a:xfrm>
            <a:off x="5199736" y="3749040"/>
            <a:ext cx="1792224" cy="594360"/>
          </a:xfrm>
          <a:prstGeom prst="rect">
            <a:avLst/>
          </a:prstGeom>
          <a:noFill/>
        </p:spPr>
        <p:txBody>
          <a:bodyPr wrap="square" rtlCol="0" anchor="ctr"/>
          <a:lstStyle/>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Upload &amp; Organize</a:t>
            </a:r>
            <a:endParaRPr lang="en-US" sz="1300" dirty="0"/>
          </a:p>
        </p:txBody>
      </p:sp>
      <p:sp>
        <p:nvSpPr>
          <p:cNvPr id="21" name="Text 16"/>
          <p:cNvSpPr/>
          <p:nvPr/>
        </p:nvSpPr>
        <p:spPr>
          <a:xfrm>
            <a:off x="5236312" y="4389120"/>
            <a:ext cx="1719072" cy="1005840"/>
          </a:xfrm>
          <a:prstGeom prst="rect">
            <a:avLst/>
          </a:prstGeom>
          <a:noFill/>
        </p:spPr>
        <p:txBody>
          <a:bodyPr wrap="square" rtlCol="0" anchor="ctr"/>
          <a:lstStyle/>
          <a:p>
            <a:pPr marL="0" indent="0" algn="ctr">
              <a:lnSpc>
                <a:spcPct val="120000"/>
              </a:lnSpc>
              <a:buNone/>
            </a:pPr>
            <a:r>
              <a:rPr lang="en-US" sz="1000" dirty="0">
                <a:solidFill>
                  <a:srgbClr val="E8F0FA"/>
                </a:solidFill>
                <a:latin typeface="Calibri" pitchFamily="34" charset="0"/>
                <a:ea typeface="Calibri" pitchFamily="34" charset="-122"/>
                <a:cs typeface="Calibri" pitchFamily="34" charset="-120"/>
              </a:rPr>
              <a:t>Document upload, folders and search</a:t>
            </a:r>
            <a:endParaRPr lang="en-US" sz="1000" dirty="0"/>
          </a:p>
        </p:txBody>
      </p:sp>
      <p:sp>
        <p:nvSpPr>
          <p:cNvPr id="22" name="Shape 17"/>
          <p:cNvSpPr/>
          <p:nvPr/>
        </p:nvSpPr>
        <p:spPr>
          <a:xfrm>
            <a:off x="7321144" y="1965960"/>
            <a:ext cx="2084832" cy="3566160"/>
          </a:xfrm>
          <a:prstGeom prst="roundRect">
            <a:avLst>
              <a:gd name="adj" fmla="val 4386"/>
            </a:avLst>
          </a:prstGeom>
          <a:solidFill>
            <a:srgbClr val="2F5D8A"/>
          </a:solidFill>
          <a:effectLst>
            <a:outerShdw blurRad="76200" dist="25400" dir="5400000" algn="bl" rotWithShape="0">
              <a:srgbClr val="13294B">
                <a:alpha val="15000"/>
              </a:srgbClr>
            </a:outerShdw>
          </a:effectLst>
        </p:spPr>
      </p:sp>
      <p:sp>
        <p:nvSpPr>
          <p:cNvPr id="23" name="Text 18"/>
          <p:cNvSpPr/>
          <p:nvPr/>
        </p:nvSpPr>
        <p:spPr>
          <a:xfrm>
            <a:off x="7485736" y="2103120"/>
            <a:ext cx="914400" cy="365760"/>
          </a:xfrm>
          <a:prstGeom prst="rect">
            <a:avLst/>
          </a:prstGeom>
          <a:noFill/>
        </p:spPr>
        <p:txBody>
          <a:bodyPr wrap="square" rtlCol="0" anchor="ctr"/>
          <a:lstStyle/>
          <a:p>
            <a:pPr marL="0" indent="0">
              <a:buNone/>
            </a:pPr>
            <a:r>
              <a:rPr lang="en-US" sz="1600" b="1" dirty="0">
                <a:solidFill>
                  <a:srgbClr val="D9A441"/>
                </a:solidFill>
                <a:latin typeface="Poppins" pitchFamily="34" charset="0"/>
                <a:ea typeface="Poppins" pitchFamily="34" charset="-122"/>
                <a:cs typeface="Poppins" pitchFamily="34" charset="-120"/>
              </a:rPr>
              <a:t>04</a:t>
            </a:r>
            <a:endParaRPr lang="en-US" sz="1600" dirty="0"/>
          </a:p>
        </p:txBody>
      </p:sp>
      <p:sp>
        <p:nvSpPr>
          <p:cNvPr id="24" name="Shape 19"/>
          <p:cNvSpPr/>
          <p:nvPr/>
        </p:nvSpPr>
        <p:spPr>
          <a:xfrm>
            <a:off x="7974940" y="2720340"/>
            <a:ext cx="777240" cy="777240"/>
          </a:xfrm>
          <a:prstGeom prst="ellipse">
            <a:avLst/>
          </a:prstGeom>
          <a:solidFill>
            <a:srgbClr val="FFFFFF"/>
          </a:solidFill>
          <a:effectLst>
            <a:outerShdw blurRad="76200" dist="25400" dir="5400000" algn="bl" rotWithShape="0">
              <a:srgbClr val="13294B">
                <a:alpha val="18000"/>
              </a:srgbClr>
            </a:outerShdw>
          </a:effectLst>
        </p:spPr>
      </p:sp>
      <p:pic>
        <p:nvPicPr>
          <p:cNvPr id="25" name="Image 3" descr="/home/claude/dbs_ppt/icons/obj_version.png"/>
          <p:cNvPicPr>
            <a:picLocks noChangeAspect="1"/>
          </p:cNvPicPr>
          <p:nvPr/>
        </p:nvPicPr>
        <p:blipFill>
          <a:blip r:embed="rId4"/>
          <a:stretch>
            <a:fillRect/>
          </a:stretch>
        </p:blipFill>
        <p:spPr>
          <a:xfrm>
            <a:off x="8148676" y="2894076"/>
            <a:ext cx="429768" cy="429768"/>
          </a:xfrm>
          <a:prstGeom prst="rect">
            <a:avLst/>
          </a:prstGeom>
        </p:spPr>
      </p:pic>
      <p:sp>
        <p:nvSpPr>
          <p:cNvPr id="26" name="Text 20"/>
          <p:cNvSpPr/>
          <p:nvPr/>
        </p:nvSpPr>
        <p:spPr>
          <a:xfrm>
            <a:off x="7467448" y="3749040"/>
            <a:ext cx="1792224" cy="594360"/>
          </a:xfrm>
          <a:prstGeom prst="rect">
            <a:avLst/>
          </a:prstGeom>
          <a:noFill/>
        </p:spPr>
        <p:txBody>
          <a:bodyPr wrap="square" rtlCol="0" anchor="ctr"/>
          <a:lstStyle/>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Version History</a:t>
            </a:r>
            <a:endParaRPr lang="en-US" sz="1300" dirty="0"/>
          </a:p>
        </p:txBody>
      </p:sp>
      <p:sp>
        <p:nvSpPr>
          <p:cNvPr id="27" name="Text 21"/>
          <p:cNvSpPr/>
          <p:nvPr/>
        </p:nvSpPr>
        <p:spPr>
          <a:xfrm>
            <a:off x="7504024" y="4389120"/>
            <a:ext cx="1719072" cy="1005840"/>
          </a:xfrm>
          <a:prstGeom prst="rect">
            <a:avLst/>
          </a:prstGeom>
          <a:noFill/>
        </p:spPr>
        <p:txBody>
          <a:bodyPr wrap="square" rtlCol="0" anchor="ctr"/>
          <a:lstStyle/>
          <a:p>
            <a:pPr marL="0" indent="0" algn="ctr">
              <a:lnSpc>
                <a:spcPct val="120000"/>
              </a:lnSpc>
              <a:buNone/>
            </a:pPr>
            <a:r>
              <a:rPr lang="en-US" sz="1000" dirty="0">
                <a:solidFill>
                  <a:srgbClr val="E8F0FA"/>
                </a:solidFill>
                <a:latin typeface="Calibri" pitchFamily="34" charset="0"/>
                <a:ea typeface="Calibri" pitchFamily="34" charset="-122"/>
                <a:cs typeface="Calibri" pitchFamily="34" charset="-120"/>
              </a:rPr>
              <a:t>Maintain full document version control</a:t>
            </a:r>
            <a:endParaRPr lang="en-US" sz="1000" dirty="0"/>
          </a:p>
        </p:txBody>
      </p:sp>
      <p:sp>
        <p:nvSpPr>
          <p:cNvPr id="28" name="Shape 22"/>
          <p:cNvSpPr/>
          <p:nvPr/>
        </p:nvSpPr>
        <p:spPr>
          <a:xfrm>
            <a:off x="9588856" y="1965960"/>
            <a:ext cx="2084832" cy="3566160"/>
          </a:xfrm>
          <a:prstGeom prst="roundRect">
            <a:avLst>
              <a:gd name="adj" fmla="val 4386"/>
            </a:avLst>
          </a:prstGeom>
          <a:solidFill>
            <a:srgbClr val="13294B"/>
          </a:solidFill>
          <a:effectLst>
            <a:outerShdw blurRad="76200" dist="25400" dir="5400000" algn="bl" rotWithShape="0">
              <a:srgbClr val="13294B">
                <a:alpha val="15000"/>
              </a:srgbClr>
            </a:outerShdw>
          </a:effectLst>
        </p:spPr>
      </p:sp>
      <p:sp>
        <p:nvSpPr>
          <p:cNvPr id="29" name="Text 23"/>
          <p:cNvSpPr/>
          <p:nvPr/>
        </p:nvSpPr>
        <p:spPr>
          <a:xfrm>
            <a:off x="9753448" y="2103120"/>
            <a:ext cx="914400" cy="365760"/>
          </a:xfrm>
          <a:prstGeom prst="rect">
            <a:avLst/>
          </a:prstGeom>
          <a:noFill/>
        </p:spPr>
        <p:txBody>
          <a:bodyPr wrap="square" rtlCol="0" anchor="ctr"/>
          <a:lstStyle/>
          <a:p>
            <a:pPr marL="0" indent="0">
              <a:buNone/>
            </a:pPr>
            <a:r>
              <a:rPr lang="en-US" sz="1600" b="1" dirty="0">
                <a:solidFill>
                  <a:srgbClr val="D9A441"/>
                </a:solidFill>
                <a:latin typeface="Poppins" pitchFamily="34" charset="0"/>
                <a:ea typeface="Poppins" pitchFamily="34" charset="-122"/>
                <a:cs typeface="Poppins" pitchFamily="34" charset="-120"/>
              </a:rPr>
              <a:t>05</a:t>
            </a:r>
            <a:endParaRPr lang="en-US" sz="1600" dirty="0"/>
          </a:p>
        </p:txBody>
      </p:sp>
      <p:sp>
        <p:nvSpPr>
          <p:cNvPr id="30" name="Shape 24"/>
          <p:cNvSpPr/>
          <p:nvPr/>
        </p:nvSpPr>
        <p:spPr>
          <a:xfrm>
            <a:off x="10242652" y="2720340"/>
            <a:ext cx="777240" cy="777240"/>
          </a:xfrm>
          <a:prstGeom prst="ellipse">
            <a:avLst/>
          </a:prstGeom>
          <a:solidFill>
            <a:srgbClr val="FFFFFF"/>
          </a:solidFill>
          <a:effectLst>
            <a:outerShdw blurRad="76200" dist="25400" dir="5400000" algn="bl" rotWithShape="0">
              <a:srgbClr val="13294B">
                <a:alpha val="18000"/>
              </a:srgbClr>
            </a:outerShdw>
          </a:effectLst>
        </p:spPr>
      </p:sp>
      <p:pic>
        <p:nvPicPr>
          <p:cNvPr id="31" name="Image 4" descr="/home/claude/dbs_ppt/icons/obj_workflow.png"/>
          <p:cNvPicPr>
            <a:picLocks noChangeAspect="1"/>
          </p:cNvPicPr>
          <p:nvPr/>
        </p:nvPicPr>
        <p:blipFill>
          <a:blip r:embed="rId5"/>
          <a:stretch>
            <a:fillRect/>
          </a:stretch>
        </p:blipFill>
        <p:spPr>
          <a:xfrm>
            <a:off x="10416388" y="2894076"/>
            <a:ext cx="429768" cy="429768"/>
          </a:xfrm>
          <a:prstGeom prst="rect">
            <a:avLst/>
          </a:prstGeom>
        </p:spPr>
      </p:pic>
      <p:sp>
        <p:nvSpPr>
          <p:cNvPr id="32" name="Text 25"/>
          <p:cNvSpPr/>
          <p:nvPr/>
        </p:nvSpPr>
        <p:spPr>
          <a:xfrm>
            <a:off x="9735160" y="3749040"/>
            <a:ext cx="1792224" cy="594360"/>
          </a:xfrm>
          <a:prstGeom prst="rect">
            <a:avLst/>
          </a:prstGeom>
          <a:noFill/>
        </p:spPr>
        <p:txBody>
          <a:bodyPr wrap="square" rtlCol="0" anchor="ctr"/>
          <a:lstStyle/>
          <a:p>
            <a:pPr marL="0" indent="0" algn="ctr">
              <a:lnSpc>
                <a:spcPct val="105000"/>
              </a:lnSpc>
              <a:buNone/>
            </a:pPr>
            <a:r>
              <a:rPr lang="en-US" sz="1300" b="1" dirty="0">
                <a:solidFill>
                  <a:srgbClr val="FFFFFF"/>
                </a:solidFill>
                <a:latin typeface="Calibri" pitchFamily="34" charset="0"/>
                <a:ea typeface="Calibri" pitchFamily="34" charset="-122"/>
                <a:cs typeface="Calibri" pitchFamily="34" charset="-120"/>
              </a:rPr>
              <a:t>Automated Workflow</a:t>
            </a:r>
            <a:endParaRPr lang="en-US" sz="1300" dirty="0"/>
          </a:p>
        </p:txBody>
      </p:sp>
      <p:sp>
        <p:nvSpPr>
          <p:cNvPr id="33" name="Text 26"/>
          <p:cNvSpPr/>
          <p:nvPr/>
        </p:nvSpPr>
        <p:spPr>
          <a:xfrm>
            <a:off x="9771736" y="4389120"/>
            <a:ext cx="1719072" cy="1005840"/>
          </a:xfrm>
          <a:prstGeom prst="rect">
            <a:avLst/>
          </a:prstGeom>
          <a:noFill/>
        </p:spPr>
        <p:txBody>
          <a:bodyPr wrap="square" rtlCol="0" anchor="ctr"/>
          <a:lstStyle/>
          <a:p>
            <a:pPr marL="0" indent="0" algn="ctr">
              <a:lnSpc>
                <a:spcPct val="120000"/>
              </a:lnSpc>
              <a:buNone/>
            </a:pPr>
            <a:r>
              <a:rPr lang="en-US" sz="1000" dirty="0">
                <a:solidFill>
                  <a:srgbClr val="E8F0FA"/>
                </a:solidFill>
                <a:latin typeface="Calibri" pitchFamily="34" charset="0"/>
                <a:ea typeface="Calibri" pitchFamily="34" charset="-122"/>
                <a:cs typeface="Calibri" pitchFamily="34" charset="-120"/>
              </a:rPr>
              <a:t>Improve efficiency through automation</a:t>
            </a:r>
            <a:endParaRPr lang="en-US" sz="1000" dirty="0"/>
          </a:p>
        </p:txBody>
      </p:sp>
      <p:sp>
        <p:nvSpPr>
          <p:cNvPr id="34" name="Text 27"/>
          <p:cNvSpPr/>
          <p:nvPr/>
        </p:nvSpPr>
        <p:spPr>
          <a:xfrm>
            <a:off x="457200" y="6519672"/>
            <a:ext cx="5486400" cy="274320"/>
          </a:xfrm>
          <a:prstGeom prst="rect">
            <a:avLst/>
          </a:prstGeom>
          <a:noFill/>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25CS1302E – DBS-DBD  |  Project Review-1</a:t>
            </a:r>
            <a:endParaRPr lang="en-US" sz="900" dirty="0"/>
          </a:p>
        </p:txBody>
      </p:sp>
      <p:sp>
        <p:nvSpPr>
          <p:cNvPr id="35" name="Text 28"/>
          <p:cNvSpPr/>
          <p:nvPr/>
        </p:nvSpPr>
        <p:spPr>
          <a:xfrm>
            <a:off x="11277295" y="6519672"/>
            <a:ext cx="457200" cy="274320"/>
          </a:xfrm>
          <a:prstGeom prst="rect">
            <a:avLst/>
          </a:prstGeom>
          <a:noFill/>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4</a:t>
            </a:r>
            <a:endParaRPr lang="en-US" sz="900" dirty="0"/>
          </a:p>
        </p:txBody>
      </p:sp>
      <p:pic>
        <p:nvPicPr>
          <p:cNvPr id="360564775" name="Picture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a:xfrm>
            <a:off x="9907905" y="210185"/>
            <a:ext cx="1903730" cy="768350"/>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p:spPr>
        <p:txBody>
          <a:bodyPr wrap="square" rtlCol="0" anchor="ctr"/>
          <a:lstStyle/>
          <a:p>
            <a:pPr marL="0" indent="0">
              <a:buNone/>
            </a:pPr>
            <a:r>
              <a:rPr lang="en-US" b="1" kern="0" spc="200" dirty="0">
                <a:solidFill>
                  <a:srgbClr val="D9A441"/>
                </a:solidFill>
                <a:latin typeface="Calibri" pitchFamily="34" charset="0"/>
                <a:ea typeface="Calibri" pitchFamily="34" charset="-122"/>
                <a:cs typeface="Calibri" pitchFamily="34" charset="-120"/>
              </a:rPr>
              <a:t>TECHNOLOGY STACK</a:t>
            </a:r>
            <a:endParaRPr lang="en-US" dirty="0"/>
          </a:p>
        </p:txBody>
      </p:sp>
      <p:sp>
        <p:nvSpPr>
          <p:cNvPr id="3" name="Text 1"/>
          <p:cNvSpPr/>
          <p:nvPr/>
        </p:nvSpPr>
        <p:spPr>
          <a:xfrm>
            <a:off x="548640" y="658368"/>
            <a:ext cx="10515600" cy="640080"/>
          </a:xfrm>
          <a:prstGeom prst="rect">
            <a:avLst/>
          </a:prstGeom>
          <a:noFill/>
        </p:spPr>
        <p:txBody>
          <a:bodyPr wrap="square" rtlCol="0" anchor="ctr"/>
          <a:lstStyle/>
          <a:p>
            <a:pPr marL="0" indent="0">
              <a:buNone/>
            </a:pPr>
            <a:r>
              <a:rPr lang="en-US" sz="3000" b="1" dirty="0">
                <a:solidFill>
                  <a:srgbClr val="1B2A4A"/>
                </a:solidFill>
                <a:latin typeface="Poppins" pitchFamily="34" charset="0"/>
                <a:ea typeface="Poppins" pitchFamily="34" charset="-122"/>
                <a:cs typeface="Poppins" pitchFamily="34" charset="-120"/>
              </a:rPr>
              <a:t>Feasibility Analysis</a:t>
            </a:r>
            <a:endParaRPr lang="en-US" sz="3000" dirty="0"/>
          </a:p>
        </p:txBody>
      </p:sp>
      <p:sp>
        <p:nvSpPr>
          <p:cNvPr id="4" name="Shape 2"/>
          <p:cNvSpPr/>
          <p:nvPr/>
        </p:nvSpPr>
        <p:spPr>
          <a:xfrm>
            <a:off x="548640" y="1417320"/>
            <a:ext cx="11064240" cy="457200"/>
          </a:xfrm>
          <a:prstGeom prst="roundRect">
            <a:avLst>
              <a:gd name="adj" fmla="val 12000"/>
            </a:avLst>
          </a:prstGeom>
          <a:solidFill>
            <a:srgbClr val="13294B"/>
          </a:solidFill>
        </p:spPr>
      </p:sp>
      <p:sp>
        <p:nvSpPr>
          <p:cNvPr id="5" name="Text 3"/>
          <p:cNvSpPr/>
          <p:nvPr/>
        </p:nvSpPr>
        <p:spPr>
          <a:xfrm>
            <a:off x="548640" y="1417320"/>
            <a:ext cx="822960" cy="457200"/>
          </a:xfrm>
          <a:prstGeom prst="rect">
            <a:avLst/>
          </a:prstGeom>
          <a:noFill/>
        </p:spPr>
        <p:txBody>
          <a:bodyPr wrap="square" rtlCol="0" anchor="ctr"/>
          <a:lstStyle/>
          <a:p>
            <a:pPr marL="0" indent="0">
              <a:buNone/>
            </a:pPr>
            <a:endParaRPr lang="en-US" dirty="0"/>
          </a:p>
        </p:txBody>
      </p:sp>
      <p:sp>
        <p:nvSpPr>
          <p:cNvPr id="6" name="Text 4"/>
          <p:cNvSpPr/>
          <p:nvPr/>
        </p:nvSpPr>
        <p:spPr>
          <a:xfrm>
            <a:off x="1371600" y="1417320"/>
            <a:ext cx="1828800" cy="457200"/>
          </a:xfrm>
          <a:prstGeom prst="rect">
            <a:avLst/>
          </a:prstGeom>
          <a:noFill/>
        </p:spPr>
        <p:txBody>
          <a:bodyPr wrap="square" rtlCol="0" anchor="ctr"/>
          <a:lstStyle/>
          <a:p>
            <a:pPr marL="0" indent="0">
              <a:buNone/>
            </a:pPr>
            <a:r>
              <a:rPr lang="en-US" sz="1100" b="1" kern="0" spc="100" dirty="0">
                <a:solidFill>
                  <a:srgbClr val="FFFFFF"/>
                </a:solidFill>
                <a:latin typeface="Calibri" pitchFamily="34" charset="0"/>
                <a:ea typeface="Calibri" pitchFamily="34" charset="-122"/>
                <a:cs typeface="Calibri" pitchFamily="34" charset="-120"/>
              </a:rPr>
              <a:t>CATEGORY</a:t>
            </a:r>
            <a:endParaRPr lang="en-US" sz="1100" dirty="0"/>
          </a:p>
        </p:txBody>
      </p:sp>
      <p:sp>
        <p:nvSpPr>
          <p:cNvPr id="7" name="Text 5"/>
          <p:cNvSpPr/>
          <p:nvPr/>
        </p:nvSpPr>
        <p:spPr>
          <a:xfrm>
            <a:off x="3200400" y="1417320"/>
            <a:ext cx="2743200" cy="457200"/>
          </a:xfrm>
          <a:prstGeom prst="rect">
            <a:avLst/>
          </a:prstGeom>
          <a:noFill/>
        </p:spPr>
        <p:txBody>
          <a:bodyPr wrap="square" rtlCol="0" anchor="ctr"/>
          <a:lstStyle/>
          <a:p>
            <a:pPr marL="0" indent="0">
              <a:buNone/>
            </a:pPr>
            <a:r>
              <a:rPr lang="en-US" sz="1100" b="1" kern="0" spc="100" dirty="0">
                <a:solidFill>
                  <a:srgbClr val="FFFFFF"/>
                </a:solidFill>
                <a:latin typeface="Calibri" pitchFamily="34" charset="0"/>
                <a:ea typeface="Calibri" pitchFamily="34" charset="-122"/>
                <a:cs typeface="Calibri" pitchFamily="34" charset="-120"/>
              </a:rPr>
              <a:t>TECHNOLOGY</a:t>
            </a:r>
            <a:endParaRPr lang="en-US" sz="1100" dirty="0"/>
          </a:p>
        </p:txBody>
      </p:sp>
      <p:sp>
        <p:nvSpPr>
          <p:cNvPr id="8" name="Text 6"/>
          <p:cNvSpPr/>
          <p:nvPr/>
        </p:nvSpPr>
        <p:spPr>
          <a:xfrm>
            <a:off x="5943600" y="1417320"/>
            <a:ext cx="5669280" cy="457200"/>
          </a:xfrm>
          <a:prstGeom prst="rect">
            <a:avLst/>
          </a:prstGeom>
          <a:noFill/>
        </p:spPr>
        <p:txBody>
          <a:bodyPr wrap="square" rtlCol="0" anchor="ctr"/>
          <a:lstStyle/>
          <a:p>
            <a:pPr marL="0" indent="0">
              <a:buNone/>
            </a:pPr>
            <a:r>
              <a:rPr lang="en-US" sz="1100" b="1" kern="0" spc="100" dirty="0">
                <a:solidFill>
                  <a:srgbClr val="FFFFFF"/>
                </a:solidFill>
                <a:latin typeface="Calibri" pitchFamily="34" charset="0"/>
                <a:ea typeface="Calibri" pitchFamily="34" charset="-122"/>
                <a:cs typeface="Calibri" pitchFamily="34" charset="-120"/>
              </a:rPr>
              <a:t>WHY THIS CHOICE</a:t>
            </a:r>
            <a:endParaRPr lang="en-US" sz="1100" dirty="0"/>
          </a:p>
        </p:txBody>
      </p:sp>
      <p:sp>
        <p:nvSpPr>
          <p:cNvPr id="9" name="Shape 7"/>
          <p:cNvSpPr/>
          <p:nvPr/>
        </p:nvSpPr>
        <p:spPr>
          <a:xfrm>
            <a:off x="740664" y="1945386"/>
            <a:ext cx="384048" cy="384048"/>
          </a:xfrm>
          <a:prstGeom prst="ellipse">
            <a:avLst/>
          </a:prstGeom>
          <a:solidFill>
            <a:srgbClr val="F4F7FB"/>
          </a:solidFill>
          <a:effectLst>
            <a:outerShdw blurRad="76200" dist="25400" dir="5400000" algn="bl" rotWithShape="0">
              <a:srgbClr val="13294B">
                <a:alpha val="18000"/>
              </a:srgbClr>
            </a:outerShdw>
          </a:effectLst>
        </p:spPr>
      </p:sp>
      <p:pic>
        <p:nvPicPr>
          <p:cNvPr id="10" name="Image 0" descr="/home/claude/dbs_ppt/icons/tech_frontend.png"/>
          <p:cNvPicPr>
            <a:picLocks noChangeAspect="1"/>
          </p:cNvPicPr>
          <p:nvPr/>
        </p:nvPicPr>
        <p:blipFill>
          <a:blip r:embed="rId1"/>
          <a:stretch>
            <a:fillRect/>
          </a:stretch>
        </p:blipFill>
        <p:spPr>
          <a:xfrm>
            <a:off x="822960" y="2027682"/>
            <a:ext cx="219456" cy="219456"/>
          </a:xfrm>
          <a:prstGeom prst="rect">
            <a:avLst/>
          </a:prstGeom>
        </p:spPr>
      </p:pic>
      <p:sp>
        <p:nvSpPr>
          <p:cNvPr id="11" name="Text 8"/>
          <p:cNvSpPr/>
          <p:nvPr/>
        </p:nvSpPr>
        <p:spPr>
          <a:xfrm>
            <a:off x="1371600" y="1874520"/>
            <a:ext cx="1828800" cy="525780"/>
          </a:xfrm>
          <a:prstGeom prst="rect">
            <a:avLst/>
          </a:prstGeom>
          <a:noFill/>
        </p:spPr>
        <p:txBody>
          <a:bodyPr wrap="square"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Frontend</a:t>
            </a:r>
            <a:endParaRPr lang="en-US" sz="1150" dirty="0"/>
          </a:p>
        </p:txBody>
      </p:sp>
      <p:sp>
        <p:nvSpPr>
          <p:cNvPr id="12" name="Text 9"/>
          <p:cNvSpPr/>
          <p:nvPr/>
        </p:nvSpPr>
        <p:spPr>
          <a:xfrm>
            <a:off x="3200400" y="1874520"/>
            <a:ext cx="2743200" cy="525780"/>
          </a:xfrm>
          <a:prstGeom prst="rect">
            <a:avLst/>
          </a:prstGeom>
          <a:noFill/>
        </p:spPr>
        <p:txBody>
          <a:bodyPr wrap="square" rtlCol="0" anchor="ctr"/>
          <a:lstStyle/>
          <a:p>
            <a:pPr marL="0" indent="0">
              <a:buNone/>
            </a:pPr>
            <a:r>
              <a:rPr lang="en-US" sz="1150" b="1" dirty="0">
                <a:solidFill>
                  <a:srgbClr val="2F5D8A"/>
                </a:solidFill>
                <a:latin typeface="Calibri" pitchFamily="34" charset="0"/>
                <a:ea typeface="Calibri" pitchFamily="34" charset="-122"/>
                <a:cs typeface="Calibri" pitchFamily="34" charset="-120"/>
              </a:rPr>
              <a:t>React.js</a:t>
            </a:r>
            <a:endParaRPr lang="en-US" sz="1150" dirty="0"/>
          </a:p>
        </p:txBody>
      </p:sp>
      <p:sp>
        <p:nvSpPr>
          <p:cNvPr id="13" name="Text 10"/>
          <p:cNvSpPr/>
          <p:nvPr/>
        </p:nvSpPr>
        <p:spPr>
          <a:xfrm>
            <a:off x="5943600" y="1874520"/>
            <a:ext cx="5532120" cy="525780"/>
          </a:xfrm>
          <a:prstGeom prst="rect">
            <a:avLst/>
          </a:prstGeom>
          <a:noFill/>
        </p:spPr>
        <p:txBody>
          <a:bodyPr wrap="square" rtlCol="0" anchor="ctr"/>
          <a:lstStyle/>
          <a:p>
            <a:pPr marL="0" indent="0">
              <a:buNone/>
            </a:pPr>
            <a:r>
              <a:rPr lang="en-US" sz="1050" dirty="0">
                <a:solidFill>
                  <a:srgbClr val="5B6B82"/>
                </a:solidFill>
                <a:latin typeface="Calibri" pitchFamily="34" charset="0"/>
                <a:ea typeface="Calibri" pitchFamily="34" charset="-122"/>
                <a:cs typeface="Calibri" pitchFamily="34" charset="-120"/>
              </a:rPr>
              <a:t>Component-driven, fast UI rendering</a:t>
            </a:r>
            <a:endParaRPr lang="en-US" sz="1050" dirty="0"/>
          </a:p>
        </p:txBody>
      </p:sp>
      <p:sp>
        <p:nvSpPr>
          <p:cNvPr id="14" name="Shape 11"/>
          <p:cNvSpPr/>
          <p:nvPr/>
        </p:nvSpPr>
        <p:spPr>
          <a:xfrm>
            <a:off x="548640" y="2400300"/>
            <a:ext cx="11064240" cy="525780"/>
          </a:xfrm>
          <a:prstGeom prst="rect">
            <a:avLst/>
          </a:prstGeom>
          <a:solidFill>
            <a:srgbClr val="F4F7FB"/>
          </a:solidFill>
        </p:spPr>
      </p:sp>
      <p:sp>
        <p:nvSpPr>
          <p:cNvPr id="15" name="Shape 12"/>
          <p:cNvSpPr/>
          <p:nvPr/>
        </p:nvSpPr>
        <p:spPr>
          <a:xfrm>
            <a:off x="740664" y="2471166"/>
            <a:ext cx="384048" cy="384048"/>
          </a:xfrm>
          <a:prstGeom prst="ellipse">
            <a:avLst/>
          </a:prstGeom>
          <a:solidFill>
            <a:srgbClr val="FFFFFF"/>
          </a:solidFill>
          <a:effectLst>
            <a:outerShdw blurRad="76200" dist="25400" dir="5400000" algn="bl" rotWithShape="0">
              <a:srgbClr val="13294B">
                <a:alpha val="18000"/>
              </a:srgbClr>
            </a:outerShdw>
          </a:effectLst>
        </p:spPr>
      </p:sp>
      <p:pic>
        <p:nvPicPr>
          <p:cNvPr id="16" name="Image 1" descr="/home/claude/dbs_ppt/icons/tech_backend.png"/>
          <p:cNvPicPr>
            <a:picLocks noChangeAspect="1"/>
          </p:cNvPicPr>
          <p:nvPr/>
        </p:nvPicPr>
        <p:blipFill>
          <a:blip r:embed="rId2"/>
          <a:stretch>
            <a:fillRect/>
          </a:stretch>
        </p:blipFill>
        <p:spPr>
          <a:xfrm>
            <a:off x="822960" y="2553462"/>
            <a:ext cx="219456" cy="219456"/>
          </a:xfrm>
          <a:prstGeom prst="rect">
            <a:avLst/>
          </a:prstGeom>
        </p:spPr>
      </p:pic>
      <p:sp>
        <p:nvSpPr>
          <p:cNvPr id="17" name="Text 13"/>
          <p:cNvSpPr/>
          <p:nvPr/>
        </p:nvSpPr>
        <p:spPr>
          <a:xfrm>
            <a:off x="1371600" y="2400300"/>
            <a:ext cx="1828800" cy="525780"/>
          </a:xfrm>
          <a:prstGeom prst="rect">
            <a:avLst/>
          </a:prstGeom>
          <a:noFill/>
        </p:spPr>
        <p:txBody>
          <a:bodyPr wrap="square"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Backend</a:t>
            </a:r>
            <a:endParaRPr lang="en-US" sz="1150" dirty="0"/>
          </a:p>
        </p:txBody>
      </p:sp>
      <p:sp>
        <p:nvSpPr>
          <p:cNvPr id="18" name="Text 14"/>
          <p:cNvSpPr/>
          <p:nvPr/>
        </p:nvSpPr>
        <p:spPr>
          <a:xfrm>
            <a:off x="3200400" y="2400300"/>
            <a:ext cx="2743200" cy="525780"/>
          </a:xfrm>
          <a:prstGeom prst="rect">
            <a:avLst/>
          </a:prstGeom>
          <a:noFill/>
        </p:spPr>
        <p:txBody>
          <a:bodyPr wrap="square" rtlCol="0" anchor="ctr"/>
          <a:lstStyle/>
          <a:p>
            <a:pPr marL="0" indent="0">
              <a:buNone/>
            </a:pPr>
            <a:r>
              <a:rPr lang="en-US" sz="1150" b="1" dirty="0">
                <a:solidFill>
                  <a:srgbClr val="2F5D8A"/>
                </a:solidFill>
                <a:latin typeface="Calibri" pitchFamily="34" charset="0"/>
                <a:ea typeface="Calibri" pitchFamily="34" charset="-122"/>
                <a:cs typeface="Calibri" pitchFamily="34" charset="-120"/>
              </a:rPr>
              <a:t>Spring Boot</a:t>
            </a:r>
            <a:endParaRPr lang="en-US" sz="1150" dirty="0"/>
          </a:p>
        </p:txBody>
      </p:sp>
      <p:sp>
        <p:nvSpPr>
          <p:cNvPr id="19" name="Text 15"/>
          <p:cNvSpPr/>
          <p:nvPr/>
        </p:nvSpPr>
        <p:spPr>
          <a:xfrm>
            <a:off x="5943600" y="2400300"/>
            <a:ext cx="5532120" cy="525780"/>
          </a:xfrm>
          <a:prstGeom prst="rect">
            <a:avLst/>
          </a:prstGeom>
          <a:noFill/>
        </p:spPr>
        <p:txBody>
          <a:bodyPr wrap="square" rtlCol="0" anchor="ctr"/>
          <a:lstStyle/>
          <a:p>
            <a:pPr marL="0" indent="0">
              <a:buNone/>
            </a:pPr>
            <a:r>
              <a:rPr lang="en-US" sz="1050" dirty="0">
                <a:solidFill>
                  <a:srgbClr val="5B6B82"/>
                </a:solidFill>
                <a:latin typeface="Calibri" pitchFamily="34" charset="0"/>
                <a:ea typeface="Calibri" pitchFamily="34" charset="-122"/>
                <a:cs typeface="Calibri" pitchFamily="34" charset="-120"/>
              </a:rPr>
              <a:t>Robust, production-ready Java framework</a:t>
            </a:r>
            <a:endParaRPr lang="en-US" sz="1050" dirty="0"/>
          </a:p>
        </p:txBody>
      </p:sp>
      <p:sp>
        <p:nvSpPr>
          <p:cNvPr id="20" name="Shape 16"/>
          <p:cNvSpPr/>
          <p:nvPr/>
        </p:nvSpPr>
        <p:spPr>
          <a:xfrm>
            <a:off x="740664" y="2996946"/>
            <a:ext cx="384048" cy="384048"/>
          </a:xfrm>
          <a:prstGeom prst="ellipse">
            <a:avLst/>
          </a:prstGeom>
          <a:solidFill>
            <a:srgbClr val="F4F7FB"/>
          </a:solidFill>
          <a:effectLst>
            <a:outerShdw blurRad="76200" dist="25400" dir="5400000" algn="bl" rotWithShape="0">
              <a:srgbClr val="13294B">
                <a:alpha val="18000"/>
              </a:srgbClr>
            </a:outerShdw>
          </a:effectLst>
        </p:spPr>
      </p:sp>
      <p:pic>
        <p:nvPicPr>
          <p:cNvPr id="21" name="Image 2" descr="/home/claude/dbs_ppt/icons/tech_db.png"/>
          <p:cNvPicPr>
            <a:picLocks noChangeAspect="1"/>
          </p:cNvPicPr>
          <p:nvPr/>
        </p:nvPicPr>
        <p:blipFill>
          <a:blip r:embed="rId3"/>
          <a:stretch>
            <a:fillRect/>
          </a:stretch>
        </p:blipFill>
        <p:spPr>
          <a:xfrm>
            <a:off x="822960" y="3079242"/>
            <a:ext cx="219456" cy="219456"/>
          </a:xfrm>
          <a:prstGeom prst="rect">
            <a:avLst/>
          </a:prstGeom>
        </p:spPr>
      </p:pic>
      <p:sp>
        <p:nvSpPr>
          <p:cNvPr id="22" name="Text 17"/>
          <p:cNvSpPr/>
          <p:nvPr/>
        </p:nvSpPr>
        <p:spPr>
          <a:xfrm>
            <a:off x="1371600" y="2926080"/>
            <a:ext cx="1828800" cy="525780"/>
          </a:xfrm>
          <a:prstGeom prst="rect">
            <a:avLst/>
          </a:prstGeom>
          <a:noFill/>
        </p:spPr>
        <p:txBody>
          <a:bodyPr wrap="square"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Database</a:t>
            </a:r>
            <a:endParaRPr lang="en-US" sz="1150" dirty="0"/>
          </a:p>
        </p:txBody>
      </p:sp>
      <p:sp>
        <p:nvSpPr>
          <p:cNvPr id="23" name="Text 18"/>
          <p:cNvSpPr/>
          <p:nvPr/>
        </p:nvSpPr>
        <p:spPr>
          <a:xfrm>
            <a:off x="3200400" y="2926080"/>
            <a:ext cx="2743200" cy="525780"/>
          </a:xfrm>
          <a:prstGeom prst="rect">
            <a:avLst/>
          </a:prstGeom>
          <a:noFill/>
        </p:spPr>
        <p:txBody>
          <a:bodyPr wrap="square" rtlCol="0" anchor="ctr"/>
          <a:lstStyle/>
          <a:p>
            <a:pPr marL="0" indent="0">
              <a:buNone/>
            </a:pPr>
            <a:r>
              <a:rPr lang="en-US" sz="1150" b="1" dirty="0">
                <a:solidFill>
                  <a:srgbClr val="2F5D8A"/>
                </a:solidFill>
                <a:latin typeface="Calibri" pitchFamily="34" charset="0"/>
                <a:ea typeface="Calibri" pitchFamily="34" charset="-122"/>
                <a:cs typeface="Calibri" pitchFamily="34" charset="-120"/>
              </a:rPr>
              <a:t>MySQL</a:t>
            </a:r>
            <a:endParaRPr lang="en-US" sz="1150" dirty="0"/>
          </a:p>
        </p:txBody>
      </p:sp>
      <p:sp>
        <p:nvSpPr>
          <p:cNvPr id="24" name="Text 19"/>
          <p:cNvSpPr/>
          <p:nvPr/>
        </p:nvSpPr>
        <p:spPr>
          <a:xfrm>
            <a:off x="5943600" y="2926080"/>
            <a:ext cx="5532120" cy="525780"/>
          </a:xfrm>
          <a:prstGeom prst="rect">
            <a:avLst/>
          </a:prstGeom>
          <a:noFill/>
        </p:spPr>
        <p:txBody>
          <a:bodyPr wrap="square" rtlCol="0" anchor="ctr"/>
          <a:lstStyle/>
          <a:p>
            <a:pPr marL="0" indent="0">
              <a:buNone/>
            </a:pPr>
            <a:r>
              <a:rPr lang="en-US" sz="1050" dirty="0">
                <a:solidFill>
                  <a:srgbClr val="5B6B82"/>
                </a:solidFill>
                <a:latin typeface="Calibri" pitchFamily="34" charset="0"/>
                <a:ea typeface="Calibri" pitchFamily="34" charset="-122"/>
                <a:cs typeface="Calibri" pitchFamily="34" charset="-120"/>
              </a:rPr>
              <a:t>Reliable relational storage for metadata</a:t>
            </a:r>
            <a:endParaRPr lang="en-US" sz="1050" dirty="0"/>
          </a:p>
        </p:txBody>
      </p:sp>
      <p:sp>
        <p:nvSpPr>
          <p:cNvPr id="25" name="Shape 20"/>
          <p:cNvSpPr/>
          <p:nvPr/>
        </p:nvSpPr>
        <p:spPr>
          <a:xfrm>
            <a:off x="548640" y="3451860"/>
            <a:ext cx="11064240" cy="525780"/>
          </a:xfrm>
          <a:prstGeom prst="rect">
            <a:avLst/>
          </a:prstGeom>
          <a:solidFill>
            <a:srgbClr val="F4F7FB"/>
          </a:solidFill>
        </p:spPr>
      </p:sp>
      <p:sp>
        <p:nvSpPr>
          <p:cNvPr id="26" name="Shape 21"/>
          <p:cNvSpPr/>
          <p:nvPr/>
        </p:nvSpPr>
        <p:spPr>
          <a:xfrm>
            <a:off x="740664" y="3522726"/>
            <a:ext cx="384048" cy="384048"/>
          </a:xfrm>
          <a:prstGeom prst="ellipse">
            <a:avLst/>
          </a:prstGeom>
          <a:solidFill>
            <a:srgbClr val="FFFFFF"/>
          </a:solidFill>
          <a:effectLst>
            <a:outerShdw blurRad="76200" dist="25400" dir="5400000" algn="bl" rotWithShape="0">
              <a:srgbClr val="13294B">
                <a:alpha val="18000"/>
              </a:srgbClr>
            </a:outerShdw>
          </a:effectLst>
        </p:spPr>
      </p:sp>
      <p:pic>
        <p:nvPicPr>
          <p:cNvPr id="27" name="Image 3" descr="/home/claude/dbs_ppt/icons/tech_auth.png"/>
          <p:cNvPicPr>
            <a:picLocks noChangeAspect="1"/>
          </p:cNvPicPr>
          <p:nvPr/>
        </p:nvPicPr>
        <p:blipFill>
          <a:blip r:embed="rId4"/>
          <a:stretch>
            <a:fillRect/>
          </a:stretch>
        </p:blipFill>
        <p:spPr>
          <a:xfrm>
            <a:off x="822960" y="3605022"/>
            <a:ext cx="219456" cy="219456"/>
          </a:xfrm>
          <a:prstGeom prst="rect">
            <a:avLst/>
          </a:prstGeom>
        </p:spPr>
      </p:pic>
      <p:sp>
        <p:nvSpPr>
          <p:cNvPr id="28" name="Text 22"/>
          <p:cNvSpPr/>
          <p:nvPr/>
        </p:nvSpPr>
        <p:spPr>
          <a:xfrm>
            <a:off x="1371600" y="3451860"/>
            <a:ext cx="1828800" cy="525780"/>
          </a:xfrm>
          <a:prstGeom prst="rect">
            <a:avLst/>
          </a:prstGeom>
          <a:noFill/>
        </p:spPr>
        <p:txBody>
          <a:bodyPr wrap="square"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Authentication</a:t>
            </a:r>
            <a:endParaRPr lang="en-US" sz="1150" dirty="0"/>
          </a:p>
        </p:txBody>
      </p:sp>
      <p:sp>
        <p:nvSpPr>
          <p:cNvPr id="29" name="Text 23"/>
          <p:cNvSpPr/>
          <p:nvPr/>
        </p:nvSpPr>
        <p:spPr>
          <a:xfrm>
            <a:off x="3200400" y="3451860"/>
            <a:ext cx="2743200" cy="525780"/>
          </a:xfrm>
          <a:prstGeom prst="rect">
            <a:avLst/>
          </a:prstGeom>
          <a:noFill/>
        </p:spPr>
        <p:txBody>
          <a:bodyPr wrap="square" rtlCol="0" anchor="ctr"/>
          <a:lstStyle/>
          <a:p>
            <a:pPr marL="0" indent="0">
              <a:buNone/>
            </a:pPr>
            <a:r>
              <a:rPr lang="en-US" sz="1150" b="1" dirty="0">
                <a:solidFill>
                  <a:srgbClr val="2F5D8A"/>
                </a:solidFill>
                <a:latin typeface="Calibri" pitchFamily="34" charset="0"/>
                <a:ea typeface="Calibri" pitchFamily="34" charset="-122"/>
                <a:cs typeface="Calibri" pitchFamily="34" charset="-120"/>
              </a:rPr>
              <a:t>Spring Security + JWT</a:t>
            </a:r>
            <a:endParaRPr lang="en-US" sz="1150" dirty="0"/>
          </a:p>
        </p:txBody>
      </p:sp>
      <p:sp>
        <p:nvSpPr>
          <p:cNvPr id="30" name="Text 24"/>
          <p:cNvSpPr/>
          <p:nvPr/>
        </p:nvSpPr>
        <p:spPr>
          <a:xfrm>
            <a:off x="5943600" y="3451860"/>
            <a:ext cx="5532120" cy="525780"/>
          </a:xfrm>
          <a:prstGeom prst="rect">
            <a:avLst/>
          </a:prstGeom>
          <a:noFill/>
        </p:spPr>
        <p:txBody>
          <a:bodyPr wrap="square" rtlCol="0" anchor="ctr"/>
          <a:lstStyle/>
          <a:p>
            <a:pPr marL="0" indent="0">
              <a:buNone/>
            </a:pPr>
            <a:r>
              <a:rPr lang="en-US" sz="1050" dirty="0">
                <a:solidFill>
                  <a:srgbClr val="5B6B82"/>
                </a:solidFill>
                <a:latin typeface="Calibri" pitchFamily="34" charset="0"/>
                <a:ea typeface="Calibri" pitchFamily="34" charset="-122"/>
                <a:cs typeface="Calibri" pitchFamily="34" charset="-120"/>
              </a:rPr>
              <a:t>Stateless, secure token-based access</a:t>
            </a:r>
            <a:endParaRPr lang="en-US" sz="1050" dirty="0"/>
          </a:p>
        </p:txBody>
      </p:sp>
      <p:sp>
        <p:nvSpPr>
          <p:cNvPr id="31" name="Shape 25"/>
          <p:cNvSpPr/>
          <p:nvPr/>
        </p:nvSpPr>
        <p:spPr>
          <a:xfrm>
            <a:off x="740664" y="4048506"/>
            <a:ext cx="384048" cy="384048"/>
          </a:xfrm>
          <a:prstGeom prst="ellipse">
            <a:avLst/>
          </a:prstGeom>
          <a:solidFill>
            <a:srgbClr val="F4F7FB"/>
          </a:solidFill>
          <a:effectLst>
            <a:outerShdw blurRad="76200" dist="25400" dir="5400000" algn="bl" rotWithShape="0">
              <a:srgbClr val="13294B">
                <a:alpha val="18000"/>
              </a:srgbClr>
            </a:outerShdw>
          </a:effectLst>
        </p:spPr>
      </p:sp>
      <p:pic>
        <p:nvPicPr>
          <p:cNvPr id="32" name="Image 4" descr="/home/claude/dbs_ppt/icons/tech_git.png"/>
          <p:cNvPicPr>
            <a:picLocks noChangeAspect="1"/>
          </p:cNvPicPr>
          <p:nvPr/>
        </p:nvPicPr>
        <p:blipFill>
          <a:blip r:embed="rId5"/>
          <a:stretch>
            <a:fillRect/>
          </a:stretch>
        </p:blipFill>
        <p:spPr>
          <a:xfrm>
            <a:off x="822960" y="4130802"/>
            <a:ext cx="219456" cy="219456"/>
          </a:xfrm>
          <a:prstGeom prst="rect">
            <a:avLst/>
          </a:prstGeom>
        </p:spPr>
      </p:pic>
      <p:sp>
        <p:nvSpPr>
          <p:cNvPr id="33" name="Text 26"/>
          <p:cNvSpPr/>
          <p:nvPr/>
        </p:nvSpPr>
        <p:spPr>
          <a:xfrm>
            <a:off x="1371600" y="3977640"/>
            <a:ext cx="1828800" cy="525780"/>
          </a:xfrm>
          <a:prstGeom prst="rect">
            <a:avLst/>
          </a:prstGeom>
          <a:noFill/>
        </p:spPr>
        <p:txBody>
          <a:bodyPr wrap="square"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Version Control</a:t>
            </a:r>
            <a:endParaRPr lang="en-US" sz="1150" dirty="0"/>
          </a:p>
        </p:txBody>
      </p:sp>
      <p:sp>
        <p:nvSpPr>
          <p:cNvPr id="34" name="Text 27"/>
          <p:cNvSpPr/>
          <p:nvPr/>
        </p:nvSpPr>
        <p:spPr>
          <a:xfrm>
            <a:off x="3200400" y="3977640"/>
            <a:ext cx="2743200" cy="525780"/>
          </a:xfrm>
          <a:prstGeom prst="rect">
            <a:avLst/>
          </a:prstGeom>
          <a:noFill/>
        </p:spPr>
        <p:txBody>
          <a:bodyPr wrap="square" rtlCol="0" anchor="ctr"/>
          <a:lstStyle/>
          <a:p>
            <a:pPr marL="0" indent="0">
              <a:buNone/>
            </a:pPr>
            <a:r>
              <a:rPr lang="en-US" sz="1150" b="1" dirty="0">
                <a:solidFill>
                  <a:srgbClr val="2F5D8A"/>
                </a:solidFill>
                <a:latin typeface="Calibri" pitchFamily="34" charset="0"/>
                <a:ea typeface="Calibri" pitchFamily="34" charset="-122"/>
                <a:cs typeface="Calibri" pitchFamily="34" charset="-120"/>
              </a:rPr>
              <a:t>Git &amp; GitHub</a:t>
            </a:r>
            <a:endParaRPr lang="en-US" sz="1150" dirty="0"/>
          </a:p>
        </p:txBody>
      </p:sp>
      <p:sp>
        <p:nvSpPr>
          <p:cNvPr id="35" name="Text 28"/>
          <p:cNvSpPr/>
          <p:nvPr/>
        </p:nvSpPr>
        <p:spPr>
          <a:xfrm>
            <a:off x="5943600" y="3977640"/>
            <a:ext cx="5532120" cy="525780"/>
          </a:xfrm>
          <a:prstGeom prst="rect">
            <a:avLst/>
          </a:prstGeom>
          <a:noFill/>
        </p:spPr>
        <p:txBody>
          <a:bodyPr wrap="square" rtlCol="0" anchor="ctr"/>
          <a:lstStyle/>
          <a:p>
            <a:pPr marL="0" indent="0">
              <a:buNone/>
            </a:pPr>
            <a:r>
              <a:rPr lang="en-US" sz="1050" dirty="0">
                <a:solidFill>
                  <a:srgbClr val="5B6B82"/>
                </a:solidFill>
                <a:latin typeface="Calibri" pitchFamily="34" charset="0"/>
                <a:ea typeface="Calibri" pitchFamily="34" charset="-122"/>
                <a:cs typeface="Calibri" pitchFamily="34" charset="-120"/>
              </a:rPr>
              <a:t>Collaborative source code management</a:t>
            </a:r>
            <a:endParaRPr lang="en-US" sz="1050" dirty="0"/>
          </a:p>
        </p:txBody>
      </p:sp>
      <p:sp>
        <p:nvSpPr>
          <p:cNvPr id="36" name="Shape 29"/>
          <p:cNvSpPr/>
          <p:nvPr/>
        </p:nvSpPr>
        <p:spPr>
          <a:xfrm>
            <a:off x="548640" y="4503420"/>
            <a:ext cx="11064240" cy="525780"/>
          </a:xfrm>
          <a:prstGeom prst="rect">
            <a:avLst/>
          </a:prstGeom>
          <a:solidFill>
            <a:srgbClr val="F4F7FB"/>
          </a:solidFill>
        </p:spPr>
      </p:sp>
      <p:sp>
        <p:nvSpPr>
          <p:cNvPr id="37" name="Shape 30"/>
          <p:cNvSpPr/>
          <p:nvPr/>
        </p:nvSpPr>
        <p:spPr>
          <a:xfrm>
            <a:off x="740664" y="4574286"/>
            <a:ext cx="384048" cy="384048"/>
          </a:xfrm>
          <a:prstGeom prst="ellipse">
            <a:avLst/>
          </a:prstGeom>
          <a:solidFill>
            <a:srgbClr val="FFFFFF"/>
          </a:solidFill>
          <a:effectLst>
            <a:outerShdw blurRad="76200" dist="25400" dir="5400000" algn="bl" rotWithShape="0">
              <a:srgbClr val="13294B">
                <a:alpha val="18000"/>
              </a:srgbClr>
            </a:outerShdw>
          </a:effectLst>
        </p:spPr>
      </p:sp>
      <p:pic>
        <p:nvPicPr>
          <p:cNvPr id="38" name="Image 5" descr="/home/claude/dbs_ppt/icons/tech_lang.png"/>
          <p:cNvPicPr>
            <a:picLocks noChangeAspect="1"/>
          </p:cNvPicPr>
          <p:nvPr/>
        </p:nvPicPr>
        <p:blipFill>
          <a:blip r:embed="rId6"/>
          <a:stretch>
            <a:fillRect/>
          </a:stretch>
        </p:blipFill>
        <p:spPr>
          <a:xfrm>
            <a:off x="822960" y="4656582"/>
            <a:ext cx="219456" cy="219456"/>
          </a:xfrm>
          <a:prstGeom prst="rect">
            <a:avLst/>
          </a:prstGeom>
        </p:spPr>
      </p:pic>
      <p:sp>
        <p:nvSpPr>
          <p:cNvPr id="39" name="Text 31"/>
          <p:cNvSpPr/>
          <p:nvPr/>
        </p:nvSpPr>
        <p:spPr>
          <a:xfrm>
            <a:off x="1371600" y="4503420"/>
            <a:ext cx="1828800" cy="525780"/>
          </a:xfrm>
          <a:prstGeom prst="rect">
            <a:avLst/>
          </a:prstGeom>
          <a:noFill/>
        </p:spPr>
        <p:txBody>
          <a:bodyPr wrap="square"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Language</a:t>
            </a:r>
            <a:endParaRPr lang="en-US" sz="1150" dirty="0"/>
          </a:p>
        </p:txBody>
      </p:sp>
      <p:sp>
        <p:nvSpPr>
          <p:cNvPr id="40" name="Text 32"/>
          <p:cNvSpPr/>
          <p:nvPr/>
        </p:nvSpPr>
        <p:spPr>
          <a:xfrm>
            <a:off x="3200400" y="4503420"/>
            <a:ext cx="2743200" cy="525780"/>
          </a:xfrm>
          <a:prstGeom prst="rect">
            <a:avLst/>
          </a:prstGeom>
          <a:noFill/>
        </p:spPr>
        <p:txBody>
          <a:bodyPr wrap="square" rtlCol="0" anchor="ctr"/>
          <a:lstStyle/>
          <a:p>
            <a:pPr marL="0" indent="0">
              <a:buNone/>
            </a:pPr>
            <a:r>
              <a:rPr lang="en-US" sz="1150" b="1" dirty="0">
                <a:solidFill>
                  <a:srgbClr val="2F5D8A"/>
                </a:solidFill>
                <a:latin typeface="Calibri" pitchFamily="34" charset="0"/>
                <a:ea typeface="Calibri" pitchFamily="34" charset="-122"/>
                <a:cs typeface="Calibri" pitchFamily="34" charset="-120"/>
              </a:rPr>
              <a:t>Java, JavaScript</a:t>
            </a:r>
            <a:endParaRPr lang="en-US" sz="1150" dirty="0"/>
          </a:p>
        </p:txBody>
      </p:sp>
      <p:sp>
        <p:nvSpPr>
          <p:cNvPr id="41" name="Text 33"/>
          <p:cNvSpPr/>
          <p:nvPr/>
        </p:nvSpPr>
        <p:spPr>
          <a:xfrm>
            <a:off x="5943600" y="4503420"/>
            <a:ext cx="5532120" cy="525780"/>
          </a:xfrm>
          <a:prstGeom prst="rect">
            <a:avLst/>
          </a:prstGeom>
          <a:noFill/>
        </p:spPr>
        <p:txBody>
          <a:bodyPr wrap="square" rtlCol="0" anchor="ctr"/>
          <a:lstStyle/>
          <a:p>
            <a:pPr marL="0" indent="0">
              <a:buNone/>
            </a:pPr>
            <a:r>
              <a:rPr lang="en-US" sz="1050" dirty="0">
                <a:solidFill>
                  <a:srgbClr val="5B6B82"/>
                </a:solidFill>
                <a:latin typeface="Calibri" pitchFamily="34" charset="0"/>
                <a:ea typeface="Calibri" pitchFamily="34" charset="-122"/>
                <a:cs typeface="Calibri" pitchFamily="34" charset="-120"/>
              </a:rPr>
              <a:t>Industry-standard, widely supported</a:t>
            </a:r>
            <a:endParaRPr lang="en-US" sz="1050" dirty="0"/>
          </a:p>
        </p:txBody>
      </p:sp>
      <p:sp>
        <p:nvSpPr>
          <p:cNvPr id="42" name="Shape 34"/>
          <p:cNvSpPr/>
          <p:nvPr/>
        </p:nvSpPr>
        <p:spPr>
          <a:xfrm>
            <a:off x="740664" y="5100066"/>
            <a:ext cx="384048" cy="384048"/>
          </a:xfrm>
          <a:prstGeom prst="ellipse">
            <a:avLst/>
          </a:prstGeom>
          <a:solidFill>
            <a:srgbClr val="F4F7FB"/>
          </a:solidFill>
          <a:effectLst>
            <a:outerShdw blurRad="76200" dist="25400" dir="5400000" algn="bl" rotWithShape="0">
              <a:srgbClr val="13294B">
                <a:alpha val="18000"/>
              </a:srgbClr>
            </a:outerShdw>
          </a:effectLst>
        </p:spPr>
      </p:sp>
      <p:pic>
        <p:nvPicPr>
          <p:cNvPr id="43" name="Image 6" descr="/home/claude/dbs_ppt/icons/tech_ide.png"/>
          <p:cNvPicPr>
            <a:picLocks noChangeAspect="1"/>
          </p:cNvPicPr>
          <p:nvPr/>
        </p:nvPicPr>
        <p:blipFill>
          <a:blip r:embed="rId7"/>
          <a:stretch>
            <a:fillRect/>
          </a:stretch>
        </p:blipFill>
        <p:spPr>
          <a:xfrm>
            <a:off x="822960" y="5182362"/>
            <a:ext cx="219456" cy="219456"/>
          </a:xfrm>
          <a:prstGeom prst="rect">
            <a:avLst/>
          </a:prstGeom>
        </p:spPr>
      </p:pic>
      <p:sp>
        <p:nvSpPr>
          <p:cNvPr id="44" name="Text 35"/>
          <p:cNvSpPr/>
          <p:nvPr/>
        </p:nvSpPr>
        <p:spPr>
          <a:xfrm>
            <a:off x="1371600" y="5029200"/>
            <a:ext cx="1828800" cy="525780"/>
          </a:xfrm>
          <a:prstGeom prst="rect">
            <a:avLst/>
          </a:prstGeom>
          <a:noFill/>
        </p:spPr>
        <p:txBody>
          <a:bodyPr wrap="square"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IDE</a:t>
            </a:r>
            <a:endParaRPr lang="en-US" sz="1150" dirty="0"/>
          </a:p>
        </p:txBody>
      </p:sp>
      <p:sp>
        <p:nvSpPr>
          <p:cNvPr id="45" name="Text 36"/>
          <p:cNvSpPr/>
          <p:nvPr/>
        </p:nvSpPr>
        <p:spPr>
          <a:xfrm>
            <a:off x="3200400" y="5029200"/>
            <a:ext cx="2743200" cy="525780"/>
          </a:xfrm>
          <a:prstGeom prst="rect">
            <a:avLst/>
          </a:prstGeom>
          <a:noFill/>
        </p:spPr>
        <p:txBody>
          <a:bodyPr wrap="square" rtlCol="0" anchor="ctr"/>
          <a:lstStyle/>
          <a:p>
            <a:pPr marL="0" indent="0">
              <a:buNone/>
            </a:pPr>
            <a:r>
              <a:rPr lang="en-US" sz="1150" b="1" dirty="0">
                <a:solidFill>
                  <a:srgbClr val="2F5D8A"/>
                </a:solidFill>
                <a:latin typeface="Calibri" pitchFamily="34" charset="0"/>
                <a:ea typeface="Calibri" pitchFamily="34" charset="-122"/>
                <a:cs typeface="Calibri" pitchFamily="34" charset="-120"/>
              </a:rPr>
              <a:t>IntelliJ IDEA / VS Code</a:t>
            </a:r>
            <a:endParaRPr lang="en-US" sz="1150" dirty="0"/>
          </a:p>
        </p:txBody>
      </p:sp>
      <p:sp>
        <p:nvSpPr>
          <p:cNvPr id="46" name="Text 37"/>
          <p:cNvSpPr/>
          <p:nvPr/>
        </p:nvSpPr>
        <p:spPr>
          <a:xfrm>
            <a:off x="5943600" y="5029200"/>
            <a:ext cx="5532120" cy="525780"/>
          </a:xfrm>
          <a:prstGeom prst="rect">
            <a:avLst/>
          </a:prstGeom>
          <a:noFill/>
        </p:spPr>
        <p:txBody>
          <a:bodyPr wrap="square" rtlCol="0" anchor="ctr"/>
          <a:lstStyle/>
          <a:p>
            <a:pPr marL="0" indent="0">
              <a:buNone/>
            </a:pPr>
            <a:r>
              <a:rPr lang="en-US" sz="1050" dirty="0">
                <a:solidFill>
                  <a:srgbClr val="5B6B82"/>
                </a:solidFill>
                <a:latin typeface="Calibri" pitchFamily="34" charset="0"/>
                <a:ea typeface="Calibri" pitchFamily="34" charset="-122"/>
                <a:cs typeface="Calibri" pitchFamily="34" charset="-120"/>
              </a:rPr>
              <a:t>Productive development environment</a:t>
            </a:r>
            <a:endParaRPr lang="en-US" sz="1050" dirty="0"/>
          </a:p>
        </p:txBody>
      </p:sp>
      <p:sp>
        <p:nvSpPr>
          <p:cNvPr id="47" name="Shape 38"/>
          <p:cNvSpPr/>
          <p:nvPr/>
        </p:nvSpPr>
        <p:spPr>
          <a:xfrm>
            <a:off x="548640" y="5554980"/>
            <a:ext cx="11064240" cy="525780"/>
          </a:xfrm>
          <a:prstGeom prst="rect">
            <a:avLst/>
          </a:prstGeom>
          <a:solidFill>
            <a:srgbClr val="F4F7FB"/>
          </a:solidFill>
        </p:spPr>
      </p:sp>
      <p:sp>
        <p:nvSpPr>
          <p:cNvPr id="48" name="Shape 39"/>
          <p:cNvSpPr/>
          <p:nvPr/>
        </p:nvSpPr>
        <p:spPr>
          <a:xfrm>
            <a:off x="740664" y="5625846"/>
            <a:ext cx="384048" cy="384048"/>
          </a:xfrm>
          <a:prstGeom prst="ellipse">
            <a:avLst/>
          </a:prstGeom>
          <a:solidFill>
            <a:srgbClr val="FFFFFF"/>
          </a:solidFill>
          <a:effectLst>
            <a:outerShdw blurRad="76200" dist="25400" dir="5400000" algn="bl" rotWithShape="0">
              <a:srgbClr val="13294B">
                <a:alpha val="18000"/>
              </a:srgbClr>
            </a:outerShdw>
          </a:effectLst>
        </p:spPr>
      </p:sp>
      <p:pic>
        <p:nvPicPr>
          <p:cNvPr id="49" name="Image 7" descr="/home/claude/dbs_ppt/icons/tech_api.png"/>
          <p:cNvPicPr>
            <a:picLocks noChangeAspect="1"/>
          </p:cNvPicPr>
          <p:nvPr/>
        </p:nvPicPr>
        <p:blipFill>
          <a:blip r:embed="rId8"/>
          <a:stretch>
            <a:fillRect/>
          </a:stretch>
        </p:blipFill>
        <p:spPr>
          <a:xfrm>
            <a:off x="822960" y="5708142"/>
            <a:ext cx="219456" cy="219456"/>
          </a:xfrm>
          <a:prstGeom prst="rect">
            <a:avLst/>
          </a:prstGeom>
        </p:spPr>
      </p:pic>
      <p:sp>
        <p:nvSpPr>
          <p:cNvPr id="50" name="Text 40"/>
          <p:cNvSpPr/>
          <p:nvPr/>
        </p:nvSpPr>
        <p:spPr>
          <a:xfrm>
            <a:off x="1371600" y="5554980"/>
            <a:ext cx="1828800" cy="525780"/>
          </a:xfrm>
          <a:prstGeom prst="rect">
            <a:avLst/>
          </a:prstGeom>
          <a:noFill/>
        </p:spPr>
        <p:txBody>
          <a:bodyPr wrap="square"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API Testing</a:t>
            </a:r>
            <a:endParaRPr lang="en-US" sz="1150" dirty="0"/>
          </a:p>
        </p:txBody>
      </p:sp>
      <p:sp>
        <p:nvSpPr>
          <p:cNvPr id="51" name="Text 41"/>
          <p:cNvSpPr/>
          <p:nvPr/>
        </p:nvSpPr>
        <p:spPr>
          <a:xfrm>
            <a:off x="3200400" y="5554980"/>
            <a:ext cx="2743200" cy="525780"/>
          </a:xfrm>
          <a:prstGeom prst="rect">
            <a:avLst/>
          </a:prstGeom>
          <a:noFill/>
        </p:spPr>
        <p:txBody>
          <a:bodyPr wrap="square" rtlCol="0" anchor="ctr"/>
          <a:lstStyle/>
          <a:p>
            <a:pPr marL="0" indent="0">
              <a:buNone/>
            </a:pPr>
            <a:r>
              <a:rPr lang="en-US" sz="1150" b="1" dirty="0">
                <a:solidFill>
                  <a:srgbClr val="2F5D8A"/>
                </a:solidFill>
                <a:latin typeface="Calibri" pitchFamily="34" charset="0"/>
                <a:ea typeface="Calibri" pitchFamily="34" charset="-122"/>
                <a:cs typeface="Calibri" pitchFamily="34" charset="-120"/>
              </a:rPr>
              <a:t>Postman</a:t>
            </a:r>
            <a:endParaRPr lang="en-US" sz="1150" dirty="0"/>
          </a:p>
        </p:txBody>
      </p:sp>
      <p:sp>
        <p:nvSpPr>
          <p:cNvPr id="52" name="Text 42"/>
          <p:cNvSpPr/>
          <p:nvPr/>
        </p:nvSpPr>
        <p:spPr>
          <a:xfrm>
            <a:off x="5943600" y="5554980"/>
            <a:ext cx="5532120" cy="525780"/>
          </a:xfrm>
          <a:prstGeom prst="rect">
            <a:avLst/>
          </a:prstGeom>
          <a:noFill/>
        </p:spPr>
        <p:txBody>
          <a:bodyPr wrap="square" rtlCol="0" anchor="ctr"/>
          <a:lstStyle/>
          <a:p>
            <a:pPr marL="0" indent="0">
              <a:buNone/>
            </a:pPr>
            <a:r>
              <a:rPr lang="en-US" sz="1050" dirty="0">
                <a:solidFill>
                  <a:srgbClr val="5B6B82"/>
                </a:solidFill>
                <a:latin typeface="Calibri" pitchFamily="34" charset="0"/>
                <a:ea typeface="Calibri" pitchFamily="34" charset="-122"/>
                <a:cs typeface="Calibri" pitchFamily="34" charset="-120"/>
              </a:rPr>
              <a:t>Reliable REST endpoint validation</a:t>
            </a:r>
            <a:endParaRPr lang="en-US" sz="1050" dirty="0"/>
          </a:p>
        </p:txBody>
      </p:sp>
      <p:sp>
        <p:nvSpPr>
          <p:cNvPr id="53" name="Shape 43"/>
          <p:cNvSpPr/>
          <p:nvPr/>
        </p:nvSpPr>
        <p:spPr>
          <a:xfrm>
            <a:off x="548640" y="1417320"/>
            <a:ext cx="0" cy="4663440"/>
          </a:xfrm>
          <a:prstGeom prst="line">
            <a:avLst/>
          </a:prstGeom>
          <a:noFill/>
          <a:ln w="12700">
            <a:solidFill>
              <a:srgbClr val="D7E0EC"/>
            </a:solidFill>
            <a:prstDash val="solid"/>
          </a:ln>
        </p:spPr>
      </p:sp>
      <p:sp>
        <p:nvSpPr>
          <p:cNvPr id="54" name="Shape 44"/>
          <p:cNvSpPr/>
          <p:nvPr/>
        </p:nvSpPr>
        <p:spPr>
          <a:xfrm>
            <a:off x="11612880" y="1417320"/>
            <a:ext cx="0" cy="4663440"/>
          </a:xfrm>
          <a:prstGeom prst="line">
            <a:avLst/>
          </a:prstGeom>
          <a:noFill/>
          <a:ln w="12700">
            <a:solidFill>
              <a:srgbClr val="D7E0EC"/>
            </a:solidFill>
            <a:prstDash val="solid"/>
          </a:ln>
        </p:spPr>
      </p:sp>
      <p:sp>
        <p:nvSpPr>
          <p:cNvPr id="55" name="Text 45"/>
          <p:cNvSpPr/>
          <p:nvPr/>
        </p:nvSpPr>
        <p:spPr>
          <a:xfrm>
            <a:off x="457200" y="6519672"/>
            <a:ext cx="5486400" cy="274320"/>
          </a:xfrm>
          <a:prstGeom prst="rect">
            <a:avLst/>
          </a:prstGeom>
          <a:noFill/>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25CS1302E – DBS-DBD  |  Project Review-1</a:t>
            </a:r>
            <a:endParaRPr lang="en-US" sz="900" dirty="0"/>
          </a:p>
        </p:txBody>
      </p:sp>
      <p:sp>
        <p:nvSpPr>
          <p:cNvPr id="56" name="Text 46"/>
          <p:cNvSpPr/>
          <p:nvPr/>
        </p:nvSpPr>
        <p:spPr>
          <a:xfrm>
            <a:off x="11277295" y="6519672"/>
            <a:ext cx="457200" cy="274320"/>
          </a:xfrm>
          <a:prstGeom prst="rect">
            <a:avLst/>
          </a:prstGeom>
          <a:noFill/>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5</a:t>
            </a:r>
            <a:endParaRPr lang="en-US" sz="900" dirty="0"/>
          </a:p>
        </p:txBody>
      </p:sp>
      <p:pic>
        <p:nvPicPr>
          <p:cNvPr id="360564775" name="Picture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a:xfrm>
            <a:off x="9959340" y="137160"/>
            <a:ext cx="1903730" cy="768350"/>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p:spPr>
        <p:txBody>
          <a:bodyPr wrap="square" rtlCol="0" anchor="ctr"/>
          <a:lstStyle/>
          <a:p>
            <a:pPr marL="0" indent="0">
              <a:buNone/>
            </a:pPr>
            <a:r>
              <a:rPr lang="en-US" b="1" kern="0" spc="200" dirty="0">
                <a:solidFill>
                  <a:srgbClr val="D9A441"/>
                </a:solidFill>
                <a:latin typeface="Calibri" pitchFamily="34" charset="0"/>
                <a:ea typeface="Calibri" pitchFamily="34" charset="-122"/>
                <a:cs typeface="Calibri" pitchFamily="34" charset="-120"/>
              </a:rPr>
              <a:t>METHODOLOGY</a:t>
            </a:r>
            <a:endParaRPr lang="en-US" dirty="0"/>
          </a:p>
        </p:txBody>
      </p:sp>
      <p:sp>
        <p:nvSpPr>
          <p:cNvPr id="3" name="Text 1"/>
          <p:cNvSpPr/>
          <p:nvPr/>
        </p:nvSpPr>
        <p:spPr>
          <a:xfrm>
            <a:off x="548640" y="658368"/>
            <a:ext cx="10515600" cy="640080"/>
          </a:xfrm>
          <a:prstGeom prst="rect">
            <a:avLst/>
          </a:prstGeom>
          <a:noFill/>
        </p:spPr>
        <p:txBody>
          <a:bodyPr wrap="square" rtlCol="0" anchor="ctr"/>
          <a:lstStyle/>
          <a:p>
            <a:pPr marL="0" indent="0">
              <a:buNone/>
            </a:pPr>
            <a:r>
              <a:rPr lang="en-US" sz="3000" b="1" dirty="0">
                <a:solidFill>
                  <a:srgbClr val="1B2A4A"/>
                </a:solidFill>
                <a:latin typeface="Poppins" pitchFamily="34" charset="0"/>
                <a:ea typeface="Poppins" pitchFamily="34" charset="-122"/>
                <a:cs typeface="Poppins" pitchFamily="34" charset="-120"/>
              </a:rPr>
              <a:t>Proposed Solution — Workflow</a:t>
            </a:r>
            <a:endParaRPr lang="en-US" sz="3000" dirty="0"/>
          </a:p>
        </p:txBody>
      </p:sp>
      <p:sp>
        <p:nvSpPr>
          <p:cNvPr id="4" name="Shape 2"/>
          <p:cNvSpPr/>
          <p:nvPr/>
        </p:nvSpPr>
        <p:spPr>
          <a:xfrm>
            <a:off x="856336" y="1508760"/>
            <a:ext cx="1920240" cy="1234440"/>
          </a:xfrm>
          <a:prstGeom prst="roundRect">
            <a:avLst>
              <a:gd name="adj" fmla="val 6667"/>
            </a:avLst>
          </a:prstGeom>
          <a:solidFill>
            <a:srgbClr val="2F5D8A"/>
          </a:solidFill>
          <a:effectLst>
            <a:outerShdw blurRad="50800" dist="25400" dir="5400000" algn="bl" rotWithShape="0">
              <a:srgbClr val="13294B">
                <a:alpha val="12000"/>
              </a:srgbClr>
            </a:outerShdw>
          </a:effectLst>
        </p:spPr>
      </p:sp>
      <p:sp>
        <p:nvSpPr>
          <p:cNvPr id="5" name="Shape 3"/>
          <p:cNvSpPr/>
          <p:nvPr/>
        </p:nvSpPr>
        <p:spPr>
          <a:xfrm>
            <a:off x="1030072" y="1842516"/>
            <a:ext cx="566928" cy="566928"/>
          </a:xfrm>
          <a:prstGeom prst="ellipse">
            <a:avLst/>
          </a:prstGeom>
          <a:solidFill>
            <a:srgbClr val="FFFFFF"/>
          </a:solidFill>
          <a:effectLst>
            <a:outerShdw blurRad="76200" dist="25400" dir="5400000" algn="bl" rotWithShape="0">
              <a:srgbClr val="13294B">
                <a:alpha val="18000"/>
              </a:srgbClr>
            </a:outerShdw>
          </a:effectLst>
        </p:spPr>
      </p:sp>
      <p:pic>
        <p:nvPicPr>
          <p:cNvPr id="6" name="Image 0" descr="/home/claude/dbs_ppt/icons/wf_login.png"/>
          <p:cNvPicPr>
            <a:picLocks noChangeAspect="1"/>
          </p:cNvPicPr>
          <p:nvPr/>
        </p:nvPicPr>
        <p:blipFill>
          <a:blip r:embed="rId1"/>
          <a:stretch>
            <a:fillRect/>
          </a:stretch>
        </p:blipFill>
        <p:spPr>
          <a:xfrm>
            <a:off x="1167232" y="1979676"/>
            <a:ext cx="292608" cy="292608"/>
          </a:xfrm>
          <a:prstGeom prst="rect">
            <a:avLst/>
          </a:prstGeom>
        </p:spPr>
      </p:pic>
      <p:sp>
        <p:nvSpPr>
          <p:cNvPr id="7" name="Text 4"/>
          <p:cNvSpPr/>
          <p:nvPr/>
        </p:nvSpPr>
        <p:spPr>
          <a:xfrm>
            <a:off x="1679296" y="1508760"/>
            <a:ext cx="1005840" cy="1234440"/>
          </a:xfrm>
          <a:prstGeom prst="rect">
            <a:avLst/>
          </a:prstGeom>
          <a:noFill/>
        </p:spPr>
        <p:txBody>
          <a:bodyPr wrap="square" rtlCol="0" anchor="ctr"/>
          <a:lstStyle/>
          <a:p>
            <a:pPr marL="0" indent="0">
              <a:lnSpc>
                <a:spcPct val="100000"/>
              </a:lnSpc>
              <a:buNone/>
            </a:pPr>
            <a:r>
              <a:rPr lang="en-US" sz="1150" b="1" dirty="0">
                <a:solidFill>
                  <a:srgbClr val="FFFFFF"/>
                </a:solidFill>
                <a:latin typeface="Calibri" pitchFamily="34" charset="0"/>
                <a:ea typeface="Calibri" pitchFamily="34" charset="-122"/>
                <a:cs typeface="Calibri" pitchFamily="34" charset="-120"/>
              </a:rPr>
              <a:t>User Login</a:t>
            </a:r>
            <a:endParaRPr lang="en-US" sz="1150" dirty="0"/>
          </a:p>
        </p:txBody>
      </p:sp>
      <p:pic>
        <p:nvPicPr>
          <p:cNvPr id="8" name="Image 1" descr="/home/claude/dbs_ppt/icons/prob_arrow.png"/>
          <p:cNvPicPr>
            <a:picLocks noChangeAspect="1"/>
          </p:cNvPicPr>
          <p:nvPr/>
        </p:nvPicPr>
        <p:blipFill>
          <a:blip r:embed="rId2"/>
          <a:stretch>
            <a:fillRect/>
          </a:stretch>
        </p:blipFill>
        <p:spPr>
          <a:xfrm>
            <a:off x="2794864" y="2016252"/>
            <a:ext cx="201168" cy="201168"/>
          </a:xfrm>
          <a:prstGeom prst="rect">
            <a:avLst/>
          </a:prstGeom>
        </p:spPr>
      </p:pic>
      <p:sp>
        <p:nvSpPr>
          <p:cNvPr id="9" name="Shape 5"/>
          <p:cNvSpPr/>
          <p:nvPr/>
        </p:nvSpPr>
        <p:spPr>
          <a:xfrm>
            <a:off x="2996032" y="1508760"/>
            <a:ext cx="1920240" cy="1234440"/>
          </a:xfrm>
          <a:prstGeom prst="roundRect">
            <a:avLst>
              <a:gd name="adj" fmla="val 6667"/>
            </a:avLst>
          </a:prstGeom>
          <a:solidFill>
            <a:srgbClr val="2F5D8A"/>
          </a:solidFill>
          <a:effectLst>
            <a:outerShdw blurRad="50800" dist="25400" dir="5400000" algn="bl" rotWithShape="0">
              <a:srgbClr val="13294B">
                <a:alpha val="12000"/>
              </a:srgbClr>
            </a:outerShdw>
          </a:effectLst>
        </p:spPr>
      </p:sp>
      <p:sp>
        <p:nvSpPr>
          <p:cNvPr id="10" name="Shape 6"/>
          <p:cNvSpPr/>
          <p:nvPr/>
        </p:nvSpPr>
        <p:spPr>
          <a:xfrm>
            <a:off x="3169768" y="1842516"/>
            <a:ext cx="566928" cy="566928"/>
          </a:xfrm>
          <a:prstGeom prst="ellipse">
            <a:avLst/>
          </a:prstGeom>
          <a:solidFill>
            <a:srgbClr val="FFFFFF"/>
          </a:solidFill>
          <a:effectLst>
            <a:outerShdw blurRad="76200" dist="25400" dir="5400000" algn="bl" rotWithShape="0">
              <a:srgbClr val="13294B">
                <a:alpha val="18000"/>
              </a:srgbClr>
            </a:outerShdw>
          </a:effectLst>
        </p:spPr>
      </p:sp>
      <p:pic>
        <p:nvPicPr>
          <p:cNvPr id="11" name="Image 2" descr="/home/claude/dbs_ppt/icons/wf_auth.png"/>
          <p:cNvPicPr>
            <a:picLocks noChangeAspect="1"/>
          </p:cNvPicPr>
          <p:nvPr/>
        </p:nvPicPr>
        <p:blipFill>
          <a:blip r:embed="rId3"/>
          <a:stretch>
            <a:fillRect/>
          </a:stretch>
        </p:blipFill>
        <p:spPr>
          <a:xfrm>
            <a:off x="3306928" y="1979676"/>
            <a:ext cx="292608" cy="292608"/>
          </a:xfrm>
          <a:prstGeom prst="rect">
            <a:avLst/>
          </a:prstGeom>
        </p:spPr>
      </p:pic>
      <p:sp>
        <p:nvSpPr>
          <p:cNvPr id="12" name="Text 7"/>
          <p:cNvSpPr/>
          <p:nvPr/>
        </p:nvSpPr>
        <p:spPr>
          <a:xfrm>
            <a:off x="3818992" y="1508760"/>
            <a:ext cx="1005840" cy="1234440"/>
          </a:xfrm>
          <a:prstGeom prst="rect">
            <a:avLst/>
          </a:prstGeom>
          <a:noFill/>
        </p:spPr>
        <p:txBody>
          <a:bodyPr wrap="square" rtlCol="0" anchor="ctr"/>
          <a:lstStyle/>
          <a:p>
            <a:pPr marL="0" indent="0">
              <a:lnSpc>
                <a:spcPct val="100000"/>
              </a:lnSpc>
              <a:buNone/>
            </a:pPr>
            <a:r>
              <a:rPr lang="en-US" sz="1150" b="1" dirty="0">
                <a:solidFill>
                  <a:srgbClr val="FFFFFF"/>
                </a:solidFill>
                <a:latin typeface="Calibri" pitchFamily="34" charset="0"/>
                <a:ea typeface="Calibri" pitchFamily="34" charset="-122"/>
                <a:cs typeface="Calibri" pitchFamily="34" charset="-120"/>
              </a:rPr>
              <a:t>Authentication</a:t>
            </a:r>
            <a:endParaRPr lang="en-US" sz="1150" dirty="0"/>
          </a:p>
        </p:txBody>
      </p:sp>
      <p:pic>
        <p:nvPicPr>
          <p:cNvPr id="13" name="Image 3" descr="/home/claude/dbs_ppt/icons/prob_arrow.png"/>
          <p:cNvPicPr>
            <a:picLocks noChangeAspect="1"/>
          </p:cNvPicPr>
          <p:nvPr/>
        </p:nvPicPr>
        <p:blipFill>
          <a:blip r:embed="rId2"/>
          <a:stretch>
            <a:fillRect/>
          </a:stretch>
        </p:blipFill>
        <p:spPr>
          <a:xfrm>
            <a:off x="4934560" y="2016252"/>
            <a:ext cx="201168" cy="201168"/>
          </a:xfrm>
          <a:prstGeom prst="rect">
            <a:avLst/>
          </a:prstGeom>
        </p:spPr>
      </p:pic>
      <p:sp>
        <p:nvSpPr>
          <p:cNvPr id="14" name="Shape 8"/>
          <p:cNvSpPr/>
          <p:nvPr/>
        </p:nvSpPr>
        <p:spPr>
          <a:xfrm>
            <a:off x="5135728" y="1508760"/>
            <a:ext cx="1920240" cy="1234440"/>
          </a:xfrm>
          <a:prstGeom prst="roundRect">
            <a:avLst>
              <a:gd name="adj" fmla="val 6667"/>
            </a:avLst>
          </a:prstGeom>
          <a:solidFill>
            <a:srgbClr val="2F5D8A"/>
          </a:solidFill>
          <a:effectLst>
            <a:outerShdw blurRad="50800" dist="25400" dir="5400000" algn="bl" rotWithShape="0">
              <a:srgbClr val="13294B">
                <a:alpha val="12000"/>
              </a:srgbClr>
            </a:outerShdw>
          </a:effectLst>
        </p:spPr>
      </p:sp>
      <p:sp>
        <p:nvSpPr>
          <p:cNvPr id="15" name="Shape 9"/>
          <p:cNvSpPr/>
          <p:nvPr/>
        </p:nvSpPr>
        <p:spPr>
          <a:xfrm>
            <a:off x="5309464" y="1842516"/>
            <a:ext cx="566928" cy="566928"/>
          </a:xfrm>
          <a:prstGeom prst="ellipse">
            <a:avLst/>
          </a:prstGeom>
          <a:solidFill>
            <a:srgbClr val="FFFFFF"/>
          </a:solidFill>
          <a:effectLst>
            <a:outerShdw blurRad="76200" dist="25400" dir="5400000" algn="bl" rotWithShape="0">
              <a:srgbClr val="13294B">
                <a:alpha val="18000"/>
              </a:srgbClr>
            </a:outerShdw>
          </a:effectLst>
        </p:spPr>
      </p:sp>
      <p:pic>
        <p:nvPicPr>
          <p:cNvPr id="16" name="Image 4" descr="/home/claude/dbs_ppt/icons/wf_dashboard.png"/>
          <p:cNvPicPr>
            <a:picLocks noChangeAspect="1"/>
          </p:cNvPicPr>
          <p:nvPr/>
        </p:nvPicPr>
        <p:blipFill>
          <a:blip r:embed="rId4"/>
          <a:stretch>
            <a:fillRect/>
          </a:stretch>
        </p:blipFill>
        <p:spPr>
          <a:xfrm>
            <a:off x="5446624" y="1979676"/>
            <a:ext cx="292608" cy="292608"/>
          </a:xfrm>
          <a:prstGeom prst="rect">
            <a:avLst/>
          </a:prstGeom>
        </p:spPr>
      </p:pic>
      <p:sp>
        <p:nvSpPr>
          <p:cNvPr id="17" name="Text 10"/>
          <p:cNvSpPr/>
          <p:nvPr/>
        </p:nvSpPr>
        <p:spPr>
          <a:xfrm>
            <a:off x="5958688" y="1508760"/>
            <a:ext cx="1005840" cy="1234440"/>
          </a:xfrm>
          <a:prstGeom prst="rect">
            <a:avLst/>
          </a:prstGeom>
          <a:noFill/>
        </p:spPr>
        <p:txBody>
          <a:bodyPr wrap="square" rtlCol="0" anchor="ctr"/>
          <a:lstStyle/>
          <a:p>
            <a:pPr marL="0" indent="0">
              <a:lnSpc>
                <a:spcPct val="100000"/>
              </a:lnSpc>
              <a:buNone/>
            </a:pPr>
            <a:r>
              <a:rPr lang="en-US" sz="1150" b="1" dirty="0">
                <a:solidFill>
                  <a:srgbClr val="FFFFFF"/>
                </a:solidFill>
                <a:latin typeface="Calibri" pitchFamily="34" charset="0"/>
                <a:ea typeface="Calibri" pitchFamily="34" charset="-122"/>
                <a:cs typeface="Calibri" pitchFamily="34" charset="-120"/>
              </a:rPr>
              <a:t>Dashboard</a:t>
            </a:r>
            <a:endParaRPr lang="en-US" sz="1150" dirty="0"/>
          </a:p>
        </p:txBody>
      </p:sp>
      <p:pic>
        <p:nvPicPr>
          <p:cNvPr id="18" name="Image 5" descr="/home/claude/dbs_ppt/icons/prob_arrow.png"/>
          <p:cNvPicPr>
            <a:picLocks noChangeAspect="1"/>
          </p:cNvPicPr>
          <p:nvPr/>
        </p:nvPicPr>
        <p:blipFill>
          <a:blip r:embed="rId2"/>
          <a:stretch>
            <a:fillRect/>
          </a:stretch>
        </p:blipFill>
        <p:spPr>
          <a:xfrm>
            <a:off x="7074256" y="2016252"/>
            <a:ext cx="201168" cy="201168"/>
          </a:xfrm>
          <a:prstGeom prst="rect">
            <a:avLst/>
          </a:prstGeom>
        </p:spPr>
      </p:pic>
      <p:sp>
        <p:nvSpPr>
          <p:cNvPr id="19" name="Shape 11"/>
          <p:cNvSpPr/>
          <p:nvPr/>
        </p:nvSpPr>
        <p:spPr>
          <a:xfrm>
            <a:off x="7275424" y="1508760"/>
            <a:ext cx="1920240" cy="1234440"/>
          </a:xfrm>
          <a:prstGeom prst="roundRect">
            <a:avLst>
              <a:gd name="adj" fmla="val 6667"/>
            </a:avLst>
          </a:prstGeom>
          <a:solidFill>
            <a:srgbClr val="2F5D8A"/>
          </a:solidFill>
          <a:effectLst>
            <a:outerShdw blurRad="50800" dist="25400" dir="5400000" algn="bl" rotWithShape="0">
              <a:srgbClr val="13294B">
                <a:alpha val="12000"/>
              </a:srgbClr>
            </a:outerShdw>
          </a:effectLst>
        </p:spPr>
      </p:sp>
      <p:sp>
        <p:nvSpPr>
          <p:cNvPr id="20" name="Shape 12"/>
          <p:cNvSpPr/>
          <p:nvPr/>
        </p:nvSpPr>
        <p:spPr>
          <a:xfrm>
            <a:off x="7449160" y="1842516"/>
            <a:ext cx="566928" cy="566928"/>
          </a:xfrm>
          <a:prstGeom prst="ellipse">
            <a:avLst/>
          </a:prstGeom>
          <a:solidFill>
            <a:srgbClr val="FFFFFF"/>
          </a:solidFill>
          <a:effectLst>
            <a:outerShdw blurRad="76200" dist="25400" dir="5400000" algn="bl" rotWithShape="0">
              <a:srgbClr val="13294B">
                <a:alpha val="18000"/>
              </a:srgbClr>
            </a:outerShdw>
          </a:effectLst>
        </p:spPr>
      </p:sp>
      <p:pic>
        <p:nvPicPr>
          <p:cNvPr id="21" name="Image 6" descr="/home/claude/dbs_ppt/icons/wf_folder.png"/>
          <p:cNvPicPr>
            <a:picLocks noChangeAspect="1"/>
          </p:cNvPicPr>
          <p:nvPr/>
        </p:nvPicPr>
        <p:blipFill>
          <a:blip r:embed="rId5"/>
          <a:stretch>
            <a:fillRect/>
          </a:stretch>
        </p:blipFill>
        <p:spPr>
          <a:xfrm>
            <a:off x="7586320" y="1979676"/>
            <a:ext cx="292608" cy="292608"/>
          </a:xfrm>
          <a:prstGeom prst="rect">
            <a:avLst/>
          </a:prstGeom>
        </p:spPr>
      </p:pic>
      <p:sp>
        <p:nvSpPr>
          <p:cNvPr id="22" name="Text 13"/>
          <p:cNvSpPr/>
          <p:nvPr/>
        </p:nvSpPr>
        <p:spPr>
          <a:xfrm>
            <a:off x="8098384" y="1508760"/>
            <a:ext cx="1005840" cy="1234440"/>
          </a:xfrm>
          <a:prstGeom prst="rect">
            <a:avLst/>
          </a:prstGeom>
          <a:noFill/>
        </p:spPr>
        <p:txBody>
          <a:bodyPr wrap="square" rtlCol="0" anchor="ctr"/>
          <a:lstStyle/>
          <a:p>
            <a:pPr marL="0" indent="0">
              <a:lnSpc>
                <a:spcPct val="100000"/>
              </a:lnSpc>
              <a:buNone/>
            </a:pPr>
            <a:r>
              <a:rPr lang="en-US" sz="1150" b="1" dirty="0">
                <a:solidFill>
                  <a:srgbClr val="FFFFFF"/>
                </a:solidFill>
                <a:latin typeface="Calibri" pitchFamily="34" charset="0"/>
                <a:ea typeface="Calibri" pitchFamily="34" charset="-122"/>
                <a:cs typeface="Calibri" pitchFamily="34" charset="-120"/>
              </a:rPr>
              <a:t>Create Folder</a:t>
            </a:r>
            <a:endParaRPr lang="en-US" sz="1150" dirty="0"/>
          </a:p>
        </p:txBody>
      </p:sp>
      <p:pic>
        <p:nvPicPr>
          <p:cNvPr id="23" name="Image 7" descr="/home/claude/dbs_ppt/icons/prob_arrow.png"/>
          <p:cNvPicPr>
            <a:picLocks noChangeAspect="1"/>
          </p:cNvPicPr>
          <p:nvPr/>
        </p:nvPicPr>
        <p:blipFill>
          <a:blip r:embed="rId2"/>
          <a:stretch>
            <a:fillRect/>
          </a:stretch>
        </p:blipFill>
        <p:spPr>
          <a:xfrm>
            <a:off x="9213952" y="2016252"/>
            <a:ext cx="201168" cy="201168"/>
          </a:xfrm>
          <a:prstGeom prst="rect">
            <a:avLst/>
          </a:prstGeom>
        </p:spPr>
      </p:pic>
      <p:sp>
        <p:nvSpPr>
          <p:cNvPr id="24" name="Shape 14"/>
          <p:cNvSpPr/>
          <p:nvPr/>
        </p:nvSpPr>
        <p:spPr>
          <a:xfrm>
            <a:off x="9415120" y="1508760"/>
            <a:ext cx="1920240" cy="1234440"/>
          </a:xfrm>
          <a:prstGeom prst="roundRect">
            <a:avLst>
              <a:gd name="adj" fmla="val 6667"/>
            </a:avLst>
          </a:prstGeom>
          <a:solidFill>
            <a:srgbClr val="2F5D8A"/>
          </a:solidFill>
          <a:effectLst>
            <a:outerShdw blurRad="50800" dist="25400" dir="5400000" algn="bl" rotWithShape="0">
              <a:srgbClr val="13294B">
                <a:alpha val="12000"/>
              </a:srgbClr>
            </a:outerShdw>
          </a:effectLst>
        </p:spPr>
      </p:sp>
      <p:sp>
        <p:nvSpPr>
          <p:cNvPr id="25" name="Shape 15"/>
          <p:cNvSpPr/>
          <p:nvPr/>
        </p:nvSpPr>
        <p:spPr>
          <a:xfrm>
            <a:off x="9588856" y="1842516"/>
            <a:ext cx="566928" cy="566928"/>
          </a:xfrm>
          <a:prstGeom prst="ellipse">
            <a:avLst/>
          </a:prstGeom>
          <a:solidFill>
            <a:srgbClr val="FFFFFF"/>
          </a:solidFill>
          <a:effectLst>
            <a:outerShdw blurRad="76200" dist="25400" dir="5400000" algn="bl" rotWithShape="0">
              <a:srgbClr val="13294B">
                <a:alpha val="18000"/>
              </a:srgbClr>
            </a:outerShdw>
          </a:effectLst>
        </p:spPr>
      </p:sp>
      <p:pic>
        <p:nvPicPr>
          <p:cNvPr id="26" name="Image 8" descr="/home/claude/dbs_ppt/icons/wf_upload.png"/>
          <p:cNvPicPr>
            <a:picLocks noChangeAspect="1"/>
          </p:cNvPicPr>
          <p:nvPr/>
        </p:nvPicPr>
        <p:blipFill>
          <a:blip r:embed="rId6"/>
          <a:stretch>
            <a:fillRect/>
          </a:stretch>
        </p:blipFill>
        <p:spPr>
          <a:xfrm>
            <a:off x="9726016" y="1979676"/>
            <a:ext cx="292608" cy="292608"/>
          </a:xfrm>
          <a:prstGeom prst="rect">
            <a:avLst/>
          </a:prstGeom>
        </p:spPr>
      </p:pic>
      <p:sp>
        <p:nvSpPr>
          <p:cNvPr id="27" name="Text 16"/>
          <p:cNvSpPr/>
          <p:nvPr/>
        </p:nvSpPr>
        <p:spPr>
          <a:xfrm>
            <a:off x="10238080" y="1508760"/>
            <a:ext cx="1005840" cy="1234440"/>
          </a:xfrm>
          <a:prstGeom prst="rect">
            <a:avLst/>
          </a:prstGeom>
          <a:noFill/>
        </p:spPr>
        <p:txBody>
          <a:bodyPr wrap="square" rtlCol="0" anchor="ctr"/>
          <a:lstStyle/>
          <a:p>
            <a:pPr marL="0" indent="0">
              <a:lnSpc>
                <a:spcPct val="100000"/>
              </a:lnSpc>
              <a:buNone/>
            </a:pPr>
            <a:r>
              <a:rPr lang="en-US" sz="1150" b="1" dirty="0">
                <a:solidFill>
                  <a:srgbClr val="FFFFFF"/>
                </a:solidFill>
                <a:latin typeface="Calibri" pitchFamily="34" charset="0"/>
                <a:ea typeface="Calibri" pitchFamily="34" charset="-122"/>
                <a:cs typeface="Calibri" pitchFamily="34" charset="-120"/>
              </a:rPr>
              <a:t>Upload Docs</a:t>
            </a:r>
            <a:endParaRPr lang="en-US" sz="1150" dirty="0"/>
          </a:p>
        </p:txBody>
      </p:sp>
      <p:sp>
        <p:nvSpPr>
          <p:cNvPr id="28" name="Shape 17"/>
          <p:cNvSpPr/>
          <p:nvPr/>
        </p:nvSpPr>
        <p:spPr>
          <a:xfrm>
            <a:off x="9415120" y="3337560"/>
            <a:ext cx="1920240" cy="1234440"/>
          </a:xfrm>
          <a:prstGeom prst="roundRect">
            <a:avLst>
              <a:gd name="adj" fmla="val 6667"/>
            </a:avLst>
          </a:prstGeom>
          <a:solidFill>
            <a:srgbClr val="13294B"/>
          </a:solidFill>
          <a:effectLst>
            <a:outerShdw blurRad="50800" dist="25400" dir="5400000" algn="bl" rotWithShape="0">
              <a:srgbClr val="13294B">
                <a:alpha val="12000"/>
              </a:srgbClr>
            </a:outerShdw>
          </a:effectLst>
        </p:spPr>
      </p:sp>
      <p:sp>
        <p:nvSpPr>
          <p:cNvPr id="29" name="Shape 18"/>
          <p:cNvSpPr/>
          <p:nvPr/>
        </p:nvSpPr>
        <p:spPr>
          <a:xfrm>
            <a:off x="9588856" y="3671316"/>
            <a:ext cx="566928" cy="566928"/>
          </a:xfrm>
          <a:prstGeom prst="ellipse">
            <a:avLst/>
          </a:prstGeom>
          <a:solidFill>
            <a:srgbClr val="FFFFFF"/>
          </a:solidFill>
          <a:effectLst>
            <a:outerShdw blurRad="76200" dist="25400" dir="5400000" algn="bl" rotWithShape="0">
              <a:srgbClr val="13294B">
                <a:alpha val="18000"/>
              </a:srgbClr>
            </a:outerShdw>
          </a:effectLst>
        </p:spPr>
      </p:sp>
      <p:pic>
        <p:nvPicPr>
          <p:cNvPr id="30" name="Image 9" descr="/home/claude/dbs_ppt/icons/wf_meta.png"/>
          <p:cNvPicPr>
            <a:picLocks noChangeAspect="1"/>
          </p:cNvPicPr>
          <p:nvPr/>
        </p:nvPicPr>
        <p:blipFill>
          <a:blip r:embed="rId7"/>
          <a:stretch>
            <a:fillRect/>
          </a:stretch>
        </p:blipFill>
        <p:spPr>
          <a:xfrm>
            <a:off x="9726016" y="3808476"/>
            <a:ext cx="292608" cy="292608"/>
          </a:xfrm>
          <a:prstGeom prst="rect">
            <a:avLst/>
          </a:prstGeom>
        </p:spPr>
      </p:pic>
      <p:sp>
        <p:nvSpPr>
          <p:cNvPr id="31" name="Text 19"/>
          <p:cNvSpPr/>
          <p:nvPr/>
        </p:nvSpPr>
        <p:spPr>
          <a:xfrm>
            <a:off x="10238080" y="3337560"/>
            <a:ext cx="1005840" cy="1234440"/>
          </a:xfrm>
          <a:prstGeom prst="rect">
            <a:avLst/>
          </a:prstGeom>
          <a:noFill/>
        </p:spPr>
        <p:txBody>
          <a:bodyPr wrap="square" rtlCol="0" anchor="ctr"/>
          <a:lstStyle/>
          <a:p>
            <a:pPr marL="0" indent="0">
              <a:lnSpc>
                <a:spcPct val="100000"/>
              </a:lnSpc>
              <a:buNone/>
            </a:pPr>
            <a:r>
              <a:rPr lang="en-US" sz="1150" b="1" dirty="0">
                <a:solidFill>
                  <a:srgbClr val="FFFFFF"/>
                </a:solidFill>
                <a:latin typeface="Calibri" pitchFamily="34" charset="0"/>
                <a:ea typeface="Calibri" pitchFamily="34" charset="-122"/>
                <a:cs typeface="Calibri" pitchFamily="34" charset="-120"/>
              </a:rPr>
              <a:t>Store Metadata</a:t>
            </a:r>
            <a:endParaRPr lang="en-US" sz="1150" dirty="0"/>
          </a:p>
        </p:txBody>
      </p:sp>
      <p:sp>
        <p:nvSpPr>
          <p:cNvPr id="32" name="Shape 20"/>
          <p:cNvSpPr/>
          <p:nvPr/>
        </p:nvSpPr>
        <p:spPr>
          <a:xfrm rot="16200000">
            <a:off x="9213952" y="3854196"/>
            <a:ext cx="182880" cy="201168"/>
          </a:xfrm>
          <a:prstGeom prst="triangle">
            <a:avLst/>
          </a:prstGeom>
          <a:solidFill>
            <a:srgbClr val="D9A441"/>
          </a:solidFill>
        </p:spPr>
      </p:sp>
      <p:sp>
        <p:nvSpPr>
          <p:cNvPr id="33" name="Shape 21"/>
          <p:cNvSpPr/>
          <p:nvPr/>
        </p:nvSpPr>
        <p:spPr>
          <a:xfrm>
            <a:off x="7275424" y="3337560"/>
            <a:ext cx="1920240" cy="1234440"/>
          </a:xfrm>
          <a:prstGeom prst="roundRect">
            <a:avLst>
              <a:gd name="adj" fmla="val 6667"/>
            </a:avLst>
          </a:prstGeom>
          <a:solidFill>
            <a:srgbClr val="13294B"/>
          </a:solidFill>
          <a:effectLst>
            <a:outerShdw blurRad="50800" dist="25400" dir="5400000" algn="bl" rotWithShape="0">
              <a:srgbClr val="13294B">
                <a:alpha val="12000"/>
              </a:srgbClr>
            </a:outerShdw>
          </a:effectLst>
        </p:spPr>
      </p:sp>
      <p:sp>
        <p:nvSpPr>
          <p:cNvPr id="34" name="Shape 22"/>
          <p:cNvSpPr/>
          <p:nvPr/>
        </p:nvSpPr>
        <p:spPr>
          <a:xfrm>
            <a:off x="7449160" y="3671316"/>
            <a:ext cx="566928" cy="566928"/>
          </a:xfrm>
          <a:prstGeom prst="ellipse">
            <a:avLst/>
          </a:prstGeom>
          <a:solidFill>
            <a:srgbClr val="FFFFFF"/>
          </a:solidFill>
          <a:effectLst>
            <a:outerShdw blurRad="76200" dist="25400" dir="5400000" algn="bl" rotWithShape="0">
              <a:srgbClr val="13294B">
                <a:alpha val="18000"/>
              </a:srgbClr>
            </a:outerShdw>
          </a:effectLst>
        </p:spPr>
      </p:sp>
      <p:pic>
        <p:nvPicPr>
          <p:cNvPr id="35" name="Image 10" descr="/home/claude/dbs_ppt/icons/wf_search.png"/>
          <p:cNvPicPr>
            <a:picLocks noChangeAspect="1"/>
          </p:cNvPicPr>
          <p:nvPr/>
        </p:nvPicPr>
        <p:blipFill>
          <a:blip r:embed="rId8"/>
          <a:stretch>
            <a:fillRect/>
          </a:stretch>
        </p:blipFill>
        <p:spPr>
          <a:xfrm>
            <a:off x="7586320" y="3808476"/>
            <a:ext cx="292608" cy="292608"/>
          </a:xfrm>
          <a:prstGeom prst="rect">
            <a:avLst/>
          </a:prstGeom>
        </p:spPr>
      </p:pic>
      <p:sp>
        <p:nvSpPr>
          <p:cNvPr id="36" name="Text 23"/>
          <p:cNvSpPr/>
          <p:nvPr/>
        </p:nvSpPr>
        <p:spPr>
          <a:xfrm>
            <a:off x="8098384" y="3337560"/>
            <a:ext cx="1005840" cy="1234440"/>
          </a:xfrm>
          <a:prstGeom prst="rect">
            <a:avLst/>
          </a:prstGeom>
          <a:noFill/>
        </p:spPr>
        <p:txBody>
          <a:bodyPr wrap="square" rtlCol="0" anchor="ctr"/>
          <a:lstStyle/>
          <a:p>
            <a:pPr marL="0" indent="0">
              <a:lnSpc>
                <a:spcPct val="100000"/>
              </a:lnSpc>
              <a:buNone/>
            </a:pPr>
            <a:r>
              <a:rPr lang="en-US" sz="1150" b="1" dirty="0">
                <a:solidFill>
                  <a:srgbClr val="FFFFFF"/>
                </a:solidFill>
                <a:latin typeface="Calibri" pitchFamily="34" charset="0"/>
                <a:ea typeface="Calibri" pitchFamily="34" charset="-122"/>
                <a:cs typeface="Calibri" pitchFamily="34" charset="-120"/>
              </a:rPr>
              <a:t>Search Docs</a:t>
            </a:r>
            <a:endParaRPr lang="en-US" sz="1150" dirty="0"/>
          </a:p>
        </p:txBody>
      </p:sp>
      <p:sp>
        <p:nvSpPr>
          <p:cNvPr id="37" name="Shape 24"/>
          <p:cNvSpPr/>
          <p:nvPr/>
        </p:nvSpPr>
        <p:spPr>
          <a:xfrm rot="16200000">
            <a:off x="7074256" y="3854196"/>
            <a:ext cx="182880" cy="201168"/>
          </a:xfrm>
          <a:prstGeom prst="triangle">
            <a:avLst/>
          </a:prstGeom>
          <a:solidFill>
            <a:srgbClr val="D9A441"/>
          </a:solidFill>
        </p:spPr>
      </p:sp>
      <p:sp>
        <p:nvSpPr>
          <p:cNvPr id="38" name="Shape 25"/>
          <p:cNvSpPr/>
          <p:nvPr/>
        </p:nvSpPr>
        <p:spPr>
          <a:xfrm>
            <a:off x="5135728" y="3337560"/>
            <a:ext cx="1920240" cy="1234440"/>
          </a:xfrm>
          <a:prstGeom prst="roundRect">
            <a:avLst>
              <a:gd name="adj" fmla="val 6667"/>
            </a:avLst>
          </a:prstGeom>
          <a:solidFill>
            <a:srgbClr val="13294B"/>
          </a:solidFill>
          <a:effectLst>
            <a:outerShdw blurRad="50800" dist="25400" dir="5400000" algn="bl" rotWithShape="0">
              <a:srgbClr val="13294B">
                <a:alpha val="12000"/>
              </a:srgbClr>
            </a:outerShdw>
          </a:effectLst>
        </p:spPr>
      </p:sp>
      <p:sp>
        <p:nvSpPr>
          <p:cNvPr id="39" name="Shape 26"/>
          <p:cNvSpPr/>
          <p:nvPr/>
        </p:nvSpPr>
        <p:spPr>
          <a:xfrm>
            <a:off x="5309464" y="3671316"/>
            <a:ext cx="566928" cy="566928"/>
          </a:xfrm>
          <a:prstGeom prst="ellipse">
            <a:avLst/>
          </a:prstGeom>
          <a:solidFill>
            <a:srgbClr val="FFFFFF"/>
          </a:solidFill>
          <a:effectLst>
            <a:outerShdw blurRad="76200" dist="25400" dir="5400000" algn="bl" rotWithShape="0">
              <a:srgbClr val="13294B">
                <a:alpha val="18000"/>
              </a:srgbClr>
            </a:outerShdw>
          </a:effectLst>
        </p:spPr>
      </p:sp>
      <p:pic>
        <p:nvPicPr>
          <p:cNvPr id="40" name="Image 11" descr="/home/claude/dbs_ppt/icons/wf_version.png"/>
          <p:cNvPicPr>
            <a:picLocks noChangeAspect="1"/>
          </p:cNvPicPr>
          <p:nvPr/>
        </p:nvPicPr>
        <p:blipFill>
          <a:blip r:embed="rId9"/>
          <a:stretch>
            <a:fillRect/>
          </a:stretch>
        </p:blipFill>
        <p:spPr>
          <a:xfrm>
            <a:off x="5446624" y="3808476"/>
            <a:ext cx="292608" cy="292608"/>
          </a:xfrm>
          <a:prstGeom prst="rect">
            <a:avLst/>
          </a:prstGeom>
        </p:spPr>
      </p:pic>
      <p:sp>
        <p:nvSpPr>
          <p:cNvPr id="41" name="Text 27"/>
          <p:cNvSpPr/>
          <p:nvPr/>
        </p:nvSpPr>
        <p:spPr>
          <a:xfrm>
            <a:off x="5958688" y="3337560"/>
            <a:ext cx="1005840" cy="1234440"/>
          </a:xfrm>
          <a:prstGeom prst="rect">
            <a:avLst/>
          </a:prstGeom>
          <a:noFill/>
        </p:spPr>
        <p:txBody>
          <a:bodyPr wrap="square" rtlCol="0" anchor="ctr"/>
          <a:lstStyle/>
          <a:p>
            <a:pPr marL="0" indent="0">
              <a:lnSpc>
                <a:spcPct val="100000"/>
              </a:lnSpc>
              <a:buNone/>
            </a:pPr>
            <a:r>
              <a:rPr lang="en-US" sz="1150" b="1" dirty="0">
                <a:solidFill>
                  <a:srgbClr val="FFFFFF"/>
                </a:solidFill>
                <a:latin typeface="Calibri" pitchFamily="34" charset="0"/>
                <a:ea typeface="Calibri" pitchFamily="34" charset="-122"/>
                <a:cs typeface="Calibri" pitchFamily="34" charset="-120"/>
              </a:rPr>
              <a:t>Versioning</a:t>
            </a:r>
            <a:endParaRPr lang="en-US" sz="1150" dirty="0"/>
          </a:p>
        </p:txBody>
      </p:sp>
      <p:sp>
        <p:nvSpPr>
          <p:cNvPr id="42" name="Shape 28"/>
          <p:cNvSpPr/>
          <p:nvPr/>
        </p:nvSpPr>
        <p:spPr>
          <a:xfrm rot="16200000">
            <a:off x="4934560" y="3854196"/>
            <a:ext cx="182880" cy="201168"/>
          </a:xfrm>
          <a:prstGeom prst="triangle">
            <a:avLst/>
          </a:prstGeom>
          <a:solidFill>
            <a:srgbClr val="D9A441"/>
          </a:solidFill>
        </p:spPr>
      </p:sp>
      <p:sp>
        <p:nvSpPr>
          <p:cNvPr id="43" name="Shape 29"/>
          <p:cNvSpPr/>
          <p:nvPr/>
        </p:nvSpPr>
        <p:spPr>
          <a:xfrm>
            <a:off x="2996032" y="3337560"/>
            <a:ext cx="1920240" cy="1234440"/>
          </a:xfrm>
          <a:prstGeom prst="roundRect">
            <a:avLst>
              <a:gd name="adj" fmla="val 6667"/>
            </a:avLst>
          </a:prstGeom>
          <a:solidFill>
            <a:srgbClr val="13294B"/>
          </a:solidFill>
          <a:effectLst>
            <a:outerShdw blurRad="50800" dist="25400" dir="5400000" algn="bl" rotWithShape="0">
              <a:srgbClr val="13294B">
                <a:alpha val="12000"/>
              </a:srgbClr>
            </a:outerShdw>
          </a:effectLst>
        </p:spPr>
      </p:sp>
      <p:sp>
        <p:nvSpPr>
          <p:cNvPr id="44" name="Shape 30"/>
          <p:cNvSpPr/>
          <p:nvPr/>
        </p:nvSpPr>
        <p:spPr>
          <a:xfrm>
            <a:off x="3169768" y="3671316"/>
            <a:ext cx="566928" cy="566928"/>
          </a:xfrm>
          <a:prstGeom prst="ellipse">
            <a:avLst/>
          </a:prstGeom>
          <a:solidFill>
            <a:srgbClr val="FFFFFF"/>
          </a:solidFill>
          <a:effectLst>
            <a:outerShdw blurRad="76200" dist="25400" dir="5400000" algn="bl" rotWithShape="0">
              <a:srgbClr val="13294B">
                <a:alpha val="18000"/>
              </a:srgbClr>
            </a:outerShdw>
          </a:effectLst>
        </p:spPr>
      </p:sp>
      <p:pic>
        <p:nvPicPr>
          <p:cNvPr id="45" name="Image 12" descr="/home/claude/dbs_ppt/icons/wf_share.png"/>
          <p:cNvPicPr>
            <a:picLocks noChangeAspect="1"/>
          </p:cNvPicPr>
          <p:nvPr/>
        </p:nvPicPr>
        <p:blipFill>
          <a:blip r:embed="rId10"/>
          <a:stretch>
            <a:fillRect/>
          </a:stretch>
        </p:blipFill>
        <p:spPr>
          <a:xfrm>
            <a:off x="3306928" y="3808476"/>
            <a:ext cx="292608" cy="292608"/>
          </a:xfrm>
          <a:prstGeom prst="rect">
            <a:avLst/>
          </a:prstGeom>
        </p:spPr>
      </p:pic>
      <p:sp>
        <p:nvSpPr>
          <p:cNvPr id="46" name="Text 31"/>
          <p:cNvSpPr/>
          <p:nvPr/>
        </p:nvSpPr>
        <p:spPr>
          <a:xfrm>
            <a:off x="3818992" y="3337560"/>
            <a:ext cx="1005840" cy="1234440"/>
          </a:xfrm>
          <a:prstGeom prst="rect">
            <a:avLst/>
          </a:prstGeom>
          <a:noFill/>
        </p:spPr>
        <p:txBody>
          <a:bodyPr wrap="square" rtlCol="0" anchor="ctr"/>
          <a:lstStyle/>
          <a:p>
            <a:pPr marL="0" indent="0">
              <a:lnSpc>
                <a:spcPct val="100000"/>
              </a:lnSpc>
              <a:buNone/>
            </a:pPr>
            <a:r>
              <a:rPr lang="en-US" sz="1150" b="1" dirty="0">
                <a:solidFill>
                  <a:srgbClr val="FFFFFF"/>
                </a:solidFill>
                <a:latin typeface="Calibri" pitchFamily="34" charset="0"/>
                <a:ea typeface="Calibri" pitchFamily="34" charset="-122"/>
                <a:cs typeface="Calibri" pitchFamily="34" charset="-120"/>
              </a:rPr>
              <a:t>Doc Sharing</a:t>
            </a:r>
            <a:endParaRPr lang="en-US" sz="1150" dirty="0"/>
          </a:p>
        </p:txBody>
      </p:sp>
      <p:sp>
        <p:nvSpPr>
          <p:cNvPr id="47" name="Shape 32"/>
          <p:cNvSpPr/>
          <p:nvPr/>
        </p:nvSpPr>
        <p:spPr>
          <a:xfrm rot="16200000">
            <a:off x="2794864" y="3854196"/>
            <a:ext cx="182880" cy="201168"/>
          </a:xfrm>
          <a:prstGeom prst="triangle">
            <a:avLst/>
          </a:prstGeom>
          <a:solidFill>
            <a:srgbClr val="D9A441"/>
          </a:solidFill>
        </p:spPr>
      </p:sp>
      <p:sp>
        <p:nvSpPr>
          <p:cNvPr id="48" name="Shape 33"/>
          <p:cNvSpPr/>
          <p:nvPr/>
        </p:nvSpPr>
        <p:spPr>
          <a:xfrm>
            <a:off x="856336" y="3337560"/>
            <a:ext cx="1920240" cy="1234440"/>
          </a:xfrm>
          <a:prstGeom prst="roundRect">
            <a:avLst>
              <a:gd name="adj" fmla="val 6667"/>
            </a:avLst>
          </a:prstGeom>
          <a:solidFill>
            <a:srgbClr val="13294B"/>
          </a:solidFill>
          <a:effectLst>
            <a:outerShdw blurRad="50800" dist="25400" dir="5400000" algn="bl" rotWithShape="0">
              <a:srgbClr val="13294B">
                <a:alpha val="12000"/>
              </a:srgbClr>
            </a:outerShdw>
          </a:effectLst>
        </p:spPr>
      </p:sp>
      <p:sp>
        <p:nvSpPr>
          <p:cNvPr id="49" name="Shape 34"/>
          <p:cNvSpPr/>
          <p:nvPr/>
        </p:nvSpPr>
        <p:spPr>
          <a:xfrm>
            <a:off x="1030072" y="3671316"/>
            <a:ext cx="566928" cy="566928"/>
          </a:xfrm>
          <a:prstGeom prst="ellipse">
            <a:avLst/>
          </a:prstGeom>
          <a:solidFill>
            <a:srgbClr val="FFFFFF"/>
          </a:solidFill>
          <a:effectLst>
            <a:outerShdw blurRad="76200" dist="25400" dir="5400000" algn="bl" rotWithShape="0">
              <a:srgbClr val="13294B">
                <a:alpha val="18000"/>
              </a:srgbClr>
            </a:outerShdw>
          </a:effectLst>
        </p:spPr>
      </p:sp>
      <p:pic>
        <p:nvPicPr>
          <p:cNvPr id="50" name="Image 13" descr="/home/claude/dbs_ppt/icons/wf_logs.png"/>
          <p:cNvPicPr>
            <a:picLocks noChangeAspect="1"/>
          </p:cNvPicPr>
          <p:nvPr/>
        </p:nvPicPr>
        <p:blipFill>
          <a:blip r:embed="rId11"/>
          <a:stretch>
            <a:fillRect/>
          </a:stretch>
        </p:blipFill>
        <p:spPr>
          <a:xfrm>
            <a:off x="1167232" y="3808476"/>
            <a:ext cx="292608" cy="292608"/>
          </a:xfrm>
          <a:prstGeom prst="rect">
            <a:avLst/>
          </a:prstGeom>
        </p:spPr>
      </p:pic>
      <p:sp>
        <p:nvSpPr>
          <p:cNvPr id="51" name="Text 35"/>
          <p:cNvSpPr/>
          <p:nvPr/>
        </p:nvSpPr>
        <p:spPr>
          <a:xfrm>
            <a:off x="1679296" y="3337560"/>
            <a:ext cx="1005840" cy="1234440"/>
          </a:xfrm>
          <a:prstGeom prst="rect">
            <a:avLst/>
          </a:prstGeom>
          <a:noFill/>
        </p:spPr>
        <p:txBody>
          <a:bodyPr wrap="square" rtlCol="0" anchor="ctr"/>
          <a:lstStyle/>
          <a:p>
            <a:pPr marL="0" indent="0">
              <a:lnSpc>
                <a:spcPct val="100000"/>
              </a:lnSpc>
              <a:buNone/>
            </a:pPr>
            <a:r>
              <a:rPr lang="en-US" sz="1150" b="1" dirty="0">
                <a:solidFill>
                  <a:srgbClr val="FFFFFF"/>
                </a:solidFill>
                <a:latin typeface="Calibri" pitchFamily="34" charset="0"/>
                <a:ea typeface="Calibri" pitchFamily="34" charset="-122"/>
                <a:cs typeface="Calibri" pitchFamily="34" charset="-120"/>
              </a:rPr>
              <a:t>Activity Logs</a:t>
            </a:r>
            <a:endParaRPr lang="en-US" sz="1150" dirty="0"/>
          </a:p>
        </p:txBody>
      </p:sp>
      <p:sp>
        <p:nvSpPr>
          <p:cNvPr id="52" name="Shape 36"/>
          <p:cNvSpPr/>
          <p:nvPr/>
        </p:nvSpPr>
        <p:spPr>
          <a:xfrm rot="10800000">
            <a:off x="10274656" y="2889504"/>
            <a:ext cx="201168" cy="182880"/>
          </a:xfrm>
          <a:prstGeom prst="triangle">
            <a:avLst/>
          </a:prstGeom>
          <a:solidFill>
            <a:srgbClr val="D9A441"/>
          </a:solidFill>
        </p:spPr>
      </p:sp>
      <p:sp>
        <p:nvSpPr>
          <p:cNvPr id="53" name="Shape 37"/>
          <p:cNvSpPr/>
          <p:nvPr/>
        </p:nvSpPr>
        <p:spPr>
          <a:xfrm>
            <a:off x="548640" y="5440680"/>
            <a:ext cx="11064240" cy="960120"/>
          </a:xfrm>
          <a:prstGeom prst="roundRect">
            <a:avLst>
              <a:gd name="adj" fmla="val 7619"/>
            </a:avLst>
          </a:prstGeom>
          <a:solidFill>
            <a:srgbClr val="E8F0FA"/>
          </a:solidFill>
        </p:spPr>
      </p:sp>
      <p:sp>
        <p:nvSpPr>
          <p:cNvPr id="54" name="Text 38"/>
          <p:cNvSpPr/>
          <p:nvPr/>
        </p:nvSpPr>
        <p:spPr>
          <a:xfrm>
            <a:off x="777240" y="5532120"/>
            <a:ext cx="3657600" cy="256032"/>
          </a:xfrm>
          <a:prstGeom prst="rect">
            <a:avLst/>
          </a:prstGeom>
          <a:noFill/>
        </p:spPr>
        <p:txBody>
          <a:bodyPr wrap="square" rtlCol="0" anchor="ctr"/>
          <a:lstStyle/>
          <a:p>
            <a:pPr marL="0" indent="0">
              <a:buNone/>
            </a:pPr>
            <a:r>
              <a:rPr lang="en-US" sz="1050" b="1" kern="0" spc="150" dirty="0">
                <a:solidFill>
                  <a:srgbClr val="2F5D8A"/>
                </a:solidFill>
                <a:latin typeface="Calibri" pitchFamily="34" charset="0"/>
                <a:ea typeface="Calibri" pitchFamily="34" charset="-122"/>
                <a:cs typeface="Calibri" pitchFamily="34" charset="-120"/>
              </a:rPr>
              <a:t>EXPECTED OUTCOME</a:t>
            </a:r>
            <a:endParaRPr lang="en-US" sz="1050" dirty="0"/>
          </a:p>
        </p:txBody>
      </p:sp>
      <p:sp>
        <p:nvSpPr>
          <p:cNvPr id="55" name="Text 39"/>
          <p:cNvSpPr/>
          <p:nvPr/>
        </p:nvSpPr>
        <p:spPr>
          <a:xfrm>
            <a:off x="777240" y="5779008"/>
            <a:ext cx="10607040" cy="566928"/>
          </a:xfrm>
          <a:prstGeom prst="rect">
            <a:avLst/>
          </a:prstGeom>
          <a:noFill/>
        </p:spPr>
        <p:txBody>
          <a:bodyPr wrap="square" rtlCol="0" anchor="ctr"/>
          <a:lstStyle/>
          <a:p>
            <a:pPr marL="0" indent="0">
              <a:lnSpc>
                <a:spcPct val="115000"/>
              </a:lnSpc>
              <a:buNone/>
            </a:pPr>
            <a:r>
              <a:rPr lang="en-US" sz="1150" dirty="0">
                <a:solidFill>
                  <a:srgbClr val="1B2A4A"/>
                </a:solidFill>
                <a:latin typeface="Calibri" pitchFamily="34" charset="0"/>
                <a:ea typeface="Calibri" pitchFamily="34" charset="-122"/>
                <a:cs typeface="Calibri" pitchFamily="34" charset="-120"/>
              </a:rPr>
              <a:t>A secure enterprise platform enabling efficient document storage, organization, retrieval, sharing, and workflow management with strong security and scalability.</a:t>
            </a:r>
            <a:endParaRPr lang="en-US" sz="1150" dirty="0"/>
          </a:p>
        </p:txBody>
      </p:sp>
      <p:sp>
        <p:nvSpPr>
          <p:cNvPr id="56" name="Text 40"/>
          <p:cNvSpPr/>
          <p:nvPr/>
        </p:nvSpPr>
        <p:spPr>
          <a:xfrm>
            <a:off x="457200" y="6519672"/>
            <a:ext cx="5486400" cy="274320"/>
          </a:xfrm>
          <a:prstGeom prst="rect">
            <a:avLst/>
          </a:prstGeom>
          <a:noFill/>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25CS1302E – DBS-DBD  |  Project Review-1</a:t>
            </a:r>
            <a:endParaRPr lang="en-US" sz="900" dirty="0"/>
          </a:p>
        </p:txBody>
      </p:sp>
      <p:sp>
        <p:nvSpPr>
          <p:cNvPr id="57" name="Text 41"/>
          <p:cNvSpPr/>
          <p:nvPr/>
        </p:nvSpPr>
        <p:spPr>
          <a:xfrm>
            <a:off x="11277295" y="6519672"/>
            <a:ext cx="457200" cy="274320"/>
          </a:xfrm>
          <a:prstGeom prst="rect">
            <a:avLst/>
          </a:prstGeom>
          <a:noFill/>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6</a:t>
            </a:r>
            <a:endParaRPr lang="en-US" sz="900" dirty="0"/>
          </a:p>
        </p:txBody>
      </p:sp>
      <p:pic>
        <p:nvPicPr>
          <p:cNvPr id="360564775" name="Picture 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a:xfrm>
            <a:off x="9831070" y="214630"/>
            <a:ext cx="1903730" cy="76835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p:spPr>
        <p:txBody>
          <a:bodyPr wrap="square" rtlCol="0" anchor="ctr"/>
          <a:lstStyle/>
          <a:p>
            <a:pPr marL="0" indent="0">
              <a:buNone/>
            </a:pPr>
            <a:r>
              <a:rPr lang="en-US" b="1" kern="0" spc="200" dirty="0">
                <a:solidFill>
                  <a:srgbClr val="D9A441"/>
                </a:solidFill>
                <a:latin typeface="Calibri" pitchFamily="34" charset="0"/>
                <a:ea typeface="Calibri" pitchFamily="34" charset="-122"/>
                <a:cs typeface="Calibri" pitchFamily="34" charset="-120"/>
              </a:rPr>
              <a:t>SYSTEM BREAKDOWN</a:t>
            </a:r>
            <a:endParaRPr lang="en-US" dirty="0"/>
          </a:p>
        </p:txBody>
      </p:sp>
      <p:sp>
        <p:nvSpPr>
          <p:cNvPr id="3" name="Text 1"/>
          <p:cNvSpPr/>
          <p:nvPr/>
        </p:nvSpPr>
        <p:spPr>
          <a:xfrm>
            <a:off x="548640" y="658368"/>
            <a:ext cx="10515600" cy="640080"/>
          </a:xfrm>
          <a:prstGeom prst="rect">
            <a:avLst/>
          </a:prstGeom>
          <a:noFill/>
        </p:spPr>
        <p:txBody>
          <a:bodyPr wrap="square" rtlCol="0" anchor="ctr"/>
          <a:lstStyle/>
          <a:p>
            <a:pPr marL="0" indent="0">
              <a:buNone/>
            </a:pPr>
            <a:r>
              <a:rPr lang="en-US" sz="3000" b="1" dirty="0">
                <a:solidFill>
                  <a:srgbClr val="1B2A4A"/>
                </a:solidFill>
                <a:latin typeface="Poppins" pitchFamily="34" charset="0"/>
                <a:ea typeface="Poppins" pitchFamily="34" charset="-122"/>
                <a:cs typeface="Poppins" pitchFamily="34" charset="-120"/>
              </a:rPr>
              <a:t>Project Modules</a:t>
            </a:r>
            <a:endParaRPr lang="en-US" sz="3000" dirty="0"/>
          </a:p>
        </p:txBody>
      </p:sp>
      <p:sp>
        <p:nvSpPr>
          <p:cNvPr id="4" name="Shape 2"/>
          <p:cNvSpPr/>
          <p:nvPr/>
        </p:nvSpPr>
        <p:spPr>
          <a:xfrm>
            <a:off x="540868" y="1417320"/>
            <a:ext cx="3611880" cy="1371600"/>
          </a:xfrm>
          <a:prstGeom prst="roundRect">
            <a:avLst>
              <a:gd name="adj" fmla="val 6000"/>
            </a:avLst>
          </a:prstGeom>
          <a:solidFill>
            <a:srgbClr val="F4F7FB"/>
          </a:solidFill>
        </p:spPr>
      </p:sp>
      <p:sp>
        <p:nvSpPr>
          <p:cNvPr id="5" name="Shape 3"/>
          <p:cNvSpPr/>
          <p:nvPr/>
        </p:nvSpPr>
        <p:spPr>
          <a:xfrm>
            <a:off x="742036" y="1801368"/>
            <a:ext cx="603504" cy="603504"/>
          </a:xfrm>
          <a:prstGeom prst="ellipse">
            <a:avLst/>
          </a:prstGeom>
          <a:solidFill>
            <a:srgbClr val="2F5D8A"/>
          </a:solidFill>
          <a:effectLst>
            <a:outerShdw blurRad="76200" dist="25400" dir="5400000" algn="bl" rotWithShape="0">
              <a:srgbClr val="13294B">
                <a:alpha val="18000"/>
              </a:srgbClr>
            </a:outerShdw>
          </a:effectLst>
        </p:spPr>
      </p:sp>
      <p:pic>
        <p:nvPicPr>
          <p:cNvPr id="6" name="Image 0" descr="/home/claude/dbs_ppt/icons/mod_auth.png"/>
          <p:cNvPicPr>
            <a:picLocks noChangeAspect="1"/>
          </p:cNvPicPr>
          <p:nvPr/>
        </p:nvPicPr>
        <p:blipFill>
          <a:blip r:embed="rId1"/>
          <a:stretch>
            <a:fillRect/>
          </a:stretch>
        </p:blipFill>
        <p:spPr>
          <a:xfrm>
            <a:off x="888340" y="1947672"/>
            <a:ext cx="310896" cy="310896"/>
          </a:xfrm>
          <a:prstGeom prst="rect">
            <a:avLst/>
          </a:prstGeom>
        </p:spPr>
      </p:pic>
      <p:sp>
        <p:nvSpPr>
          <p:cNvPr id="7" name="Text 4"/>
          <p:cNvSpPr/>
          <p:nvPr/>
        </p:nvSpPr>
        <p:spPr>
          <a:xfrm>
            <a:off x="1455268" y="1600200"/>
            <a:ext cx="2560320" cy="411480"/>
          </a:xfrm>
          <a:prstGeom prst="rect">
            <a:avLst/>
          </a:prstGeom>
          <a:noFill/>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User Authentication</a:t>
            </a:r>
            <a:endParaRPr lang="en-US" sz="1250" dirty="0"/>
          </a:p>
        </p:txBody>
      </p:sp>
      <p:sp>
        <p:nvSpPr>
          <p:cNvPr id="8" name="Text 5"/>
          <p:cNvSpPr/>
          <p:nvPr/>
        </p:nvSpPr>
        <p:spPr>
          <a:xfrm>
            <a:off x="1455268" y="2011680"/>
            <a:ext cx="2560320" cy="685800"/>
          </a:xfrm>
          <a:prstGeom prst="rect">
            <a:avLst/>
          </a:prstGeom>
          <a:noFill/>
        </p:spPr>
        <p:txBody>
          <a:bodyPr wrap="square" rtlCol="0" anchor="ctr"/>
          <a:lstStyle/>
          <a:p>
            <a:pPr marL="0" indent="0">
              <a:lnSpc>
                <a:spcPct val="115000"/>
              </a:lnSpc>
              <a:buNone/>
            </a:pPr>
            <a:r>
              <a:rPr lang="en-US" sz="1000" dirty="0">
                <a:solidFill>
                  <a:srgbClr val="5B6B82"/>
                </a:solidFill>
                <a:latin typeface="Calibri" pitchFamily="34" charset="0"/>
                <a:ea typeface="Calibri" pitchFamily="34" charset="-122"/>
                <a:cs typeface="Calibri" pitchFamily="34" charset="-120"/>
              </a:rPr>
              <a:t>Secure login with JWT-based sessions</a:t>
            </a:r>
            <a:endParaRPr lang="en-US" sz="1000" dirty="0"/>
          </a:p>
        </p:txBody>
      </p:sp>
      <p:sp>
        <p:nvSpPr>
          <p:cNvPr id="9" name="Shape 6"/>
          <p:cNvSpPr/>
          <p:nvPr/>
        </p:nvSpPr>
        <p:spPr>
          <a:xfrm>
            <a:off x="4289908" y="1417320"/>
            <a:ext cx="3611880" cy="1371600"/>
          </a:xfrm>
          <a:prstGeom prst="roundRect">
            <a:avLst>
              <a:gd name="adj" fmla="val 6000"/>
            </a:avLst>
          </a:prstGeom>
          <a:solidFill>
            <a:srgbClr val="F4F7FB"/>
          </a:solidFill>
        </p:spPr>
      </p:sp>
      <p:sp>
        <p:nvSpPr>
          <p:cNvPr id="10" name="Shape 7"/>
          <p:cNvSpPr/>
          <p:nvPr/>
        </p:nvSpPr>
        <p:spPr>
          <a:xfrm>
            <a:off x="4491076" y="1801368"/>
            <a:ext cx="603504" cy="603504"/>
          </a:xfrm>
          <a:prstGeom prst="ellipse">
            <a:avLst/>
          </a:prstGeom>
          <a:solidFill>
            <a:srgbClr val="2F5D8A"/>
          </a:solidFill>
          <a:effectLst>
            <a:outerShdw blurRad="76200" dist="25400" dir="5400000" algn="bl" rotWithShape="0">
              <a:srgbClr val="13294B">
                <a:alpha val="18000"/>
              </a:srgbClr>
            </a:outerShdw>
          </a:effectLst>
        </p:spPr>
      </p:sp>
      <p:pic>
        <p:nvPicPr>
          <p:cNvPr id="11" name="Image 1" descr="/home/claude/dbs_ppt/icons/mod_user.png"/>
          <p:cNvPicPr>
            <a:picLocks noChangeAspect="1"/>
          </p:cNvPicPr>
          <p:nvPr/>
        </p:nvPicPr>
        <p:blipFill>
          <a:blip r:embed="rId2"/>
          <a:stretch>
            <a:fillRect/>
          </a:stretch>
        </p:blipFill>
        <p:spPr>
          <a:xfrm>
            <a:off x="4637380" y="1947672"/>
            <a:ext cx="310896" cy="310896"/>
          </a:xfrm>
          <a:prstGeom prst="rect">
            <a:avLst/>
          </a:prstGeom>
        </p:spPr>
      </p:pic>
      <p:sp>
        <p:nvSpPr>
          <p:cNvPr id="12" name="Text 8"/>
          <p:cNvSpPr/>
          <p:nvPr/>
        </p:nvSpPr>
        <p:spPr>
          <a:xfrm>
            <a:off x="5204308" y="1600200"/>
            <a:ext cx="2560320" cy="411480"/>
          </a:xfrm>
          <a:prstGeom prst="rect">
            <a:avLst/>
          </a:prstGeom>
          <a:noFill/>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User Management</a:t>
            </a:r>
            <a:endParaRPr lang="en-US" sz="1250" dirty="0"/>
          </a:p>
        </p:txBody>
      </p:sp>
      <p:sp>
        <p:nvSpPr>
          <p:cNvPr id="13" name="Text 9"/>
          <p:cNvSpPr/>
          <p:nvPr/>
        </p:nvSpPr>
        <p:spPr>
          <a:xfrm>
            <a:off x="5204308" y="2011680"/>
            <a:ext cx="2560320" cy="685800"/>
          </a:xfrm>
          <a:prstGeom prst="rect">
            <a:avLst/>
          </a:prstGeom>
          <a:noFill/>
        </p:spPr>
        <p:txBody>
          <a:bodyPr wrap="square" rtlCol="0" anchor="ctr"/>
          <a:lstStyle/>
          <a:p>
            <a:pPr marL="0" indent="0">
              <a:lnSpc>
                <a:spcPct val="115000"/>
              </a:lnSpc>
              <a:buNone/>
            </a:pPr>
            <a:r>
              <a:rPr lang="en-US" sz="1000" dirty="0">
                <a:solidFill>
                  <a:srgbClr val="5B6B82"/>
                </a:solidFill>
                <a:latin typeface="Calibri" pitchFamily="34" charset="0"/>
                <a:ea typeface="Calibri" pitchFamily="34" charset="-122"/>
                <a:cs typeface="Calibri" pitchFamily="34" charset="-120"/>
              </a:rPr>
              <a:t>Role-based user administration</a:t>
            </a:r>
            <a:endParaRPr lang="en-US" sz="1000" dirty="0"/>
          </a:p>
        </p:txBody>
      </p:sp>
      <p:sp>
        <p:nvSpPr>
          <p:cNvPr id="14" name="Shape 10"/>
          <p:cNvSpPr/>
          <p:nvPr/>
        </p:nvSpPr>
        <p:spPr>
          <a:xfrm>
            <a:off x="8038948" y="1417320"/>
            <a:ext cx="3611880" cy="1371600"/>
          </a:xfrm>
          <a:prstGeom prst="roundRect">
            <a:avLst>
              <a:gd name="adj" fmla="val 6000"/>
            </a:avLst>
          </a:prstGeom>
          <a:solidFill>
            <a:srgbClr val="F4F7FB"/>
          </a:solidFill>
        </p:spPr>
      </p:sp>
      <p:sp>
        <p:nvSpPr>
          <p:cNvPr id="15" name="Shape 11"/>
          <p:cNvSpPr/>
          <p:nvPr/>
        </p:nvSpPr>
        <p:spPr>
          <a:xfrm>
            <a:off x="8240116" y="1801368"/>
            <a:ext cx="603504" cy="603504"/>
          </a:xfrm>
          <a:prstGeom prst="ellipse">
            <a:avLst/>
          </a:prstGeom>
          <a:solidFill>
            <a:srgbClr val="2F5D8A"/>
          </a:solidFill>
          <a:effectLst>
            <a:outerShdw blurRad="76200" dist="25400" dir="5400000" algn="bl" rotWithShape="0">
              <a:srgbClr val="13294B">
                <a:alpha val="18000"/>
              </a:srgbClr>
            </a:outerShdw>
          </a:effectLst>
        </p:spPr>
      </p:sp>
      <p:pic>
        <p:nvPicPr>
          <p:cNvPr id="16" name="Image 2" descr="/home/claude/dbs_ppt/icons/mod_folder.png"/>
          <p:cNvPicPr>
            <a:picLocks noChangeAspect="1"/>
          </p:cNvPicPr>
          <p:nvPr/>
        </p:nvPicPr>
        <p:blipFill>
          <a:blip r:embed="rId3"/>
          <a:stretch>
            <a:fillRect/>
          </a:stretch>
        </p:blipFill>
        <p:spPr>
          <a:xfrm>
            <a:off x="8386420" y="1947672"/>
            <a:ext cx="310896" cy="310896"/>
          </a:xfrm>
          <a:prstGeom prst="rect">
            <a:avLst/>
          </a:prstGeom>
        </p:spPr>
      </p:pic>
      <p:sp>
        <p:nvSpPr>
          <p:cNvPr id="17" name="Text 12"/>
          <p:cNvSpPr/>
          <p:nvPr/>
        </p:nvSpPr>
        <p:spPr>
          <a:xfrm>
            <a:off x="8953348" y="1600200"/>
            <a:ext cx="2560320" cy="411480"/>
          </a:xfrm>
          <a:prstGeom prst="rect">
            <a:avLst/>
          </a:prstGeom>
          <a:noFill/>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Folder Management</a:t>
            </a:r>
            <a:endParaRPr lang="en-US" sz="1250" dirty="0"/>
          </a:p>
        </p:txBody>
      </p:sp>
      <p:sp>
        <p:nvSpPr>
          <p:cNvPr id="18" name="Text 13"/>
          <p:cNvSpPr/>
          <p:nvPr/>
        </p:nvSpPr>
        <p:spPr>
          <a:xfrm>
            <a:off x="8953348" y="2011680"/>
            <a:ext cx="2560320" cy="685800"/>
          </a:xfrm>
          <a:prstGeom prst="rect">
            <a:avLst/>
          </a:prstGeom>
          <a:noFill/>
        </p:spPr>
        <p:txBody>
          <a:bodyPr wrap="square" rtlCol="0" anchor="ctr"/>
          <a:lstStyle/>
          <a:p>
            <a:pPr marL="0" indent="0">
              <a:lnSpc>
                <a:spcPct val="115000"/>
              </a:lnSpc>
              <a:buNone/>
            </a:pPr>
            <a:r>
              <a:rPr lang="en-US" sz="1000" dirty="0">
                <a:solidFill>
                  <a:srgbClr val="5B6B82"/>
                </a:solidFill>
                <a:latin typeface="Calibri" pitchFamily="34" charset="0"/>
                <a:ea typeface="Calibri" pitchFamily="34" charset="-122"/>
                <a:cs typeface="Calibri" pitchFamily="34" charset="-120"/>
              </a:rPr>
              <a:t>Create &amp; organize folder hierarchy</a:t>
            </a:r>
            <a:endParaRPr lang="en-US" sz="1000" dirty="0"/>
          </a:p>
        </p:txBody>
      </p:sp>
      <p:sp>
        <p:nvSpPr>
          <p:cNvPr id="19" name="Shape 14"/>
          <p:cNvSpPr/>
          <p:nvPr/>
        </p:nvSpPr>
        <p:spPr>
          <a:xfrm>
            <a:off x="540868" y="2953512"/>
            <a:ext cx="3611880" cy="1371600"/>
          </a:xfrm>
          <a:prstGeom prst="roundRect">
            <a:avLst>
              <a:gd name="adj" fmla="val 6000"/>
            </a:avLst>
          </a:prstGeom>
          <a:solidFill>
            <a:srgbClr val="F4F7FB"/>
          </a:solidFill>
        </p:spPr>
      </p:sp>
      <p:sp>
        <p:nvSpPr>
          <p:cNvPr id="20" name="Shape 15"/>
          <p:cNvSpPr/>
          <p:nvPr/>
        </p:nvSpPr>
        <p:spPr>
          <a:xfrm>
            <a:off x="742036" y="3337560"/>
            <a:ext cx="603504" cy="603504"/>
          </a:xfrm>
          <a:prstGeom prst="ellipse">
            <a:avLst/>
          </a:prstGeom>
          <a:solidFill>
            <a:srgbClr val="2F5D8A"/>
          </a:solidFill>
          <a:effectLst>
            <a:outerShdw blurRad="76200" dist="25400" dir="5400000" algn="bl" rotWithShape="0">
              <a:srgbClr val="13294B">
                <a:alpha val="18000"/>
              </a:srgbClr>
            </a:outerShdw>
          </a:effectLst>
        </p:spPr>
      </p:sp>
      <p:pic>
        <p:nvPicPr>
          <p:cNvPr id="21" name="Image 3" descr="/home/claude/dbs_ppt/icons/mod_upload.png"/>
          <p:cNvPicPr>
            <a:picLocks noChangeAspect="1"/>
          </p:cNvPicPr>
          <p:nvPr/>
        </p:nvPicPr>
        <p:blipFill>
          <a:blip r:embed="rId4"/>
          <a:stretch>
            <a:fillRect/>
          </a:stretch>
        </p:blipFill>
        <p:spPr>
          <a:xfrm>
            <a:off x="888340" y="3483864"/>
            <a:ext cx="310896" cy="310896"/>
          </a:xfrm>
          <a:prstGeom prst="rect">
            <a:avLst/>
          </a:prstGeom>
        </p:spPr>
      </p:pic>
      <p:sp>
        <p:nvSpPr>
          <p:cNvPr id="22" name="Text 16"/>
          <p:cNvSpPr/>
          <p:nvPr/>
        </p:nvSpPr>
        <p:spPr>
          <a:xfrm>
            <a:off x="1455268" y="3136392"/>
            <a:ext cx="2560320" cy="411480"/>
          </a:xfrm>
          <a:prstGeom prst="rect">
            <a:avLst/>
          </a:prstGeom>
          <a:noFill/>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Document Upload &amp; Storage</a:t>
            </a:r>
            <a:endParaRPr lang="en-US" sz="1250" dirty="0"/>
          </a:p>
        </p:txBody>
      </p:sp>
      <p:sp>
        <p:nvSpPr>
          <p:cNvPr id="23" name="Text 17"/>
          <p:cNvSpPr/>
          <p:nvPr/>
        </p:nvSpPr>
        <p:spPr>
          <a:xfrm>
            <a:off x="1455268" y="3547872"/>
            <a:ext cx="2560320" cy="685800"/>
          </a:xfrm>
          <a:prstGeom prst="rect">
            <a:avLst/>
          </a:prstGeom>
          <a:noFill/>
        </p:spPr>
        <p:txBody>
          <a:bodyPr wrap="square" rtlCol="0" anchor="ctr"/>
          <a:lstStyle/>
          <a:p>
            <a:pPr marL="0" indent="0">
              <a:lnSpc>
                <a:spcPct val="115000"/>
              </a:lnSpc>
              <a:buNone/>
            </a:pPr>
            <a:r>
              <a:rPr lang="en-US" sz="1000" dirty="0">
                <a:solidFill>
                  <a:srgbClr val="5B6B82"/>
                </a:solidFill>
                <a:latin typeface="Calibri" pitchFamily="34" charset="0"/>
                <a:ea typeface="Calibri" pitchFamily="34" charset="-122"/>
                <a:cs typeface="Calibri" pitchFamily="34" charset="-120"/>
              </a:rPr>
              <a:t>Upload and store files securely</a:t>
            </a:r>
            <a:endParaRPr lang="en-US" sz="1000" dirty="0"/>
          </a:p>
        </p:txBody>
      </p:sp>
      <p:sp>
        <p:nvSpPr>
          <p:cNvPr id="24" name="Shape 18"/>
          <p:cNvSpPr/>
          <p:nvPr/>
        </p:nvSpPr>
        <p:spPr>
          <a:xfrm>
            <a:off x="4289908" y="2953512"/>
            <a:ext cx="3611880" cy="1371600"/>
          </a:xfrm>
          <a:prstGeom prst="roundRect">
            <a:avLst>
              <a:gd name="adj" fmla="val 6000"/>
            </a:avLst>
          </a:prstGeom>
          <a:solidFill>
            <a:srgbClr val="F4F7FB"/>
          </a:solidFill>
        </p:spPr>
      </p:sp>
      <p:sp>
        <p:nvSpPr>
          <p:cNvPr id="25" name="Shape 19"/>
          <p:cNvSpPr/>
          <p:nvPr/>
        </p:nvSpPr>
        <p:spPr>
          <a:xfrm>
            <a:off x="4491076" y="3337560"/>
            <a:ext cx="603504" cy="603504"/>
          </a:xfrm>
          <a:prstGeom prst="ellipse">
            <a:avLst/>
          </a:prstGeom>
          <a:solidFill>
            <a:srgbClr val="2F5D8A"/>
          </a:solidFill>
          <a:effectLst>
            <a:outerShdw blurRad="76200" dist="25400" dir="5400000" algn="bl" rotWithShape="0">
              <a:srgbClr val="13294B">
                <a:alpha val="18000"/>
              </a:srgbClr>
            </a:outerShdw>
          </a:effectLst>
        </p:spPr>
      </p:sp>
      <p:pic>
        <p:nvPicPr>
          <p:cNvPr id="26" name="Image 4" descr="/home/claude/dbs_ppt/icons/mod_search.png"/>
          <p:cNvPicPr>
            <a:picLocks noChangeAspect="1"/>
          </p:cNvPicPr>
          <p:nvPr/>
        </p:nvPicPr>
        <p:blipFill>
          <a:blip r:embed="rId5"/>
          <a:stretch>
            <a:fillRect/>
          </a:stretch>
        </p:blipFill>
        <p:spPr>
          <a:xfrm>
            <a:off x="4637380" y="3483864"/>
            <a:ext cx="310896" cy="310896"/>
          </a:xfrm>
          <a:prstGeom prst="rect">
            <a:avLst/>
          </a:prstGeom>
        </p:spPr>
      </p:pic>
      <p:sp>
        <p:nvSpPr>
          <p:cNvPr id="27" name="Text 20"/>
          <p:cNvSpPr/>
          <p:nvPr/>
        </p:nvSpPr>
        <p:spPr>
          <a:xfrm>
            <a:off x="5204308" y="3136392"/>
            <a:ext cx="2560320" cy="411480"/>
          </a:xfrm>
          <a:prstGeom prst="rect">
            <a:avLst/>
          </a:prstGeom>
          <a:noFill/>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Document Search</a:t>
            </a:r>
            <a:endParaRPr lang="en-US" sz="1250" dirty="0"/>
          </a:p>
        </p:txBody>
      </p:sp>
      <p:sp>
        <p:nvSpPr>
          <p:cNvPr id="28" name="Text 21"/>
          <p:cNvSpPr/>
          <p:nvPr/>
        </p:nvSpPr>
        <p:spPr>
          <a:xfrm>
            <a:off x="5204308" y="3547872"/>
            <a:ext cx="2560320" cy="685800"/>
          </a:xfrm>
          <a:prstGeom prst="rect">
            <a:avLst/>
          </a:prstGeom>
          <a:noFill/>
        </p:spPr>
        <p:txBody>
          <a:bodyPr wrap="square" rtlCol="0" anchor="ctr"/>
          <a:lstStyle/>
          <a:p>
            <a:pPr marL="0" indent="0">
              <a:lnSpc>
                <a:spcPct val="115000"/>
              </a:lnSpc>
              <a:buNone/>
            </a:pPr>
            <a:r>
              <a:rPr lang="en-US" sz="1000" dirty="0">
                <a:solidFill>
                  <a:srgbClr val="5B6B82"/>
                </a:solidFill>
                <a:latin typeface="Calibri" pitchFamily="34" charset="0"/>
                <a:ea typeface="Calibri" pitchFamily="34" charset="-122"/>
                <a:cs typeface="Calibri" pitchFamily="34" charset="-120"/>
              </a:rPr>
              <a:t>Fast keyword-based document lookup</a:t>
            </a:r>
            <a:endParaRPr lang="en-US" sz="1000" dirty="0"/>
          </a:p>
        </p:txBody>
      </p:sp>
      <p:sp>
        <p:nvSpPr>
          <p:cNvPr id="29" name="Shape 22"/>
          <p:cNvSpPr/>
          <p:nvPr/>
        </p:nvSpPr>
        <p:spPr>
          <a:xfrm>
            <a:off x="8038948" y="2953512"/>
            <a:ext cx="3611880" cy="1371600"/>
          </a:xfrm>
          <a:prstGeom prst="roundRect">
            <a:avLst>
              <a:gd name="adj" fmla="val 6000"/>
            </a:avLst>
          </a:prstGeom>
          <a:solidFill>
            <a:srgbClr val="F4F7FB"/>
          </a:solidFill>
        </p:spPr>
      </p:sp>
      <p:sp>
        <p:nvSpPr>
          <p:cNvPr id="30" name="Shape 23"/>
          <p:cNvSpPr/>
          <p:nvPr/>
        </p:nvSpPr>
        <p:spPr>
          <a:xfrm>
            <a:off x="8240116" y="3337560"/>
            <a:ext cx="603504" cy="603504"/>
          </a:xfrm>
          <a:prstGeom prst="ellipse">
            <a:avLst/>
          </a:prstGeom>
          <a:solidFill>
            <a:srgbClr val="2F5D8A"/>
          </a:solidFill>
          <a:effectLst>
            <a:outerShdw blurRad="76200" dist="25400" dir="5400000" algn="bl" rotWithShape="0">
              <a:srgbClr val="13294B">
                <a:alpha val="18000"/>
              </a:srgbClr>
            </a:outerShdw>
          </a:effectLst>
        </p:spPr>
      </p:sp>
      <p:pic>
        <p:nvPicPr>
          <p:cNvPr id="31" name="Image 5" descr="/home/claude/dbs_ppt/icons/mod_version.png"/>
          <p:cNvPicPr>
            <a:picLocks noChangeAspect="1"/>
          </p:cNvPicPr>
          <p:nvPr/>
        </p:nvPicPr>
        <p:blipFill>
          <a:blip r:embed="rId6"/>
          <a:stretch>
            <a:fillRect/>
          </a:stretch>
        </p:blipFill>
        <p:spPr>
          <a:xfrm>
            <a:off x="8386420" y="3483864"/>
            <a:ext cx="310896" cy="310896"/>
          </a:xfrm>
          <a:prstGeom prst="rect">
            <a:avLst/>
          </a:prstGeom>
        </p:spPr>
      </p:pic>
      <p:sp>
        <p:nvSpPr>
          <p:cNvPr id="32" name="Text 24"/>
          <p:cNvSpPr/>
          <p:nvPr/>
        </p:nvSpPr>
        <p:spPr>
          <a:xfrm>
            <a:off x="8953348" y="3136392"/>
            <a:ext cx="2560320" cy="411480"/>
          </a:xfrm>
          <a:prstGeom prst="rect">
            <a:avLst/>
          </a:prstGeom>
          <a:noFill/>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Version Management</a:t>
            </a:r>
            <a:endParaRPr lang="en-US" sz="1250" dirty="0"/>
          </a:p>
        </p:txBody>
      </p:sp>
      <p:sp>
        <p:nvSpPr>
          <p:cNvPr id="33" name="Text 25"/>
          <p:cNvSpPr/>
          <p:nvPr/>
        </p:nvSpPr>
        <p:spPr>
          <a:xfrm>
            <a:off x="8953348" y="3547872"/>
            <a:ext cx="2560320" cy="685800"/>
          </a:xfrm>
          <a:prstGeom prst="rect">
            <a:avLst/>
          </a:prstGeom>
          <a:noFill/>
        </p:spPr>
        <p:txBody>
          <a:bodyPr wrap="square" rtlCol="0" anchor="ctr"/>
          <a:lstStyle/>
          <a:p>
            <a:pPr marL="0" indent="0">
              <a:lnSpc>
                <a:spcPct val="115000"/>
              </a:lnSpc>
              <a:buNone/>
            </a:pPr>
            <a:r>
              <a:rPr lang="en-US" sz="1000" dirty="0">
                <a:solidFill>
                  <a:srgbClr val="5B6B82"/>
                </a:solidFill>
                <a:latin typeface="Calibri" pitchFamily="34" charset="0"/>
                <a:ea typeface="Calibri" pitchFamily="34" charset="-122"/>
                <a:cs typeface="Calibri" pitchFamily="34" charset="-120"/>
              </a:rPr>
              <a:t>Track and restore document versions</a:t>
            </a:r>
            <a:endParaRPr lang="en-US" sz="1000" dirty="0"/>
          </a:p>
        </p:txBody>
      </p:sp>
      <p:sp>
        <p:nvSpPr>
          <p:cNvPr id="34" name="Shape 26"/>
          <p:cNvSpPr/>
          <p:nvPr/>
        </p:nvSpPr>
        <p:spPr>
          <a:xfrm>
            <a:off x="540868" y="4489704"/>
            <a:ext cx="3611880" cy="1371600"/>
          </a:xfrm>
          <a:prstGeom prst="roundRect">
            <a:avLst>
              <a:gd name="adj" fmla="val 6000"/>
            </a:avLst>
          </a:prstGeom>
          <a:solidFill>
            <a:srgbClr val="F4F7FB"/>
          </a:solidFill>
        </p:spPr>
      </p:sp>
      <p:sp>
        <p:nvSpPr>
          <p:cNvPr id="35" name="Shape 27"/>
          <p:cNvSpPr/>
          <p:nvPr/>
        </p:nvSpPr>
        <p:spPr>
          <a:xfrm>
            <a:off x="742036" y="4873752"/>
            <a:ext cx="603504" cy="603504"/>
          </a:xfrm>
          <a:prstGeom prst="ellipse">
            <a:avLst/>
          </a:prstGeom>
          <a:solidFill>
            <a:srgbClr val="2F5D8A"/>
          </a:solidFill>
          <a:effectLst>
            <a:outerShdw blurRad="76200" dist="25400" dir="5400000" algn="bl" rotWithShape="0">
              <a:srgbClr val="13294B">
                <a:alpha val="18000"/>
              </a:srgbClr>
            </a:outerShdw>
          </a:effectLst>
        </p:spPr>
      </p:sp>
      <p:pic>
        <p:nvPicPr>
          <p:cNvPr id="36" name="Image 6" descr="/home/claude/dbs_ppt/icons/mod_share.png"/>
          <p:cNvPicPr>
            <a:picLocks noChangeAspect="1"/>
          </p:cNvPicPr>
          <p:nvPr/>
        </p:nvPicPr>
        <p:blipFill>
          <a:blip r:embed="rId7"/>
          <a:stretch>
            <a:fillRect/>
          </a:stretch>
        </p:blipFill>
        <p:spPr>
          <a:xfrm>
            <a:off x="888340" y="5020056"/>
            <a:ext cx="310896" cy="310896"/>
          </a:xfrm>
          <a:prstGeom prst="rect">
            <a:avLst/>
          </a:prstGeom>
        </p:spPr>
      </p:pic>
      <p:sp>
        <p:nvSpPr>
          <p:cNvPr id="37" name="Text 28"/>
          <p:cNvSpPr/>
          <p:nvPr/>
        </p:nvSpPr>
        <p:spPr>
          <a:xfrm>
            <a:off x="1455268" y="4672584"/>
            <a:ext cx="2560320" cy="411480"/>
          </a:xfrm>
          <a:prstGeom prst="rect">
            <a:avLst/>
          </a:prstGeom>
          <a:noFill/>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Document Sharing</a:t>
            </a:r>
            <a:endParaRPr lang="en-US" sz="1250" dirty="0"/>
          </a:p>
        </p:txBody>
      </p:sp>
      <p:sp>
        <p:nvSpPr>
          <p:cNvPr id="38" name="Text 29"/>
          <p:cNvSpPr/>
          <p:nvPr/>
        </p:nvSpPr>
        <p:spPr>
          <a:xfrm>
            <a:off x="1455268" y="5084064"/>
            <a:ext cx="2560320" cy="685800"/>
          </a:xfrm>
          <a:prstGeom prst="rect">
            <a:avLst/>
          </a:prstGeom>
          <a:noFill/>
        </p:spPr>
        <p:txBody>
          <a:bodyPr wrap="square" rtlCol="0" anchor="ctr"/>
          <a:lstStyle/>
          <a:p>
            <a:pPr marL="0" indent="0">
              <a:lnSpc>
                <a:spcPct val="115000"/>
              </a:lnSpc>
              <a:buNone/>
            </a:pPr>
            <a:r>
              <a:rPr lang="en-US" sz="1000" dirty="0">
                <a:solidFill>
                  <a:srgbClr val="5B6B82"/>
                </a:solidFill>
                <a:latin typeface="Calibri" pitchFamily="34" charset="0"/>
                <a:ea typeface="Calibri" pitchFamily="34" charset="-122"/>
                <a:cs typeface="Calibri" pitchFamily="34" charset="-120"/>
              </a:rPr>
              <a:t>Share files with controlled access</a:t>
            </a:r>
            <a:endParaRPr lang="en-US" sz="1000" dirty="0"/>
          </a:p>
        </p:txBody>
      </p:sp>
      <p:sp>
        <p:nvSpPr>
          <p:cNvPr id="39" name="Shape 30"/>
          <p:cNvSpPr/>
          <p:nvPr/>
        </p:nvSpPr>
        <p:spPr>
          <a:xfrm>
            <a:off x="4289908" y="4489704"/>
            <a:ext cx="3611880" cy="1371600"/>
          </a:xfrm>
          <a:prstGeom prst="roundRect">
            <a:avLst>
              <a:gd name="adj" fmla="val 6000"/>
            </a:avLst>
          </a:prstGeom>
          <a:solidFill>
            <a:srgbClr val="F4F7FB"/>
          </a:solidFill>
        </p:spPr>
      </p:sp>
      <p:sp>
        <p:nvSpPr>
          <p:cNvPr id="40" name="Shape 31"/>
          <p:cNvSpPr/>
          <p:nvPr/>
        </p:nvSpPr>
        <p:spPr>
          <a:xfrm>
            <a:off x="4491076" y="4873752"/>
            <a:ext cx="603504" cy="603504"/>
          </a:xfrm>
          <a:prstGeom prst="ellipse">
            <a:avLst/>
          </a:prstGeom>
          <a:solidFill>
            <a:srgbClr val="2F5D8A"/>
          </a:solidFill>
          <a:effectLst>
            <a:outerShdw blurRad="76200" dist="25400" dir="5400000" algn="bl" rotWithShape="0">
              <a:srgbClr val="13294B">
                <a:alpha val="18000"/>
              </a:srgbClr>
            </a:outerShdw>
          </a:effectLst>
        </p:spPr>
      </p:sp>
      <p:pic>
        <p:nvPicPr>
          <p:cNvPr id="41" name="Image 7" descr="/home/claude/dbs_ppt/icons/mod_dashboard.png"/>
          <p:cNvPicPr>
            <a:picLocks noChangeAspect="1"/>
          </p:cNvPicPr>
          <p:nvPr/>
        </p:nvPicPr>
        <p:blipFill>
          <a:blip r:embed="rId8"/>
          <a:stretch>
            <a:fillRect/>
          </a:stretch>
        </p:blipFill>
        <p:spPr>
          <a:xfrm>
            <a:off x="4637380" y="5020056"/>
            <a:ext cx="310896" cy="310896"/>
          </a:xfrm>
          <a:prstGeom prst="rect">
            <a:avLst/>
          </a:prstGeom>
        </p:spPr>
      </p:pic>
      <p:sp>
        <p:nvSpPr>
          <p:cNvPr id="42" name="Text 32"/>
          <p:cNvSpPr/>
          <p:nvPr/>
        </p:nvSpPr>
        <p:spPr>
          <a:xfrm>
            <a:off x="5204308" y="4672584"/>
            <a:ext cx="2560320" cy="411480"/>
          </a:xfrm>
          <a:prstGeom prst="rect">
            <a:avLst/>
          </a:prstGeom>
          <a:noFill/>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Dashboard &amp; Reports</a:t>
            </a:r>
            <a:endParaRPr lang="en-US" sz="1250" dirty="0"/>
          </a:p>
        </p:txBody>
      </p:sp>
      <p:sp>
        <p:nvSpPr>
          <p:cNvPr id="43" name="Text 33"/>
          <p:cNvSpPr/>
          <p:nvPr/>
        </p:nvSpPr>
        <p:spPr>
          <a:xfrm>
            <a:off x="5204308" y="5084064"/>
            <a:ext cx="2560320" cy="685800"/>
          </a:xfrm>
          <a:prstGeom prst="rect">
            <a:avLst/>
          </a:prstGeom>
          <a:noFill/>
        </p:spPr>
        <p:txBody>
          <a:bodyPr wrap="square" rtlCol="0" anchor="ctr"/>
          <a:lstStyle/>
          <a:p>
            <a:pPr marL="0" indent="0">
              <a:lnSpc>
                <a:spcPct val="115000"/>
              </a:lnSpc>
              <a:buNone/>
            </a:pPr>
            <a:r>
              <a:rPr lang="en-US" sz="1000" dirty="0">
                <a:solidFill>
                  <a:srgbClr val="5B6B82"/>
                </a:solidFill>
                <a:latin typeface="Calibri" pitchFamily="34" charset="0"/>
                <a:ea typeface="Calibri" pitchFamily="34" charset="-122"/>
                <a:cs typeface="Calibri" pitchFamily="34" charset="-120"/>
              </a:rPr>
              <a:t>Visual summary of activity &amp; usage</a:t>
            </a:r>
            <a:endParaRPr lang="en-US" sz="1000" dirty="0"/>
          </a:p>
        </p:txBody>
      </p:sp>
      <p:sp>
        <p:nvSpPr>
          <p:cNvPr id="44" name="Shape 34"/>
          <p:cNvSpPr/>
          <p:nvPr/>
        </p:nvSpPr>
        <p:spPr>
          <a:xfrm>
            <a:off x="8038948" y="4489704"/>
            <a:ext cx="3611880" cy="1371600"/>
          </a:xfrm>
          <a:prstGeom prst="roundRect">
            <a:avLst>
              <a:gd name="adj" fmla="val 6000"/>
            </a:avLst>
          </a:prstGeom>
          <a:solidFill>
            <a:srgbClr val="F4F7FB"/>
          </a:solidFill>
        </p:spPr>
      </p:sp>
      <p:sp>
        <p:nvSpPr>
          <p:cNvPr id="45" name="Shape 35"/>
          <p:cNvSpPr/>
          <p:nvPr/>
        </p:nvSpPr>
        <p:spPr>
          <a:xfrm>
            <a:off x="8240116" y="4873752"/>
            <a:ext cx="603504" cy="603504"/>
          </a:xfrm>
          <a:prstGeom prst="ellipse">
            <a:avLst/>
          </a:prstGeom>
          <a:solidFill>
            <a:srgbClr val="2F5D8A"/>
          </a:solidFill>
          <a:effectLst>
            <a:outerShdw blurRad="76200" dist="25400" dir="5400000" algn="bl" rotWithShape="0">
              <a:srgbClr val="13294B">
                <a:alpha val="18000"/>
              </a:srgbClr>
            </a:outerShdw>
          </a:effectLst>
        </p:spPr>
      </p:sp>
      <p:pic>
        <p:nvPicPr>
          <p:cNvPr id="46" name="Image 8" descr="/home/claude/dbs_ppt/icons/mod_logs.png"/>
          <p:cNvPicPr>
            <a:picLocks noChangeAspect="1"/>
          </p:cNvPicPr>
          <p:nvPr/>
        </p:nvPicPr>
        <p:blipFill>
          <a:blip r:embed="rId9"/>
          <a:stretch>
            <a:fillRect/>
          </a:stretch>
        </p:blipFill>
        <p:spPr>
          <a:xfrm>
            <a:off x="8386420" y="5020056"/>
            <a:ext cx="310896" cy="310896"/>
          </a:xfrm>
          <a:prstGeom prst="rect">
            <a:avLst/>
          </a:prstGeom>
        </p:spPr>
      </p:pic>
      <p:sp>
        <p:nvSpPr>
          <p:cNvPr id="47" name="Text 36"/>
          <p:cNvSpPr/>
          <p:nvPr/>
        </p:nvSpPr>
        <p:spPr>
          <a:xfrm>
            <a:off x="8953348" y="4672584"/>
            <a:ext cx="2560320" cy="411480"/>
          </a:xfrm>
          <a:prstGeom prst="rect">
            <a:avLst/>
          </a:prstGeom>
          <a:noFill/>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Activity Logs</a:t>
            </a:r>
            <a:endParaRPr lang="en-US" sz="1250" dirty="0"/>
          </a:p>
        </p:txBody>
      </p:sp>
      <p:sp>
        <p:nvSpPr>
          <p:cNvPr id="48" name="Text 37"/>
          <p:cNvSpPr/>
          <p:nvPr/>
        </p:nvSpPr>
        <p:spPr>
          <a:xfrm>
            <a:off x="8953348" y="5084064"/>
            <a:ext cx="2560320" cy="685800"/>
          </a:xfrm>
          <a:prstGeom prst="rect">
            <a:avLst/>
          </a:prstGeom>
          <a:noFill/>
        </p:spPr>
        <p:txBody>
          <a:bodyPr wrap="square" rtlCol="0" anchor="ctr"/>
          <a:lstStyle/>
          <a:p>
            <a:pPr marL="0" indent="0">
              <a:lnSpc>
                <a:spcPct val="115000"/>
              </a:lnSpc>
              <a:buNone/>
            </a:pPr>
            <a:r>
              <a:rPr lang="en-US" sz="1000" dirty="0">
                <a:solidFill>
                  <a:srgbClr val="5B6B82"/>
                </a:solidFill>
                <a:latin typeface="Calibri" pitchFamily="34" charset="0"/>
                <a:ea typeface="Calibri" pitchFamily="34" charset="-122"/>
                <a:cs typeface="Calibri" pitchFamily="34" charset="-120"/>
              </a:rPr>
              <a:t>Audit trail of all user actions</a:t>
            </a:r>
            <a:endParaRPr lang="en-US" sz="1000" dirty="0"/>
          </a:p>
        </p:txBody>
      </p:sp>
      <p:sp>
        <p:nvSpPr>
          <p:cNvPr id="49" name="Text 38"/>
          <p:cNvSpPr/>
          <p:nvPr/>
        </p:nvSpPr>
        <p:spPr>
          <a:xfrm>
            <a:off x="457200" y="6519672"/>
            <a:ext cx="5486400" cy="274320"/>
          </a:xfrm>
          <a:prstGeom prst="rect">
            <a:avLst/>
          </a:prstGeom>
          <a:noFill/>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25CS1302E – DBS-DBD  |  Project Review-1</a:t>
            </a:r>
            <a:endParaRPr lang="en-US" sz="900" dirty="0"/>
          </a:p>
        </p:txBody>
      </p:sp>
      <p:sp>
        <p:nvSpPr>
          <p:cNvPr id="50" name="Text 39"/>
          <p:cNvSpPr/>
          <p:nvPr/>
        </p:nvSpPr>
        <p:spPr>
          <a:xfrm>
            <a:off x="11277295" y="6519672"/>
            <a:ext cx="457200" cy="274320"/>
          </a:xfrm>
          <a:prstGeom prst="rect">
            <a:avLst/>
          </a:prstGeom>
          <a:noFill/>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7</a:t>
            </a:r>
            <a:endParaRPr lang="en-US" sz="900" dirty="0"/>
          </a:p>
        </p:txBody>
      </p:sp>
      <p:pic>
        <p:nvPicPr>
          <p:cNvPr id="360564775" name="Picture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a:xfrm>
            <a:off x="9747250" y="137160"/>
            <a:ext cx="1903730" cy="76835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p:spPr>
        <p:txBody>
          <a:bodyPr wrap="square" rtlCol="0" anchor="ctr"/>
          <a:lstStyle/>
          <a:p>
            <a:pPr marL="0" indent="0">
              <a:buNone/>
            </a:pPr>
            <a:r>
              <a:rPr lang="en-US" b="1" kern="0" spc="200" dirty="0">
                <a:solidFill>
                  <a:srgbClr val="D9A441"/>
                </a:solidFill>
                <a:latin typeface="Calibri" pitchFamily="34" charset="0"/>
                <a:ea typeface="Calibri" pitchFamily="34" charset="-122"/>
                <a:cs typeface="Calibri" pitchFamily="34" charset="-120"/>
              </a:rPr>
              <a:t>WHAT SETS US APART</a:t>
            </a:r>
            <a:endParaRPr lang="en-US" dirty="0"/>
          </a:p>
        </p:txBody>
      </p:sp>
      <p:sp>
        <p:nvSpPr>
          <p:cNvPr id="3" name="Text 1"/>
          <p:cNvSpPr/>
          <p:nvPr/>
        </p:nvSpPr>
        <p:spPr>
          <a:xfrm>
            <a:off x="548640" y="658368"/>
            <a:ext cx="10515600" cy="640080"/>
          </a:xfrm>
          <a:prstGeom prst="rect">
            <a:avLst/>
          </a:prstGeom>
          <a:noFill/>
        </p:spPr>
        <p:txBody>
          <a:bodyPr wrap="square" rtlCol="0" anchor="ctr"/>
          <a:lstStyle/>
          <a:p>
            <a:pPr marL="0" indent="0">
              <a:buNone/>
            </a:pPr>
            <a:r>
              <a:rPr lang="en-US" sz="3000" b="1" dirty="0">
                <a:solidFill>
                  <a:srgbClr val="1B2A4A"/>
                </a:solidFill>
                <a:latin typeface="Poppins" pitchFamily="34" charset="0"/>
                <a:ea typeface="Poppins" pitchFamily="34" charset="-122"/>
                <a:cs typeface="Poppins" pitchFamily="34" charset="-120"/>
              </a:rPr>
              <a:t>Novelty of the Project</a:t>
            </a:r>
            <a:endParaRPr lang="en-US" sz="3000" dirty="0"/>
          </a:p>
        </p:txBody>
      </p:sp>
      <p:sp>
        <p:nvSpPr>
          <p:cNvPr id="4" name="Shape 2"/>
          <p:cNvSpPr/>
          <p:nvPr/>
        </p:nvSpPr>
        <p:spPr>
          <a:xfrm>
            <a:off x="892912" y="1545336"/>
            <a:ext cx="749808" cy="749808"/>
          </a:xfrm>
          <a:prstGeom prst="ellipse">
            <a:avLst/>
          </a:prstGeom>
          <a:solidFill>
            <a:srgbClr val="13294B"/>
          </a:solidFill>
          <a:effectLst>
            <a:outerShdw blurRad="76200" dist="25400" dir="5400000" algn="bl" rotWithShape="0">
              <a:srgbClr val="13294B">
                <a:alpha val="18000"/>
              </a:srgbClr>
            </a:outerShdw>
          </a:effectLst>
        </p:spPr>
      </p:sp>
      <p:pic>
        <p:nvPicPr>
          <p:cNvPr id="5" name="Image 0" descr="/home/claude/dbs_ppt/icons/nov_central.png"/>
          <p:cNvPicPr>
            <a:picLocks noChangeAspect="1"/>
          </p:cNvPicPr>
          <p:nvPr/>
        </p:nvPicPr>
        <p:blipFill>
          <a:blip r:embed="rId1"/>
          <a:stretch>
            <a:fillRect/>
          </a:stretch>
        </p:blipFill>
        <p:spPr>
          <a:xfrm>
            <a:off x="1066648" y="1719072"/>
            <a:ext cx="402336" cy="402336"/>
          </a:xfrm>
          <a:prstGeom prst="rect">
            <a:avLst/>
          </a:prstGeom>
        </p:spPr>
      </p:pic>
      <p:sp>
        <p:nvSpPr>
          <p:cNvPr id="6" name="Text 3"/>
          <p:cNvSpPr/>
          <p:nvPr/>
        </p:nvSpPr>
        <p:spPr>
          <a:xfrm>
            <a:off x="444856" y="2331720"/>
            <a:ext cx="1645920" cy="502920"/>
          </a:xfrm>
          <a:prstGeom prst="rect">
            <a:avLst/>
          </a:prstGeom>
          <a:noFill/>
        </p:spPr>
        <p:txBody>
          <a:bodyPr wrap="square" rtlCol="0" anchor="ctr"/>
          <a:lstStyle/>
          <a:p>
            <a:pPr marL="0" indent="0" algn="ctr">
              <a:lnSpc>
                <a:spcPct val="105000"/>
              </a:lnSpc>
              <a:buNone/>
            </a:pPr>
            <a:r>
              <a:rPr lang="en-US" sz="950" b="1" dirty="0">
                <a:solidFill>
                  <a:srgbClr val="1B2A4A"/>
                </a:solidFill>
                <a:latin typeface="Calibri" pitchFamily="34" charset="0"/>
                <a:ea typeface="Calibri" pitchFamily="34" charset="-122"/>
                <a:cs typeface="Calibri" pitchFamily="34" charset="-120"/>
              </a:rPr>
              <a:t>Centralized Management</a:t>
            </a:r>
            <a:endParaRPr lang="en-US" sz="950" dirty="0"/>
          </a:p>
        </p:txBody>
      </p:sp>
      <p:sp>
        <p:nvSpPr>
          <p:cNvPr id="7" name="Shape 4"/>
          <p:cNvSpPr/>
          <p:nvPr/>
        </p:nvSpPr>
        <p:spPr>
          <a:xfrm>
            <a:off x="2502256" y="1545336"/>
            <a:ext cx="749808" cy="749808"/>
          </a:xfrm>
          <a:prstGeom prst="ellipse">
            <a:avLst/>
          </a:prstGeom>
          <a:solidFill>
            <a:srgbClr val="2F5D8A"/>
          </a:solidFill>
          <a:effectLst>
            <a:outerShdw blurRad="76200" dist="25400" dir="5400000" algn="bl" rotWithShape="0">
              <a:srgbClr val="13294B">
                <a:alpha val="18000"/>
              </a:srgbClr>
            </a:outerShdw>
          </a:effectLst>
        </p:spPr>
      </p:sp>
      <p:pic>
        <p:nvPicPr>
          <p:cNvPr id="8" name="Image 1" descr="/home/claude/dbs_ppt/icons/nov_role.png"/>
          <p:cNvPicPr>
            <a:picLocks noChangeAspect="1"/>
          </p:cNvPicPr>
          <p:nvPr/>
        </p:nvPicPr>
        <p:blipFill>
          <a:blip r:embed="rId2"/>
          <a:stretch>
            <a:fillRect/>
          </a:stretch>
        </p:blipFill>
        <p:spPr>
          <a:xfrm>
            <a:off x="2675992" y="1719072"/>
            <a:ext cx="402336" cy="402336"/>
          </a:xfrm>
          <a:prstGeom prst="rect">
            <a:avLst/>
          </a:prstGeom>
        </p:spPr>
      </p:pic>
      <p:sp>
        <p:nvSpPr>
          <p:cNvPr id="9" name="Text 5"/>
          <p:cNvSpPr/>
          <p:nvPr/>
        </p:nvSpPr>
        <p:spPr>
          <a:xfrm>
            <a:off x="2054200" y="2331720"/>
            <a:ext cx="1645920" cy="502920"/>
          </a:xfrm>
          <a:prstGeom prst="rect">
            <a:avLst/>
          </a:prstGeom>
          <a:noFill/>
        </p:spPr>
        <p:txBody>
          <a:bodyPr wrap="square" rtlCol="0" anchor="ctr"/>
          <a:lstStyle/>
          <a:p>
            <a:pPr marL="0" indent="0" algn="ctr">
              <a:lnSpc>
                <a:spcPct val="105000"/>
              </a:lnSpc>
              <a:buNone/>
            </a:pPr>
            <a:r>
              <a:rPr lang="en-US" sz="950" b="1" dirty="0">
                <a:solidFill>
                  <a:srgbClr val="1B2A4A"/>
                </a:solidFill>
                <a:latin typeface="Calibri" pitchFamily="34" charset="0"/>
                <a:ea typeface="Calibri" pitchFamily="34" charset="-122"/>
                <a:cs typeface="Calibri" pitchFamily="34" charset="-120"/>
              </a:rPr>
              <a:t>Role-Based Access</a:t>
            </a:r>
            <a:endParaRPr lang="en-US" sz="950" dirty="0"/>
          </a:p>
        </p:txBody>
      </p:sp>
      <p:sp>
        <p:nvSpPr>
          <p:cNvPr id="10" name="Shape 6"/>
          <p:cNvSpPr/>
          <p:nvPr/>
        </p:nvSpPr>
        <p:spPr>
          <a:xfrm>
            <a:off x="4111600" y="1545336"/>
            <a:ext cx="749808" cy="749808"/>
          </a:xfrm>
          <a:prstGeom prst="ellipse">
            <a:avLst/>
          </a:prstGeom>
          <a:solidFill>
            <a:srgbClr val="13294B"/>
          </a:solidFill>
          <a:effectLst>
            <a:outerShdw blurRad="76200" dist="25400" dir="5400000" algn="bl" rotWithShape="0">
              <a:srgbClr val="13294B">
                <a:alpha val="18000"/>
              </a:srgbClr>
            </a:outerShdw>
          </a:effectLst>
        </p:spPr>
      </p:sp>
      <p:pic>
        <p:nvPicPr>
          <p:cNvPr id="11" name="Image 2" descr="/home/claude/dbs_ppt/icons/nov_version.png"/>
          <p:cNvPicPr>
            <a:picLocks noChangeAspect="1"/>
          </p:cNvPicPr>
          <p:nvPr/>
        </p:nvPicPr>
        <p:blipFill>
          <a:blip r:embed="rId3"/>
          <a:stretch>
            <a:fillRect/>
          </a:stretch>
        </p:blipFill>
        <p:spPr>
          <a:xfrm>
            <a:off x="4285336" y="1719072"/>
            <a:ext cx="402336" cy="402336"/>
          </a:xfrm>
          <a:prstGeom prst="rect">
            <a:avLst/>
          </a:prstGeom>
        </p:spPr>
      </p:pic>
      <p:sp>
        <p:nvSpPr>
          <p:cNvPr id="12" name="Text 7"/>
          <p:cNvSpPr/>
          <p:nvPr/>
        </p:nvSpPr>
        <p:spPr>
          <a:xfrm>
            <a:off x="3663544" y="2331720"/>
            <a:ext cx="1645920" cy="502920"/>
          </a:xfrm>
          <a:prstGeom prst="rect">
            <a:avLst/>
          </a:prstGeom>
          <a:noFill/>
        </p:spPr>
        <p:txBody>
          <a:bodyPr wrap="square" rtlCol="0" anchor="ctr"/>
          <a:lstStyle/>
          <a:p>
            <a:pPr marL="0" indent="0" algn="ctr">
              <a:lnSpc>
                <a:spcPct val="105000"/>
              </a:lnSpc>
              <a:buNone/>
            </a:pPr>
            <a:r>
              <a:rPr lang="en-US" sz="950" b="1" dirty="0">
                <a:solidFill>
                  <a:srgbClr val="1B2A4A"/>
                </a:solidFill>
                <a:latin typeface="Calibri" pitchFamily="34" charset="0"/>
                <a:ea typeface="Calibri" pitchFamily="34" charset="-122"/>
                <a:cs typeface="Calibri" pitchFamily="34" charset="-120"/>
              </a:rPr>
              <a:t>Version Control</a:t>
            </a:r>
            <a:endParaRPr lang="en-US" sz="950" dirty="0"/>
          </a:p>
        </p:txBody>
      </p:sp>
      <p:sp>
        <p:nvSpPr>
          <p:cNvPr id="13" name="Shape 8"/>
          <p:cNvSpPr/>
          <p:nvPr/>
        </p:nvSpPr>
        <p:spPr>
          <a:xfrm>
            <a:off x="5720944" y="1545336"/>
            <a:ext cx="749808" cy="749808"/>
          </a:xfrm>
          <a:prstGeom prst="ellipse">
            <a:avLst/>
          </a:prstGeom>
          <a:solidFill>
            <a:srgbClr val="2F5D8A"/>
          </a:solidFill>
          <a:effectLst>
            <a:outerShdw blurRad="76200" dist="25400" dir="5400000" algn="bl" rotWithShape="0">
              <a:srgbClr val="13294B">
                <a:alpha val="18000"/>
              </a:srgbClr>
            </a:outerShdw>
          </a:effectLst>
        </p:spPr>
      </p:sp>
      <p:pic>
        <p:nvPicPr>
          <p:cNvPr id="14" name="Image 3" descr="/home/claude/dbs_ppt/icons/nov_search.png"/>
          <p:cNvPicPr>
            <a:picLocks noChangeAspect="1"/>
          </p:cNvPicPr>
          <p:nvPr/>
        </p:nvPicPr>
        <p:blipFill>
          <a:blip r:embed="rId4"/>
          <a:stretch>
            <a:fillRect/>
          </a:stretch>
        </p:blipFill>
        <p:spPr>
          <a:xfrm>
            <a:off x="5894680" y="1719072"/>
            <a:ext cx="402336" cy="402336"/>
          </a:xfrm>
          <a:prstGeom prst="rect">
            <a:avLst/>
          </a:prstGeom>
        </p:spPr>
      </p:pic>
      <p:sp>
        <p:nvSpPr>
          <p:cNvPr id="15" name="Text 9"/>
          <p:cNvSpPr/>
          <p:nvPr/>
        </p:nvSpPr>
        <p:spPr>
          <a:xfrm>
            <a:off x="5272888" y="2331720"/>
            <a:ext cx="1645920" cy="502920"/>
          </a:xfrm>
          <a:prstGeom prst="rect">
            <a:avLst/>
          </a:prstGeom>
          <a:noFill/>
        </p:spPr>
        <p:txBody>
          <a:bodyPr wrap="square" rtlCol="0" anchor="ctr"/>
          <a:lstStyle/>
          <a:p>
            <a:pPr marL="0" indent="0" algn="ctr">
              <a:lnSpc>
                <a:spcPct val="105000"/>
              </a:lnSpc>
              <a:buNone/>
            </a:pPr>
            <a:r>
              <a:rPr lang="en-US" sz="950" b="1" dirty="0">
                <a:solidFill>
                  <a:srgbClr val="1B2A4A"/>
                </a:solidFill>
                <a:latin typeface="Calibri" pitchFamily="34" charset="0"/>
                <a:ea typeface="Calibri" pitchFamily="34" charset="-122"/>
                <a:cs typeface="Calibri" pitchFamily="34" charset="-120"/>
              </a:rPr>
              <a:t>Intelligent Search</a:t>
            </a:r>
            <a:endParaRPr lang="en-US" sz="950" dirty="0"/>
          </a:p>
        </p:txBody>
      </p:sp>
      <p:sp>
        <p:nvSpPr>
          <p:cNvPr id="16" name="Shape 10"/>
          <p:cNvSpPr/>
          <p:nvPr/>
        </p:nvSpPr>
        <p:spPr>
          <a:xfrm>
            <a:off x="7330288" y="1545336"/>
            <a:ext cx="749808" cy="749808"/>
          </a:xfrm>
          <a:prstGeom prst="ellipse">
            <a:avLst/>
          </a:prstGeom>
          <a:solidFill>
            <a:srgbClr val="13294B"/>
          </a:solidFill>
          <a:effectLst>
            <a:outerShdw blurRad="76200" dist="25400" dir="5400000" algn="bl" rotWithShape="0">
              <a:srgbClr val="13294B">
                <a:alpha val="18000"/>
              </a:srgbClr>
            </a:outerShdw>
          </a:effectLst>
        </p:spPr>
      </p:sp>
      <p:pic>
        <p:nvPicPr>
          <p:cNvPr id="17" name="Image 4" descr="/home/claude/dbs_ppt/icons/nov_workflow.png"/>
          <p:cNvPicPr>
            <a:picLocks noChangeAspect="1"/>
          </p:cNvPicPr>
          <p:nvPr/>
        </p:nvPicPr>
        <p:blipFill>
          <a:blip r:embed="rId5"/>
          <a:stretch>
            <a:fillRect/>
          </a:stretch>
        </p:blipFill>
        <p:spPr>
          <a:xfrm>
            <a:off x="7504024" y="1719072"/>
            <a:ext cx="402336" cy="402336"/>
          </a:xfrm>
          <a:prstGeom prst="rect">
            <a:avLst/>
          </a:prstGeom>
        </p:spPr>
      </p:pic>
      <p:sp>
        <p:nvSpPr>
          <p:cNvPr id="18" name="Text 11"/>
          <p:cNvSpPr/>
          <p:nvPr/>
        </p:nvSpPr>
        <p:spPr>
          <a:xfrm>
            <a:off x="6882232" y="2331720"/>
            <a:ext cx="1645920" cy="502920"/>
          </a:xfrm>
          <a:prstGeom prst="rect">
            <a:avLst/>
          </a:prstGeom>
          <a:noFill/>
        </p:spPr>
        <p:txBody>
          <a:bodyPr wrap="square" rtlCol="0" anchor="ctr"/>
          <a:lstStyle/>
          <a:p>
            <a:pPr marL="0" indent="0" algn="ctr">
              <a:lnSpc>
                <a:spcPct val="105000"/>
              </a:lnSpc>
              <a:buNone/>
            </a:pPr>
            <a:r>
              <a:rPr lang="en-US" sz="950" b="1" dirty="0">
                <a:solidFill>
                  <a:srgbClr val="1B2A4A"/>
                </a:solidFill>
                <a:latin typeface="Calibri" pitchFamily="34" charset="0"/>
                <a:ea typeface="Calibri" pitchFamily="34" charset="-122"/>
                <a:cs typeface="Calibri" pitchFamily="34" charset="-120"/>
              </a:rPr>
              <a:t>Workflow Automation</a:t>
            </a:r>
            <a:endParaRPr lang="en-US" sz="950" dirty="0"/>
          </a:p>
        </p:txBody>
      </p:sp>
      <p:sp>
        <p:nvSpPr>
          <p:cNvPr id="19" name="Shape 12"/>
          <p:cNvSpPr/>
          <p:nvPr/>
        </p:nvSpPr>
        <p:spPr>
          <a:xfrm>
            <a:off x="8939632" y="1545336"/>
            <a:ext cx="749808" cy="749808"/>
          </a:xfrm>
          <a:prstGeom prst="ellipse">
            <a:avLst/>
          </a:prstGeom>
          <a:solidFill>
            <a:srgbClr val="2F5D8A"/>
          </a:solidFill>
          <a:effectLst>
            <a:outerShdw blurRad="76200" dist="25400" dir="5400000" algn="bl" rotWithShape="0">
              <a:srgbClr val="13294B">
                <a:alpha val="18000"/>
              </a:srgbClr>
            </a:outerShdw>
          </a:effectLst>
        </p:spPr>
      </p:sp>
      <p:pic>
        <p:nvPicPr>
          <p:cNvPr id="20" name="Image 5" descr="/home/claude/dbs_ppt/icons/nov_activity.png"/>
          <p:cNvPicPr>
            <a:picLocks noChangeAspect="1"/>
          </p:cNvPicPr>
          <p:nvPr/>
        </p:nvPicPr>
        <p:blipFill>
          <a:blip r:embed="rId6"/>
          <a:stretch>
            <a:fillRect/>
          </a:stretch>
        </p:blipFill>
        <p:spPr>
          <a:xfrm>
            <a:off x="9113368" y="1719072"/>
            <a:ext cx="402336" cy="402336"/>
          </a:xfrm>
          <a:prstGeom prst="rect">
            <a:avLst/>
          </a:prstGeom>
        </p:spPr>
      </p:pic>
      <p:sp>
        <p:nvSpPr>
          <p:cNvPr id="21" name="Text 13"/>
          <p:cNvSpPr/>
          <p:nvPr/>
        </p:nvSpPr>
        <p:spPr>
          <a:xfrm>
            <a:off x="8491576" y="2331720"/>
            <a:ext cx="1645920" cy="502920"/>
          </a:xfrm>
          <a:prstGeom prst="rect">
            <a:avLst/>
          </a:prstGeom>
          <a:noFill/>
        </p:spPr>
        <p:txBody>
          <a:bodyPr wrap="square" rtlCol="0" anchor="ctr"/>
          <a:lstStyle/>
          <a:p>
            <a:pPr marL="0" indent="0" algn="ctr">
              <a:lnSpc>
                <a:spcPct val="105000"/>
              </a:lnSpc>
              <a:buNone/>
            </a:pPr>
            <a:r>
              <a:rPr lang="en-US" sz="950" b="1" dirty="0">
                <a:solidFill>
                  <a:srgbClr val="1B2A4A"/>
                </a:solidFill>
                <a:latin typeface="Calibri" pitchFamily="34" charset="0"/>
                <a:ea typeface="Calibri" pitchFamily="34" charset="-122"/>
                <a:cs typeface="Calibri" pitchFamily="34" charset="-120"/>
              </a:rPr>
              <a:t>Activity Tracking</a:t>
            </a:r>
            <a:endParaRPr lang="en-US" sz="950" dirty="0"/>
          </a:p>
        </p:txBody>
      </p:sp>
      <p:sp>
        <p:nvSpPr>
          <p:cNvPr id="22" name="Shape 14"/>
          <p:cNvSpPr/>
          <p:nvPr/>
        </p:nvSpPr>
        <p:spPr>
          <a:xfrm>
            <a:off x="10548976" y="1545336"/>
            <a:ext cx="749808" cy="749808"/>
          </a:xfrm>
          <a:prstGeom prst="ellipse">
            <a:avLst/>
          </a:prstGeom>
          <a:solidFill>
            <a:srgbClr val="13294B"/>
          </a:solidFill>
          <a:effectLst>
            <a:outerShdw blurRad="76200" dist="25400" dir="5400000" algn="bl" rotWithShape="0">
              <a:srgbClr val="13294B">
                <a:alpha val="18000"/>
              </a:srgbClr>
            </a:outerShdw>
          </a:effectLst>
        </p:spPr>
      </p:sp>
      <p:pic>
        <p:nvPicPr>
          <p:cNvPr id="23" name="Image 6" descr="/home/claude/dbs_ppt/icons/nov_collab.png"/>
          <p:cNvPicPr>
            <a:picLocks noChangeAspect="1"/>
          </p:cNvPicPr>
          <p:nvPr/>
        </p:nvPicPr>
        <p:blipFill>
          <a:blip r:embed="rId7"/>
          <a:stretch>
            <a:fillRect/>
          </a:stretch>
        </p:blipFill>
        <p:spPr>
          <a:xfrm>
            <a:off x="10722712" y="1719072"/>
            <a:ext cx="402336" cy="402336"/>
          </a:xfrm>
          <a:prstGeom prst="rect">
            <a:avLst/>
          </a:prstGeom>
        </p:spPr>
      </p:pic>
      <p:sp>
        <p:nvSpPr>
          <p:cNvPr id="24" name="Text 15"/>
          <p:cNvSpPr/>
          <p:nvPr/>
        </p:nvSpPr>
        <p:spPr>
          <a:xfrm>
            <a:off x="10100920" y="2331720"/>
            <a:ext cx="1645920" cy="502920"/>
          </a:xfrm>
          <a:prstGeom prst="rect">
            <a:avLst/>
          </a:prstGeom>
          <a:noFill/>
        </p:spPr>
        <p:txBody>
          <a:bodyPr wrap="square" rtlCol="0" anchor="ctr"/>
          <a:lstStyle/>
          <a:p>
            <a:pPr marL="0" indent="0" algn="ctr">
              <a:lnSpc>
                <a:spcPct val="105000"/>
              </a:lnSpc>
              <a:buNone/>
            </a:pPr>
            <a:r>
              <a:rPr lang="en-US" sz="950" b="1" dirty="0">
                <a:solidFill>
                  <a:srgbClr val="1B2A4A"/>
                </a:solidFill>
                <a:latin typeface="Calibri" pitchFamily="34" charset="0"/>
                <a:ea typeface="Calibri" pitchFamily="34" charset="-122"/>
                <a:cs typeface="Calibri" pitchFamily="34" charset="-120"/>
              </a:rPr>
              <a:t>Better Collaboration</a:t>
            </a:r>
            <a:endParaRPr lang="en-US" sz="950" dirty="0"/>
          </a:p>
        </p:txBody>
      </p:sp>
      <p:sp>
        <p:nvSpPr>
          <p:cNvPr id="25" name="Text 16"/>
          <p:cNvSpPr/>
          <p:nvPr/>
        </p:nvSpPr>
        <p:spPr>
          <a:xfrm>
            <a:off x="548640" y="3063240"/>
            <a:ext cx="7315200" cy="274320"/>
          </a:xfrm>
          <a:prstGeom prst="rect">
            <a:avLst/>
          </a:prstGeom>
          <a:noFill/>
        </p:spPr>
        <p:txBody>
          <a:bodyPr wrap="square" rtlCol="0" anchor="ctr"/>
          <a:lstStyle/>
          <a:p>
            <a:pPr marL="0" indent="0">
              <a:buNone/>
            </a:pPr>
            <a:r>
              <a:rPr lang="en-US" sz="1100" b="1" kern="0" spc="100" dirty="0">
                <a:solidFill>
                  <a:srgbClr val="2F5D8A"/>
                </a:solidFill>
                <a:latin typeface="Calibri" pitchFamily="34" charset="0"/>
                <a:ea typeface="Calibri" pitchFamily="34" charset="-122"/>
                <a:cs typeface="Calibri" pitchFamily="34" charset="-120"/>
              </a:rPr>
              <a:t>MANUAL SYSTEMS  vs.  PROPOSED PLATFORM</a:t>
            </a:r>
            <a:endParaRPr lang="en-US" sz="1100" dirty="0"/>
          </a:p>
        </p:txBody>
      </p:sp>
      <p:sp>
        <p:nvSpPr>
          <p:cNvPr id="26" name="Shape 17"/>
          <p:cNvSpPr/>
          <p:nvPr/>
        </p:nvSpPr>
        <p:spPr>
          <a:xfrm>
            <a:off x="548640" y="3429000"/>
            <a:ext cx="11064240" cy="384048"/>
          </a:xfrm>
          <a:prstGeom prst="roundRect">
            <a:avLst>
              <a:gd name="adj" fmla="val 11905"/>
            </a:avLst>
          </a:prstGeom>
          <a:solidFill>
            <a:srgbClr val="13294B"/>
          </a:solidFill>
        </p:spPr>
      </p:sp>
      <p:sp>
        <p:nvSpPr>
          <p:cNvPr id="27" name="Text 18"/>
          <p:cNvSpPr/>
          <p:nvPr/>
        </p:nvSpPr>
        <p:spPr>
          <a:xfrm>
            <a:off x="685800" y="3429000"/>
            <a:ext cx="2240280" cy="384048"/>
          </a:xfrm>
          <a:prstGeom prst="rect">
            <a:avLst/>
          </a:prstGeom>
          <a:noFill/>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ASPECT</a:t>
            </a:r>
            <a:endParaRPr lang="en-US" sz="1050" dirty="0"/>
          </a:p>
        </p:txBody>
      </p:sp>
      <p:sp>
        <p:nvSpPr>
          <p:cNvPr id="28" name="Text 19"/>
          <p:cNvSpPr/>
          <p:nvPr/>
        </p:nvSpPr>
        <p:spPr>
          <a:xfrm>
            <a:off x="2926080" y="3429000"/>
            <a:ext cx="4206240" cy="384048"/>
          </a:xfrm>
          <a:prstGeom prst="rect">
            <a:avLst/>
          </a:prstGeom>
          <a:noFill/>
        </p:spPr>
        <p:txBody>
          <a:bodyPr wrap="square" rtlCol="0" anchor="ctr"/>
          <a:lstStyle/>
          <a:p>
            <a:pPr marL="0" indent="0">
              <a:buNone/>
            </a:pPr>
            <a:r>
              <a:rPr lang="en-US" sz="1050" b="1" dirty="0">
                <a:solidFill>
                  <a:srgbClr val="F2C6C0"/>
                </a:solidFill>
                <a:latin typeface="Calibri" pitchFamily="34" charset="0"/>
                <a:ea typeface="Calibri" pitchFamily="34" charset="-122"/>
                <a:cs typeface="Calibri" pitchFamily="34" charset="-120"/>
              </a:rPr>
              <a:t>MANUAL SYSTEM</a:t>
            </a:r>
            <a:endParaRPr lang="en-US" sz="1050" dirty="0"/>
          </a:p>
        </p:txBody>
      </p:sp>
      <p:sp>
        <p:nvSpPr>
          <p:cNvPr id="29" name="Text 20"/>
          <p:cNvSpPr/>
          <p:nvPr/>
        </p:nvSpPr>
        <p:spPr>
          <a:xfrm>
            <a:off x="7132320" y="3429000"/>
            <a:ext cx="4480560" cy="384048"/>
          </a:xfrm>
          <a:prstGeom prst="rect">
            <a:avLst/>
          </a:prstGeom>
          <a:noFill/>
        </p:spPr>
        <p:txBody>
          <a:bodyPr wrap="square" rtlCol="0" anchor="ctr"/>
          <a:lstStyle/>
          <a:p>
            <a:pPr marL="0" indent="0">
              <a:buNone/>
            </a:pPr>
            <a:r>
              <a:rPr lang="en-US" sz="1050" b="1" dirty="0">
                <a:solidFill>
                  <a:srgbClr val="C9E6D6"/>
                </a:solidFill>
                <a:latin typeface="Calibri" pitchFamily="34" charset="0"/>
                <a:ea typeface="Calibri" pitchFamily="34" charset="-122"/>
                <a:cs typeface="Calibri" pitchFamily="34" charset="-120"/>
              </a:rPr>
              <a:t>PROPOSED PLATFORM</a:t>
            </a:r>
            <a:endParaRPr lang="en-US" sz="1050" dirty="0"/>
          </a:p>
        </p:txBody>
      </p:sp>
      <p:sp>
        <p:nvSpPr>
          <p:cNvPr id="30" name="Text 21"/>
          <p:cNvSpPr/>
          <p:nvPr/>
        </p:nvSpPr>
        <p:spPr>
          <a:xfrm>
            <a:off x="685800" y="3813048"/>
            <a:ext cx="2240280" cy="457200"/>
          </a:xfrm>
          <a:prstGeom prst="rect">
            <a:avLst/>
          </a:prstGeom>
          <a:noFill/>
        </p:spPr>
        <p:txBody>
          <a:bodyPr wrap="square"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Document Storage</a:t>
            </a:r>
            <a:endParaRPr lang="en-US" sz="1050" dirty="0"/>
          </a:p>
        </p:txBody>
      </p:sp>
      <p:pic>
        <p:nvPicPr>
          <p:cNvPr id="31" name="Image 7" descr="/home/claude/dbs_ppt/icons/nov_cross.png"/>
          <p:cNvPicPr>
            <a:picLocks noChangeAspect="1"/>
          </p:cNvPicPr>
          <p:nvPr/>
        </p:nvPicPr>
        <p:blipFill>
          <a:blip r:embed="rId8"/>
          <a:stretch>
            <a:fillRect/>
          </a:stretch>
        </p:blipFill>
        <p:spPr>
          <a:xfrm>
            <a:off x="2926080" y="3941064"/>
            <a:ext cx="201168" cy="201168"/>
          </a:xfrm>
          <a:prstGeom prst="rect">
            <a:avLst/>
          </a:prstGeom>
        </p:spPr>
      </p:pic>
      <p:sp>
        <p:nvSpPr>
          <p:cNvPr id="32" name="Text 22"/>
          <p:cNvSpPr/>
          <p:nvPr/>
        </p:nvSpPr>
        <p:spPr>
          <a:xfrm>
            <a:off x="3218688" y="3813048"/>
            <a:ext cx="3913632" cy="457200"/>
          </a:xfrm>
          <a:prstGeom prst="rect">
            <a:avLst/>
          </a:prstGeom>
          <a:noFill/>
        </p:spPr>
        <p:txBody>
          <a:bodyPr wrap="square" rtlCol="0" anchor="ctr"/>
          <a:lstStyle/>
          <a:p>
            <a:pPr marL="0" indent="0">
              <a:buNone/>
            </a:pPr>
            <a:r>
              <a:rPr lang="en-US" sz="1000" dirty="0">
                <a:solidFill>
                  <a:srgbClr val="5B6B82"/>
                </a:solidFill>
                <a:latin typeface="Calibri" pitchFamily="34" charset="0"/>
                <a:ea typeface="Calibri" pitchFamily="34" charset="-122"/>
                <a:cs typeface="Calibri" pitchFamily="34" charset="-120"/>
              </a:rPr>
              <a:t>Physical files / local folders</a:t>
            </a:r>
            <a:endParaRPr lang="en-US" sz="1000" dirty="0"/>
          </a:p>
        </p:txBody>
      </p:sp>
      <p:pic>
        <p:nvPicPr>
          <p:cNvPr id="33" name="Image 8" descr="/home/claude/dbs_ppt/icons/nov_check.png"/>
          <p:cNvPicPr>
            <a:picLocks noChangeAspect="1"/>
          </p:cNvPicPr>
          <p:nvPr/>
        </p:nvPicPr>
        <p:blipFill>
          <a:blip r:embed="rId9"/>
          <a:stretch>
            <a:fillRect/>
          </a:stretch>
        </p:blipFill>
        <p:spPr>
          <a:xfrm>
            <a:off x="7132320" y="3941064"/>
            <a:ext cx="201168" cy="201168"/>
          </a:xfrm>
          <a:prstGeom prst="rect">
            <a:avLst/>
          </a:prstGeom>
        </p:spPr>
      </p:pic>
      <p:sp>
        <p:nvSpPr>
          <p:cNvPr id="34" name="Text 23"/>
          <p:cNvSpPr/>
          <p:nvPr/>
        </p:nvSpPr>
        <p:spPr>
          <a:xfrm>
            <a:off x="7424928" y="3813048"/>
            <a:ext cx="4187952" cy="457200"/>
          </a:xfrm>
          <a:prstGeom prst="rect">
            <a:avLst/>
          </a:prstGeom>
          <a:noFill/>
        </p:spPr>
        <p:txBody>
          <a:bodyPr wrap="square" rtlCol="0" anchor="ctr"/>
          <a:lstStyle/>
          <a:p>
            <a:pPr marL="0" indent="0">
              <a:buNone/>
            </a:pPr>
            <a:r>
              <a:rPr lang="en-US" sz="1000" dirty="0">
                <a:solidFill>
                  <a:srgbClr val="1B2A4A"/>
                </a:solidFill>
                <a:latin typeface="Calibri" pitchFamily="34" charset="0"/>
                <a:ea typeface="Calibri" pitchFamily="34" charset="-122"/>
                <a:cs typeface="Calibri" pitchFamily="34" charset="-120"/>
              </a:rPr>
              <a:t>Centralized cloud-ready repository</a:t>
            </a:r>
            <a:endParaRPr lang="en-US" sz="1000" dirty="0"/>
          </a:p>
        </p:txBody>
      </p:sp>
      <p:sp>
        <p:nvSpPr>
          <p:cNvPr id="35" name="Shape 24"/>
          <p:cNvSpPr/>
          <p:nvPr/>
        </p:nvSpPr>
        <p:spPr>
          <a:xfrm>
            <a:off x="548640" y="4270248"/>
            <a:ext cx="11064240" cy="457200"/>
          </a:xfrm>
          <a:prstGeom prst="rect">
            <a:avLst/>
          </a:prstGeom>
          <a:solidFill>
            <a:srgbClr val="F4F7FB"/>
          </a:solidFill>
        </p:spPr>
      </p:sp>
      <p:sp>
        <p:nvSpPr>
          <p:cNvPr id="36" name="Text 25"/>
          <p:cNvSpPr/>
          <p:nvPr/>
        </p:nvSpPr>
        <p:spPr>
          <a:xfrm>
            <a:off x="685800" y="4270248"/>
            <a:ext cx="2240280" cy="457200"/>
          </a:xfrm>
          <a:prstGeom prst="rect">
            <a:avLst/>
          </a:prstGeom>
          <a:noFill/>
        </p:spPr>
        <p:txBody>
          <a:bodyPr wrap="square"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Search</a:t>
            </a:r>
            <a:endParaRPr lang="en-US" sz="1050" dirty="0"/>
          </a:p>
        </p:txBody>
      </p:sp>
      <p:pic>
        <p:nvPicPr>
          <p:cNvPr id="37" name="Image 9" descr="/home/claude/dbs_ppt/icons/nov_cross.png"/>
          <p:cNvPicPr>
            <a:picLocks noChangeAspect="1"/>
          </p:cNvPicPr>
          <p:nvPr/>
        </p:nvPicPr>
        <p:blipFill>
          <a:blip r:embed="rId8"/>
          <a:stretch>
            <a:fillRect/>
          </a:stretch>
        </p:blipFill>
        <p:spPr>
          <a:xfrm>
            <a:off x="2926080" y="4398264"/>
            <a:ext cx="201168" cy="201168"/>
          </a:xfrm>
          <a:prstGeom prst="rect">
            <a:avLst/>
          </a:prstGeom>
        </p:spPr>
      </p:pic>
      <p:sp>
        <p:nvSpPr>
          <p:cNvPr id="38" name="Text 26"/>
          <p:cNvSpPr/>
          <p:nvPr/>
        </p:nvSpPr>
        <p:spPr>
          <a:xfrm>
            <a:off x="3218688" y="4270248"/>
            <a:ext cx="3913632" cy="457200"/>
          </a:xfrm>
          <a:prstGeom prst="rect">
            <a:avLst/>
          </a:prstGeom>
          <a:noFill/>
        </p:spPr>
        <p:txBody>
          <a:bodyPr wrap="square" rtlCol="0" anchor="ctr"/>
          <a:lstStyle/>
          <a:p>
            <a:pPr marL="0" indent="0">
              <a:buNone/>
            </a:pPr>
            <a:r>
              <a:rPr lang="en-US" sz="1000" dirty="0">
                <a:solidFill>
                  <a:srgbClr val="5B6B82"/>
                </a:solidFill>
                <a:latin typeface="Calibri" pitchFamily="34" charset="0"/>
                <a:ea typeface="Calibri" pitchFamily="34" charset="-122"/>
                <a:cs typeface="Calibri" pitchFamily="34" charset="-120"/>
              </a:rPr>
              <a:t>Manual browsing, slow</a:t>
            </a:r>
            <a:endParaRPr lang="en-US" sz="1000" dirty="0"/>
          </a:p>
        </p:txBody>
      </p:sp>
      <p:pic>
        <p:nvPicPr>
          <p:cNvPr id="39" name="Image 10" descr="/home/claude/dbs_ppt/icons/nov_check.png"/>
          <p:cNvPicPr>
            <a:picLocks noChangeAspect="1"/>
          </p:cNvPicPr>
          <p:nvPr/>
        </p:nvPicPr>
        <p:blipFill>
          <a:blip r:embed="rId9"/>
          <a:stretch>
            <a:fillRect/>
          </a:stretch>
        </p:blipFill>
        <p:spPr>
          <a:xfrm>
            <a:off x="7132320" y="4398264"/>
            <a:ext cx="201168" cy="201168"/>
          </a:xfrm>
          <a:prstGeom prst="rect">
            <a:avLst/>
          </a:prstGeom>
        </p:spPr>
      </p:pic>
      <p:sp>
        <p:nvSpPr>
          <p:cNvPr id="40" name="Text 27"/>
          <p:cNvSpPr/>
          <p:nvPr/>
        </p:nvSpPr>
        <p:spPr>
          <a:xfrm>
            <a:off x="7424928" y="4270248"/>
            <a:ext cx="4187952" cy="457200"/>
          </a:xfrm>
          <a:prstGeom prst="rect">
            <a:avLst/>
          </a:prstGeom>
          <a:noFill/>
        </p:spPr>
        <p:txBody>
          <a:bodyPr wrap="square" rtlCol="0" anchor="ctr"/>
          <a:lstStyle/>
          <a:p>
            <a:pPr marL="0" indent="0">
              <a:buNone/>
            </a:pPr>
            <a:r>
              <a:rPr lang="en-US" sz="1000" dirty="0">
                <a:solidFill>
                  <a:srgbClr val="1B2A4A"/>
                </a:solidFill>
                <a:latin typeface="Calibri" pitchFamily="34" charset="0"/>
                <a:ea typeface="Calibri" pitchFamily="34" charset="-122"/>
                <a:cs typeface="Calibri" pitchFamily="34" charset="-120"/>
              </a:rPr>
              <a:t>Instant keyword-based search</a:t>
            </a:r>
            <a:endParaRPr lang="en-US" sz="1000" dirty="0"/>
          </a:p>
        </p:txBody>
      </p:sp>
      <p:sp>
        <p:nvSpPr>
          <p:cNvPr id="41" name="Text 28"/>
          <p:cNvSpPr/>
          <p:nvPr/>
        </p:nvSpPr>
        <p:spPr>
          <a:xfrm>
            <a:off x="685800" y="4727448"/>
            <a:ext cx="2240280" cy="457200"/>
          </a:xfrm>
          <a:prstGeom prst="rect">
            <a:avLst/>
          </a:prstGeom>
          <a:noFill/>
        </p:spPr>
        <p:txBody>
          <a:bodyPr wrap="square"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Access Control</a:t>
            </a:r>
            <a:endParaRPr lang="en-US" sz="1050" dirty="0"/>
          </a:p>
        </p:txBody>
      </p:sp>
      <p:pic>
        <p:nvPicPr>
          <p:cNvPr id="42" name="Image 11" descr="/home/claude/dbs_ppt/icons/nov_cross.png"/>
          <p:cNvPicPr>
            <a:picLocks noChangeAspect="1"/>
          </p:cNvPicPr>
          <p:nvPr/>
        </p:nvPicPr>
        <p:blipFill>
          <a:blip r:embed="rId8"/>
          <a:stretch>
            <a:fillRect/>
          </a:stretch>
        </p:blipFill>
        <p:spPr>
          <a:xfrm>
            <a:off x="2926080" y="4855464"/>
            <a:ext cx="201168" cy="201168"/>
          </a:xfrm>
          <a:prstGeom prst="rect">
            <a:avLst/>
          </a:prstGeom>
        </p:spPr>
      </p:pic>
      <p:sp>
        <p:nvSpPr>
          <p:cNvPr id="43" name="Text 29"/>
          <p:cNvSpPr/>
          <p:nvPr/>
        </p:nvSpPr>
        <p:spPr>
          <a:xfrm>
            <a:off x="3218688" y="4727448"/>
            <a:ext cx="3913632" cy="457200"/>
          </a:xfrm>
          <a:prstGeom prst="rect">
            <a:avLst/>
          </a:prstGeom>
          <a:noFill/>
        </p:spPr>
        <p:txBody>
          <a:bodyPr wrap="square" rtlCol="0" anchor="ctr"/>
          <a:lstStyle/>
          <a:p>
            <a:pPr marL="0" indent="0">
              <a:buNone/>
            </a:pPr>
            <a:r>
              <a:rPr lang="en-US" sz="1000" dirty="0">
                <a:solidFill>
                  <a:srgbClr val="5B6B82"/>
                </a:solidFill>
                <a:latin typeface="Calibri" pitchFamily="34" charset="0"/>
                <a:ea typeface="Calibri" pitchFamily="34" charset="-122"/>
                <a:cs typeface="Calibri" pitchFamily="34" charset="-120"/>
              </a:rPr>
              <a:t>No structured permissions</a:t>
            </a:r>
            <a:endParaRPr lang="en-US" sz="1000" dirty="0"/>
          </a:p>
        </p:txBody>
      </p:sp>
      <p:pic>
        <p:nvPicPr>
          <p:cNvPr id="44" name="Image 12" descr="/home/claude/dbs_ppt/icons/nov_check.png"/>
          <p:cNvPicPr>
            <a:picLocks noChangeAspect="1"/>
          </p:cNvPicPr>
          <p:nvPr/>
        </p:nvPicPr>
        <p:blipFill>
          <a:blip r:embed="rId9"/>
          <a:stretch>
            <a:fillRect/>
          </a:stretch>
        </p:blipFill>
        <p:spPr>
          <a:xfrm>
            <a:off x="7132320" y="4855464"/>
            <a:ext cx="201168" cy="201168"/>
          </a:xfrm>
          <a:prstGeom prst="rect">
            <a:avLst/>
          </a:prstGeom>
        </p:spPr>
      </p:pic>
      <p:sp>
        <p:nvSpPr>
          <p:cNvPr id="45" name="Text 30"/>
          <p:cNvSpPr/>
          <p:nvPr/>
        </p:nvSpPr>
        <p:spPr>
          <a:xfrm>
            <a:off x="7424928" y="4727448"/>
            <a:ext cx="4187952" cy="457200"/>
          </a:xfrm>
          <a:prstGeom prst="rect">
            <a:avLst/>
          </a:prstGeom>
          <a:noFill/>
        </p:spPr>
        <p:txBody>
          <a:bodyPr wrap="square" rtlCol="0" anchor="ctr"/>
          <a:lstStyle/>
          <a:p>
            <a:pPr marL="0" indent="0">
              <a:buNone/>
            </a:pPr>
            <a:r>
              <a:rPr lang="en-US" sz="1000" dirty="0">
                <a:solidFill>
                  <a:srgbClr val="1B2A4A"/>
                </a:solidFill>
                <a:latin typeface="Calibri" pitchFamily="34" charset="0"/>
                <a:ea typeface="Calibri" pitchFamily="34" charset="-122"/>
                <a:cs typeface="Calibri" pitchFamily="34" charset="-120"/>
              </a:rPr>
              <a:t>Role-based secure access</a:t>
            </a:r>
            <a:endParaRPr lang="en-US" sz="1000" dirty="0"/>
          </a:p>
        </p:txBody>
      </p:sp>
      <p:sp>
        <p:nvSpPr>
          <p:cNvPr id="46" name="Shape 31"/>
          <p:cNvSpPr/>
          <p:nvPr/>
        </p:nvSpPr>
        <p:spPr>
          <a:xfrm>
            <a:off x="548640" y="5184648"/>
            <a:ext cx="11064240" cy="457200"/>
          </a:xfrm>
          <a:prstGeom prst="rect">
            <a:avLst/>
          </a:prstGeom>
          <a:solidFill>
            <a:srgbClr val="F4F7FB"/>
          </a:solidFill>
        </p:spPr>
      </p:sp>
      <p:sp>
        <p:nvSpPr>
          <p:cNvPr id="47" name="Text 32"/>
          <p:cNvSpPr/>
          <p:nvPr/>
        </p:nvSpPr>
        <p:spPr>
          <a:xfrm>
            <a:off x="685800" y="5184648"/>
            <a:ext cx="2240280" cy="457200"/>
          </a:xfrm>
          <a:prstGeom prst="rect">
            <a:avLst/>
          </a:prstGeom>
          <a:noFill/>
        </p:spPr>
        <p:txBody>
          <a:bodyPr wrap="square"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Version Control</a:t>
            </a:r>
            <a:endParaRPr lang="en-US" sz="1050" dirty="0"/>
          </a:p>
        </p:txBody>
      </p:sp>
      <p:pic>
        <p:nvPicPr>
          <p:cNvPr id="48" name="Image 13" descr="/home/claude/dbs_ppt/icons/nov_cross.png"/>
          <p:cNvPicPr>
            <a:picLocks noChangeAspect="1"/>
          </p:cNvPicPr>
          <p:nvPr/>
        </p:nvPicPr>
        <p:blipFill>
          <a:blip r:embed="rId8"/>
          <a:stretch>
            <a:fillRect/>
          </a:stretch>
        </p:blipFill>
        <p:spPr>
          <a:xfrm>
            <a:off x="2926080" y="5312664"/>
            <a:ext cx="201168" cy="201168"/>
          </a:xfrm>
          <a:prstGeom prst="rect">
            <a:avLst/>
          </a:prstGeom>
        </p:spPr>
      </p:pic>
      <p:sp>
        <p:nvSpPr>
          <p:cNvPr id="49" name="Text 33"/>
          <p:cNvSpPr/>
          <p:nvPr/>
        </p:nvSpPr>
        <p:spPr>
          <a:xfrm>
            <a:off x="3218688" y="5184648"/>
            <a:ext cx="3913632" cy="457200"/>
          </a:xfrm>
          <a:prstGeom prst="rect">
            <a:avLst/>
          </a:prstGeom>
          <a:noFill/>
        </p:spPr>
        <p:txBody>
          <a:bodyPr wrap="square" rtlCol="0" anchor="ctr"/>
          <a:lstStyle/>
          <a:p>
            <a:pPr marL="0" indent="0">
              <a:buNone/>
            </a:pPr>
            <a:r>
              <a:rPr lang="en-US" sz="1000" dirty="0">
                <a:solidFill>
                  <a:srgbClr val="5B6B82"/>
                </a:solidFill>
                <a:latin typeface="Calibri" pitchFamily="34" charset="0"/>
                <a:ea typeface="Calibri" pitchFamily="34" charset="-122"/>
                <a:cs typeface="Calibri" pitchFamily="34" charset="-120"/>
              </a:rPr>
              <a:t>Overwritten, lost history</a:t>
            </a:r>
            <a:endParaRPr lang="en-US" sz="1000" dirty="0"/>
          </a:p>
        </p:txBody>
      </p:sp>
      <p:pic>
        <p:nvPicPr>
          <p:cNvPr id="50" name="Image 14" descr="/home/claude/dbs_ppt/icons/nov_check.png"/>
          <p:cNvPicPr>
            <a:picLocks noChangeAspect="1"/>
          </p:cNvPicPr>
          <p:nvPr/>
        </p:nvPicPr>
        <p:blipFill>
          <a:blip r:embed="rId9"/>
          <a:stretch>
            <a:fillRect/>
          </a:stretch>
        </p:blipFill>
        <p:spPr>
          <a:xfrm>
            <a:off x="7132320" y="5312664"/>
            <a:ext cx="201168" cy="201168"/>
          </a:xfrm>
          <a:prstGeom prst="rect">
            <a:avLst/>
          </a:prstGeom>
        </p:spPr>
      </p:pic>
      <p:sp>
        <p:nvSpPr>
          <p:cNvPr id="51" name="Text 34"/>
          <p:cNvSpPr/>
          <p:nvPr/>
        </p:nvSpPr>
        <p:spPr>
          <a:xfrm>
            <a:off x="7424928" y="5184648"/>
            <a:ext cx="4187952" cy="457200"/>
          </a:xfrm>
          <a:prstGeom prst="rect">
            <a:avLst/>
          </a:prstGeom>
          <a:noFill/>
        </p:spPr>
        <p:txBody>
          <a:bodyPr wrap="square" rtlCol="0" anchor="ctr"/>
          <a:lstStyle/>
          <a:p>
            <a:pPr marL="0" indent="0">
              <a:buNone/>
            </a:pPr>
            <a:r>
              <a:rPr lang="en-US" sz="1000" dirty="0">
                <a:solidFill>
                  <a:srgbClr val="1B2A4A"/>
                </a:solidFill>
                <a:latin typeface="Calibri" pitchFamily="34" charset="0"/>
                <a:ea typeface="Calibri" pitchFamily="34" charset="-122"/>
                <a:cs typeface="Calibri" pitchFamily="34" charset="-120"/>
              </a:rPr>
              <a:t>Full version history maintained</a:t>
            </a:r>
            <a:endParaRPr lang="en-US" sz="1000" dirty="0"/>
          </a:p>
        </p:txBody>
      </p:sp>
      <p:sp>
        <p:nvSpPr>
          <p:cNvPr id="52" name="Text 35"/>
          <p:cNvSpPr/>
          <p:nvPr/>
        </p:nvSpPr>
        <p:spPr>
          <a:xfrm>
            <a:off x="685800" y="5641848"/>
            <a:ext cx="2240280" cy="457200"/>
          </a:xfrm>
          <a:prstGeom prst="rect">
            <a:avLst/>
          </a:prstGeom>
          <a:noFill/>
        </p:spPr>
        <p:txBody>
          <a:bodyPr wrap="square" rtlCol="0" anchor="ctr"/>
          <a:lstStyle/>
          <a:p>
            <a:pPr marL="0" indent="0">
              <a:buNone/>
            </a:pPr>
            <a:r>
              <a:rPr lang="en-US" sz="1050" b="1" dirty="0">
                <a:solidFill>
                  <a:srgbClr val="1B2A4A"/>
                </a:solidFill>
                <a:latin typeface="Calibri" pitchFamily="34" charset="0"/>
                <a:ea typeface="Calibri" pitchFamily="34" charset="-122"/>
                <a:cs typeface="Calibri" pitchFamily="34" charset="-120"/>
              </a:rPr>
              <a:t>Collaboration</a:t>
            </a:r>
            <a:endParaRPr lang="en-US" sz="1050" dirty="0"/>
          </a:p>
        </p:txBody>
      </p:sp>
      <p:pic>
        <p:nvPicPr>
          <p:cNvPr id="53" name="Image 15" descr="/home/claude/dbs_ppt/icons/nov_cross.png"/>
          <p:cNvPicPr>
            <a:picLocks noChangeAspect="1"/>
          </p:cNvPicPr>
          <p:nvPr/>
        </p:nvPicPr>
        <p:blipFill>
          <a:blip r:embed="rId8"/>
          <a:stretch>
            <a:fillRect/>
          </a:stretch>
        </p:blipFill>
        <p:spPr>
          <a:xfrm>
            <a:off x="2926080" y="5769864"/>
            <a:ext cx="201168" cy="201168"/>
          </a:xfrm>
          <a:prstGeom prst="rect">
            <a:avLst/>
          </a:prstGeom>
        </p:spPr>
      </p:pic>
      <p:sp>
        <p:nvSpPr>
          <p:cNvPr id="54" name="Text 36"/>
          <p:cNvSpPr/>
          <p:nvPr/>
        </p:nvSpPr>
        <p:spPr>
          <a:xfrm>
            <a:off x="3218688" y="5641848"/>
            <a:ext cx="3913632" cy="457200"/>
          </a:xfrm>
          <a:prstGeom prst="rect">
            <a:avLst/>
          </a:prstGeom>
          <a:noFill/>
        </p:spPr>
        <p:txBody>
          <a:bodyPr wrap="square" rtlCol="0" anchor="ctr"/>
          <a:lstStyle/>
          <a:p>
            <a:pPr marL="0" indent="0">
              <a:buNone/>
            </a:pPr>
            <a:r>
              <a:rPr lang="en-US" sz="1000" dirty="0">
                <a:solidFill>
                  <a:srgbClr val="5B6B82"/>
                </a:solidFill>
                <a:latin typeface="Calibri" pitchFamily="34" charset="0"/>
                <a:ea typeface="Calibri" pitchFamily="34" charset="-122"/>
                <a:cs typeface="Calibri" pitchFamily="34" charset="-120"/>
              </a:rPr>
              <a:t>Email-based</a:t>
            </a:r>
            <a:endParaRPr lang="en-US" sz="1000" dirty="0"/>
          </a:p>
        </p:txBody>
      </p:sp>
      <p:pic>
        <p:nvPicPr>
          <p:cNvPr id="55" name="Image 16" descr="/home/claude/dbs_ppt/icons/nov_check.png"/>
          <p:cNvPicPr>
            <a:picLocks noChangeAspect="1"/>
          </p:cNvPicPr>
          <p:nvPr/>
        </p:nvPicPr>
        <p:blipFill>
          <a:blip r:embed="rId9"/>
          <a:stretch>
            <a:fillRect/>
          </a:stretch>
        </p:blipFill>
        <p:spPr>
          <a:xfrm>
            <a:off x="7132320" y="5769864"/>
            <a:ext cx="201168" cy="201168"/>
          </a:xfrm>
          <a:prstGeom prst="rect">
            <a:avLst/>
          </a:prstGeom>
        </p:spPr>
      </p:pic>
      <p:sp>
        <p:nvSpPr>
          <p:cNvPr id="56" name="Text 37"/>
          <p:cNvSpPr/>
          <p:nvPr/>
        </p:nvSpPr>
        <p:spPr>
          <a:xfrm>
            <a:off x="7424928" y="5641848"/>
            <a:ext cx="4187952" cy="457200"/>
          </a:xfrm>
          <a:prstGeom prst="rect">
            <a:avLst/>
          </a:prstGeom>
          <a:noFill/>
        </p:spPr>
        <p:txBody>
          <a:bodyPr wrap="square" rtlCol="0" anchor="ctr"/>
          <a:lstStyle/>
          <a:p>
            <a:pPr marL="0" indent="0">
              <a:buNone/>
            </a:pPr>
            <a:r>
              <a:rPr lang="en-US" sz="1000" dirty="0">
                <a:solidFill>
                  <a:srgbClr val="1B2A4A"/>
                </a:solidFill>
                <a:latin typeface="Calibri" pitchFamily="34" charset="0"/>
                <a:ea typeface="Calibri" pitchFamily="34" charset="-122"/>
                <a:cs typeface="Calibri" pitchFamily="34" charset="-120"/>
              </a:rPr>
              <a:t>Real-time shared workspace</a:t>
            </a:r>
            <a:endParaRPr lang="en-US" sz="1000" dirty="0"/>
          </a:p>
        </p:txBody>
      </p:sp>
      <p:sp>
        <p:nvSpPr>
          <p:cNvPr id="57" name="Text 38"/>
          <p:cNvSpPr/>
          <p:nvPr/>
        </p:nvSpPr>
        <p:spPr>
          <a:xfrm>
            <a:off x="457200" y="6519672"/>
            <a:ext cx="5486400" cy="274320"/>
          </a:xfrm>
          <a:prstGeom prst="rect">
            <a:avLst/>
          </a:prstGeom>
          <a:noFill/>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25CS1302E – DBS-DBD  |  Project Review-1</a:t>
            </a:r>
            <a:endParaRPr lang="en-US" sz="900" dirty="0"/>
          </a:p>
        </p:txBody>
      </p:sp>
      <p:sp>
        <p:nvSpPr>
          <p:cNvPr id="58" name="Text 39"/>
          <p:cNvSpPr/>
          <p:nvPr/>
        </p:nvSpPr>
        <p:spPr>
          <a:xfrm>
            <a:off x="11277295" y="6519672"/>
            <a:ext cx="457200" cy="274320"/>
          </a:xfrm>
          <a:prstGeom prst="rect">
            <a:avLst/>
          </a:prstGeom>
          <a:noFill/>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8</a:t>
            </a:r>
            <a:endParaRPr lang="en-US" sz="900" dirty="0"/>
          </a:p>
        </p:txBody>
      </p:sp>
      <p:pic>
        <p:nvPicPr>
          <p:cNvPr id="360564775" name="Picture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a:xfrm>
            <a:off x="9843135" y="240030"/>
            <a:ext cx="1800225" cy="76835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p:spPr>
        <p:txBody>
          <a:bodyPr wrap="square" rtlCol="0" anchor="ctr"/>
          <a:lstStyle/>
          <a:p>
            <a:pPr marL="0" indent="0">
              <a:buNone/>
            </a:pPr>
            <a:r>
              <a:rPr lang="en-US" b="1" kern="0" spc="200" dirty="0">
                <a:solidFill>
                  <a:srgbClr val="D9A441"/>
                </a:solidFill>
                <a:latin typeface="Calibri" pitchFamily="34" charset="0"/>
                <a:ea typeface="Calibri" pitchFamily="34" charset="-122"/>
                <a:cs typeface="Calibri" pitchFamily="34" charset="-120"/>
              </a:rPr>
              <a:t>TIMELINE</a:t>
            </a:r>
            <a:endParaRPr lang="en-US" dirty="0"/>
          </a:p>
        </p:txBody>
      </p:sp>
      <p:sp>
        <p:nvSpPr>
          <p:cNvPr id="3" name="Text 1"/>
          <p:cNvSpPr/>
          <p:nvPr/>
        </p:nvSpPr>
        <p:spPr>
          <a:xfrm>
            <a:off x="548640" y="658368"/>
            <a:ext cx="10515600" cy="640080"/>
          </a:xfrm>
          <a:prstGeom prst="rect">
            <a:avLst/>
          </a:prstGeom>
          <a:noFill/>
        </p:spPr>
        <p:txBody>
          <a:bodyPr wrap="square" rtlCol="0" anchor="ctr"/>
          <a:lstStyle/>
          <a:p>
            <a:pPr marL="0" indent="0">
              <a:buNone/>
            </a:pPr>
            <a:r>
              <a:rPr lang="en-US" sz="3000" b="1" dirty="0">
                <a:solidFill>
                  <a:srgbClr val="1B2A4A"/>
                </a:solidFill>
                <a:latin typeface="Poppins" pitchFamily="34" charset="0"/>
                <a:ea typeface="Poppins" pitchFamily="34" charset="-122"/>
                <a:cs typeface="Poppins" pitchFamily="34" charset="-120"/>
              </a:rPr>
              <a:t>Project Implementation Plan</a:t>
            </a:r>
            <a:endParaRPr lang="en-US" sz="3000" dirty="0"/>
          </a:p>
        </p:txBody>
      </p:sp>
      <p:sp>
        <p:nvSpPr>
          <p:cNvPr id="4" name="Text 2"/>
          <p:cNvSpPr/>
          <p:nvPr/>
        </p:nvSpPr>
        <p:spPr>
          <a:xfrm>
            <a:off x="3383280" y="1188720"/>
            <a:ext cx="1028700" cy="292608"/>
          </a:xfrm>
          <a:prstGeom prst="rect">
            <a:avLst/>
          </a:prstGeom>
          <a:noFill/>
        </p:spPr>
        <p:txBody>
          <a:bodyPr wrap="square" rtlCol="0" anchor="ctr"/>
          <a:lstStyle/>
          <a:p>
            <a:pPr marL="0" indent="0" algn="ctr">
              <a:buNone/>
            </a:pPr>
            <a:r>
              <a:rPr lang="en-US" sz="1050" b="1" dirty="0">
                <a:solidFill>
                  <a:srgbClr val="2F5D8A"/>
                </a:solidFill>
                <a:latin typeface="Calibri" pitchFamily="34" charset="0"/>
                <a:ea typeface="Calibri" pitchFamily="34" charset="-122"/>
                <a:cs typeface="Calibri" pitchFamily="34" charset="-120"/>
              </a:rPr>
              <a:t>W1</a:t>
            </a:r>
            <a:endParaRPr lang="en-US" sz="1050" dirty="0"/>
          </a:p>
        </p:txBody>
      </p:sp>
      <p:sp>
        <p:nvSpPr>
          <p:cNvPr id="5" name="Text 3"/>
          <p:cNvSpPr/>
          <p:nvPr/>
        </p:nvSpPr>
        <p:spPr>
          <a:xfrm>
            <a:off x="4411980" y="1188720"/>
            <a:ext cx="1028700" cy="292608"/>
          </a:xfrm>
          <a:prstGeom prst="rect">
            <a:avLst/>
          </a:prstGeom>
          <a:noFill/>
        </p:spPr>
        <p:txBody>
          <a:bodyPr wrap="square" rtlCol="0" anchor="ctr"/>
          <a:lstStyle/>
          <a:p>
            <a:pPr marL="0" indent="0" algn="ctr">
              <a:buNone/>
            </a:pPr>
            <a:r>
              <a:rPr lang="en-US" sz="1050" b="1" dirty="0">
                <a:solidFill>
                  <a:srgbClr val="2F5D8A"/>
                </a:solidFill>
                <a:latin typeface="Calibri" pitchFamily="34" charset="0"/>
                <a:ea typeface="Calibri" pitchFamily="34" charset="-122"/>
                <a:cs typeface="Calibri" pitchFamily="34" charset="-120"/>
              </a:rPr>
              <a:t>W2</a:t>
            </a:r>
            <a:endParaRPr lang="en-US" sz="1050" dirty="0"/>
          </a:p>
        </p:txBody>
      </p:sp>
      <p:sp>
        <p:nvSpPr>
          <p:cNvPr id="6" name="Text 4"/>
          <p:cNvSpPr/>
          <p:nvPr/>
        </p:nvSpPr>
        <p:spPr>
          <a:xfrm>
            <a:off x="5440680" y="1188720"/>
            <a:ext cx="1028700" cy="292608"/>
          </a:xfrm>
          <a:prstGeom prst="rect">
            <a:avLst/>
          </a:prstGeom>
          <a:noFill/>
        </p:spPr>
        <p:txBody>
          <a:bodyPr wrap="square" rtlCol="0" anchor="ctr"/>
          <a:lstStyle/>
          <a:p>
            <a:pPr marL="0" indent="0" algn="ctr">
              <a:buNone/>
            </a:pPr>
            <a:r>
              <a:rPr lang="en-US" sz="1050" b="1" dirty="0">
                <a:solidFill>
                  <a:srgbClr val="2F5D8A"/>
                </a:solidFill>
                <a:latin typeface="Calibri" pitchFamily="34" charset="0"/>
                <a:ea typeface="Calibri" pitchFamily="34" charset="-122"/>
                <a:cs typeface="Calibri" pitchFamily="34" charset="-120"/>
              </a:rPr>
              <a:t>W3</a:t>
            </a:r>
            <a:endParaRPr lang="en-US" sz="1050" dirty="0"/>
          </a:p>
        </p:txBody>
      </p:sp>
      <p:sp>
        <p:nvSpPr>
          <p:cNvPr id="7" name="Text 5"/>
          <p:cNvSpPr/>
          <p:nvPr/>
        </p:nvSpPr>
        <p:spPr>
          <a:xfrm>
            <a:off x="6469380" y="1188720"/>
            <a:ext cx="1028700" cy="292608"/>
          </a:xfrm>
          <a:prstGeom prst="rect">
            <a:avLst/>
          </a:prstGeom>
          <a:noFill/>
        </p:spPr>
        <p:txBody>
          <a:bodyPr wrap="square" rtlCol="0" anchor="ctr"/>
          <a:lstStyle/>
          <a:p>
            <a:pPr marL="0" indent="0" algn="ctr">
              <a:buNone/>
            </a:pPr>
            <a:r>
              <a:rPr lang="en-US" sz="1050" b="1" dirty="0">
                <a:solidFill>
                  <a:srgbClr val="2F5D8A"/>
                </a:solidFill>
                <a:latin typeface="Calibri" pitchFamily="34" charset="0"/>
                <a:ea typeface="Calibri" pitchFamily="34" charset="-122"/>
                <a:cs typeface="Calibri" pitchFamily="34" charset="-120"/>
              </a:rPr>
              <a:t>W4</a:t>
            </a:r>
            <a:endParaRPr lang="en-US" sz="1050" dirty="0"/>
          </a:p>
        </p:txBody>
      </p:sp>
      <p:sp>
        <p:nvSpPr>
          <p:cNvPr id="8" name="Text 6"/>
          <p:cNvSpPr/>
          <p:nvPr/>
        </p:nvSpPr>
        <p:spPr>
          <a:xfrm>
            <a:off x="7498080" y="1188720"/>
            <a:ext cx="1028700" cy="292608"/>
          </a:xfrm>
          <a:prstGeom prst="rect">
            <a:avLst/>
          </a:prstGeom>
          <a:noFill/>
        </p:spPr>
        <p:txBody>
          <a:bodyPr wrap="square" rtlCol="0" anchor="ctr"/>
          <a:lstStyle/>
          <a:p>
            <a:pPr marL="0" indent="0" algn="ctr">
              <a:buNone/>
            </a:pPr>
            <a:r>
              <a:rPr lang="en-US" sz="1050" b="1" dirty="0">
                <a:solidFill>
                  <a:srgbClr val="2F5D8A"/>
                </a:solidFill>
                <a:latin typeface="Calibri" pitchFamily="34" charset="0"/>
                <a:ea typeface="Calibri" pitchFamily="34" charset="-122"/>
                <a:cs typeface="Calibri" pitchFamily="34" charset="-120"/>
              </a:rPr>
              <a:t>W5</a:t>
            </a:r>
            <a:endParaRPr lang="en-US" sz="1050" dirty="0"/>
          </a:p>
        </p:txBody>
      </p:sp>
      <p:sp>
        <p:nvSpPr>
          <p:cNvPr id="9" name="Text 7"/>
          <p:cNvSpPr/>
          <p:nvPr/>
        </p:nvSpPr>
        <p:spPr>
          <a:xfrm>
            <a:off x="8526780" y="1188720"/>
            <a:ext cx="1028700" cy="292608"/>
          </a:xfrm>
          <a:prstGeom prst="rect">
            <a:avLst/>
          </a:prstGeom>
          <a:noFill/>
        </p:spPr>
        <p:txBody>
          <a:bodyPr wrap="square" rtlCol="0" anchor="ctr"/>
          <a:lstStyle/>
          <a:p>
            <a:pPr marL="0" indent="0" algn="ctr">
              <a:buNone/>
            </a:pPr>
            <a:r>
              <a:rPr lang="en-US" sz="1050" b="1" dirty="0">
                <a:solidFill>
                  <a:srgbClr val="2F5D8A"/>
                </a:solidFill>
                <a:latin typeface="Calibri" pitchFamily="34" charset="0"/>
                <a:ea typeface="Calibri" pitchFamily="34" charset="-122"/>
                <a:cs typeface="Calibri" pitchFamily="34" charset="-120"/>
              </a:rPr>
              <a:t>W6</a:t>
            </a:r>
            <a:endParaRPr lang="en-US" sz="1050" dirty="0"/>
          </a:p>
        </p:txBody>
      </p:sp>
      <p:sp>
        <p:nvSpPr>
          <p:cNvPr id="10" name="Text 8"/>
          <p:cNvSpPr/>
          <p:nvPr/>
        </p:nvSpPr>
        <p:spPr>
          <a:xfrm>
            <a:off x="9555480" y="1188720"/>
            <a:ext cx="1028700" cy="292608"/>
          </a:xfrm>
          <a:prstGeom prst="rect">
            <a:avLst/>
          </a:prstGeom>
          <a:noFill/>
        </p:spPr>
        <p:txBody>
          <a:bodyPr wrap="square" rtlCol="0" anchor="ctr"/>
          <a:lstStyle/>
          <a:p>
            <a:pPr marL="0" indent="0" algn="ctr">
              <a:buNone/>
            </a:pPr>
            <a:r>
              <a:rPr lang="en-US" sz="1050" b="1" dirty="0">
                <a:solidFill>
                  <a:srgbClr val="2F5D8A"/>
                </a:solidFill>
                <a:latin typeface="Calibri" pitchFamily="34" charset="0"/>
                <a:ea typeface="Calibri" pitchFamily="34" charset="-122"/>
                <a:cs typeface="Calibri" pitchFamily="34" charset="-120"/>
              </a:rPr>
              <a:t>W7</a:t>
            </a:r>
            <a:endParaRPr lang="en-US" sz="1050" dirty="0"/>
          </a:p>
        </p:txBody>
      </p:sp>
      <p:sp>
        <p:nvSpPr>
          <p:cNvPr id="11" name="Text 9"/>
          <p:cNvSpPr/>
          <p:nvPr/>
        </p:nvSpPr>
        <p:spPr>
          <a:xfrm>
            <a:off x="10584180" y="1188720"/>
            <a:ext cx="1028700" cy="292608"/>
          </a:xfrm>
          <a:prstGeom prst="rect">
            <a:avLst/>
          </a:prstGeom>
          <a:noFill/>
        </p:spPr>
        <p:txBody>
          <a:bodyPr wrap="square" rtlCol="0" anchor="ctr"/>
          <a:lstStyle/>
          <a:p>
            <a:pPr marL="0" indent="0" algn="ctr">
              <a:buNone/>
            </a:pPr>
            <a:r>
              <a:rPr lang="en-US" sz="1050" b="1" dirty="0">
                <a:solidFill>
                  <a:srgbClr val="2F5D8A"/>
                </a:solidFill>
                <a:latin typeface="Calibri" pitchFamily="34" charset="0"/>
                <a:ea typeface="Calibri" pitchFamily="34" charset="-122"/>
                <a:cs typeface="Calibri" pitchFamily="34" charset="-120"/>
              </a:rPr>
              <a:t>W8</a:t>
            </a:r>
            <a:endParaRPr lang="en-US" sz="1050" dirty="0"/>
          </a:p>
        </p:txBody>
      </p:sp>
      <p:sp>
        <p:nvSpPr>
          <p:cNvPr id="12" name="Text 10"/>
          <p:cNvSpPr/>
          <p:nvPr/>
        </p:nvSpPr>
        <p:spPr>
          <a:xfrm>
            <a:off x="640080" y="1554480"/>
            <a:ext cx="2651760" cy="484632"/>
          </a:xfrm>
          <a:prstGeom prst="rect">
            <a:avLst/>
          </a:prstGeom>
          <a:noFill/>
        </p:spPr>
        <p:txBody>
          <a:bodyPr wrap="square" rtlCol="0" anchor="ctr"/>
          <a:lstStyle/>
          <a:p>
            <a:pPr marL="0" indent="0">
              <a:buNone/>
            </a:pPr>
            <a:r>
              <a:rPr lang="en-US" sz="1100" dirty="0">
                <a:solidFill>
                  <a:srgbClr val="1B2A4A"/>
                </a:solidFill>
                <a:latin typeface="Calibri" pitchFamily="34" charset="0"/>
                <a:ea typeface="Calibri" pitchFamily="34" charset="-122"/>
                <a:cs typeface="Calibri" pitchFamily="34" charset="-120"/>
              </a:rPr>
              <a:t>Requirement Analysis</a:t>
            </a:r>
            <a:endParaRPr lang="en-US" sz="1100" dirty="0"/>
          </a:p>
        </p:txBody>
      </p:sp>
      <p:sp>
        <p:nvSpPr>
          <p:cNvPr id="13" name="Shape 11"/>
          <p:cNvSpPr/>
          <p:nvPr/>
        </p:nvSpPr>
        <p:spPr>
          <a:xfrm>
            <a:off x="3383280" y="1554480"/>
            <a:ext cx="1028700" cy="484632"/>
          </a:xfrm>
          <a:prstGeom prst="rect">
            <a:avLst/>
          </a:prstGeom>
          <a:ln w="9525">
            <a:solidFill>
              <a:srgbClr val="E3E9F2"/>
            </a:solidFill>
            <a:prstDash val="solid"/>
          </a:ln>
        </p:spPr>
      </p:sp>
      <p:sp>
        <p:nvSpPr>
          <p:cNvPr id="14" name="Shape 12"/>
          <p:cNvSpPr/>
          <p:nvPr/>
        </p:nvSpPr>
        <p:spPr>
          <a:xfrm>
            <a:off x="4411980" y="1554480"/>
            <a:ext cx="1028700" cy="484632"/>
          </a:xfrm>
          <a:prstGeom prst="rect">
            <a:avLst/>
          </a:prstGeom>
          <a:ln w="9525">
            <a:solidFill>
              <a:srgbClr val="E3E9F2"/>
            </a:solidFill>
            <a:prstDash val="solid"/>
          </a:ln>
        </p:spPr>
      </p:sp>
      <p:sp>
        <p:nvSpPr>
          <p:cNvPr id="15" name="Shape 13"/>
          <p:cNvSpPr/>
          <p:nvPr/>
        </p:nvSpPr>
        <p:spPr>
          <a:xfrm>
            <a:off x="5440680" y="1554480"/>
            <a:ext cx="1028700" cy="484632"/>
          </a:xfrm>
          <a:prstGeom prst="rect">
            <a:avLst/>
          </a:prstGeom>
          <a:ln w="9525">
            <a:solidFill>
              <a:srgbClr val="E3E9F2"/>
            </a:solidFill>
            <a:prstDash val="solid"/>
          </a:ln>
        </p:spPr>
      </p:sp>
      <p:sp>
        <p:nvSpPr>
          <p:cNvPr id="16" name="Shape 14"/>
          <p:cNvSpPr/>
          <p:nvPr/>
        </p:nvSpPr>
        <p:spPr>
          <a:xfrm>
            <a:off x="6469380" y="1554480"/>
            <a:ext cx="1028700" cy="484632"/>
          </a:xfrm>
          <a:prstGeom prst="rect">
            <a:avLst/>
          </a:prstGeom>
          <a:ln w="9525">
            <a:solidFill>
              <a:srgbClr val="E3E9F2"/>
            </a:solidFill>
            <a:prstDash val="solid"/>
          </a:ln>
        </p:spPr>
      </p:sp>
      <p:sp>
        <p:nvSpPr>
          <p:cNvPr id="17" name="Shape 15"/>
          <p:cNvSpPr/>
          <p:nvPr/>
        </p:nvSpPr>
        <p:spPr>
          <a:xfrm>
            <a:off x="7498080" y="1554480"/>
            <a:ext cx="1028700" cy="484632"/>
          </a:xfrm>
          <a:prstGeom prst="rect">
            <a:avLst/>
          </a:prstGeom>
          <a:ln w="9525">
            <a:solidFill>
              <a:srgbClr val="E3E9F2"/>
            </a:solidFill>
            <a:prstDash val="solid"/>
          </a:ln>
        </p:spPr>
      </p:sp>
      <p:sp>
        <p:nvSpPr>
          <p:cNvPr id="18" name="Shape 16"/>
          <p:cNvSpPr/>
          <p:nvPr/>
        </p:nvSpPr>
        <p:spPr>
          <a:xfrm>
            <a:off x="8526780" y="1554480"/>
            <a:ext cx="1028700" cy="484632"/>
          </a:xfrm>
          <a:prstGeom prst="rect">
            <a:avLst/>
          </a:prstGeom>
          <a:ln w="9525">
            <a:solidFill>
              <a:srgbClr val="E3E9F2"/>
            </a:solidFill>
            <a:prstDash val="solid"/>
          </a:ln>
        </p:spPr>
      </p:sp>
      <p:sp>
        <p:nvSpPr>
          <p:cNvPr id="19" name="Shape 17"/>
          <p:cNvSpPr/>
          <p:nvPr/>
        </p:nvSpPr>
        <p:spPr>
          <a:xfrm>
            <a:off x="9555480" y="1554480"/>
            <a:ext cx="1028700" cy="484632"/>
          </a:xfrm>
          <a:prstGeom prst="rect">
            <a:avLst/>
          </a:prstGeom>
          <a:ln w="9525">
            <a:solidFill>
              <a:srgbClr val="E3E9F2"/>
            </a:solidFill>
            <a:prstDash val="solid"/>
          </a:ln>
        </p:spPr>
      </p:sp>
      <p:sp>
        <p:nvSpPr>
          <p:cNvPr id="20" name="Shape 18"/>
          <p:cNvSpPr/>
          <p:nvPr/>
        </p:nvSpPr>
        <p:spPr>
          <a:xfrm>
            <a:off x="10584180" y="1554480"/>
            <a:ext cx="1028700" cy="484632"/>
          </a:xfrm>
          <a:prstGeom prst="rect">
            <a:avLst/>
          </a:prstGeom>
          <a:ln w="9525">
            <a:solidFill>
              <a:srgbClr val="E3E9F2"/>
            </a:solidFill>
            <a:prstDash val="solid"/>
          </a:ln>
        </p:spPr>
      </p:sp>
      <p:sp>
        <p:nvSpPr>
          <p:cNvPr id="21" name="Shape 19"/>
          <p:cNvSpPr/>
          <p:nvPr/>
        </p:nvSpPr>
        <p:spPr>
          <a:xfrm>
            <a:off x="3419856" y="1627632"/>
            <a:ext cx="955548" cy="338328"/>
          </a:xfrm>
          <a:prstGeom prst="roundRect">
            <a:avLst>
              <a:gd name="adj" fmla="val 13514"/>
            </a:avLst>
          </a:prstGeom>
          <a:solidFill>
            <a:srgbClr val="13294B"/>
          </a:solidFill>
        </p:spPr>
      </p:sp>
      <p:sp>
        <p:nvSpPr>
          <p:cNvPr id="22" name="Shape 20"/>
          <p:cNvSpPr/>
          <p:nvPr/>
        </p:nvSpPr>
        <p:spPr>
          <a:xfrm>
            <a:off x="548640" y="2039112"/>
            <a:ext cx="11064240" cy="484632"/>
          </a:xfrm>
          <a:prstGeom prst="rect">
            <a:avLst/>
          </a:prstGeom>
          <a:solidFill>
            <a:srgbClr val="F4F7FB"/>
          </a:solidFill>
        </p:spPr>
      </p:sp>
      <p:sp>
        <p:nvSpPr>
          <p:cNvPr id="23" name="Text 21"/>
          <p:cNvSpPr/>
          <p:nvPr/>
        </p:nvSpPr>
        <p:spPr>
          <a:xfrm>
            <a:off x="640080" y="2039112"/>
            <a:ext cx="2651760" cy="484632"/>
          </a:xfrm>
          <a:prstGeom prst="rect">
            <a:avLst/>
          </a:prstGeom>
          <a:noFill/>
        </p:spPr>
        <p:txBody>
          <a:bodyPr wrap="square" rtlCol="0" anchor="ctr"/>
          <a:lstStyle/>
          <a:p>
            <a:pPr marL="0" indent="0">
              <a:buNone/>
            </a:pPr>
            <a:r>
              <a:rPr lang="en-US" sz="1100" dirty="0">
                <a:solidFill>
                  <a:srgbClr val="1B2A4A"/>
                </a:solidFill>
                <a:latin typeface="Calibri" pitchFamily="34" charset="0"/>
                <a:ea typeface="Calibri" pitchFamily="34" charset="-122"/>
                <a:cs typeface="Calibri" pitchFamily="34" charset="-120"/>
              </a:rPr>
              <a:t>Database Design &amp; ER Diagram</a:t>
            </a:r>
            <a:endParaRPr lang="en-US" sz="1100" dirty="0"/>
          </a:p>
        </p:txBody>
      </p:sp>
      <p:sp>
        <p:nvSpPr>
          <p:cNvPr id="24" name="Shape 22"/>
          <p:cNvSpPr/>
          <p:nvPr/>
        </p:nvSpPr>
        <p:spPr>
          <a:xfrm>
            <a:off x="3383280" y="2039112"/>
            <a:ext cx="1028700" cy="484632"/>
          </a:xfrm>
          <a:prstGeom prst="rect">
            <a:avLst/>
          </a:prstGeom>
          <a:ln w="9525">
            <a:solidFill>
              <a:srgbClr val="E3E9F2"/>
            </a:solidFill>
            <a:prstDash val="solid"/>
          </a:ln>
        </p:spPr>
      </p:sp>
      <p:sp>
        <p:nvSpPr>
          <p:cNvPr id="25" name="Shape 23"/>
          <p:cNvSpPr/>
          <p:nvPr/>
        </p:nvSpPr>
        <p:spPr>
          <a:xfrm>
            <a:off x="4411980" y="2039112"/>
            <a:ext cx="1028700" cy="484632"/>
          </a:xfrm>
          <a:prstGeom prst="rect">
            <a:avLst/>
          </a:prstGeom>
          <a:ln w="9525">
            <a:solidFill>
              <a:srgbClr val="E3E9F2"/>
            </a:solidFill>
            <a:prstDash val="solid"/>
          </a:ln>
        </p:spPr>
      </p:sp>
      <p:sp>
        <p:nvSpPr>
          <p:cNvPr id="26" name="Shape 24"/>
          <p:cNvSpPr/>
          <p:nvPr/>
        </p:nvSpPr>
        <p:spPr>
          <a:xfrm>
            <a:off x="5440680" y="2039112"/>
            <a:ext cx="1028700" cy="484632"/>
          </a:xfrm>
          <a:prstGeom prst="rect">
            <a:avLst/>
          </a:prstGeom>
          <a:ln w="9525">
            <a:solidFill>
              <a:srgbClr val="E3E9F2"/>
            </a:solidFill>
            <a:prstDash val="solid"/>
          </a:ln>
        </p:spPr>
      </p:sp>
      <p:sp>
        <p:nvSpPr>
          <p:cNvPr id="27" name="Shape 25"/>
          <p:cNvSpPr/>
          <p:nvPr/>
        </p:nvSpPr>
        <p:spPr>
          <a:xfrm>
            <a:off x="6469380" y="2039112"/>
            <a:ext cx="1028700" cy="484632"/>
          </a:xfrm>
          <a:prstGeom prst="rect">
            <a:avLst/>
          </a:prstGeom>
          <a:ln w="9525">
            <a:solidFill>
              <a:srgbClr val="E3E9F2"/>
            </a:solidFill>
            <a:prstDash val="solid"/>
          </a:ln>
        </p:spPr>
      </p:sp>
      <p:sp>
        <p:nvSpPr>
          <p:cNvPr id="28" name="Shape 26"/>
          <p:cNvSpPr/>
          <p:nvPr/>
        </p:nvSpPr>
        <p:spPr>
          <a:xfrm>
            <a:off x="7498080" y="2039112"/>
            <a:ext cx="1028700" cy="484632"/>
          </a:xfrm>
          <a:prstGeom prst="rect">
            <a:avLst/>
          </a:prstGeom>
          <a:ln w="9525">
            <a:solidFill>
              <a:srgbClr val="E3E9F2"/>
            </a:solidFill>
            <a:prstDash val="solid"/>
          </a:ln>
        </p:spPr>
      </p:sp>
      <p:sp>
        <p:nvSpPr>
          <p:cNvPr id="29" name="Shape 27"/>
          <p:cNvSpPr/>
          <p:nvPr/>
        </p:nvSpPr>
        <p:spPr>
          <a:xfrm>
            <a:off x="8526780" y="2039112"/>
            <a:ext cx="1028700" cy="484632"/>
          </a:xfrm>
          <a:prstGeom prst="rect">
            <a:avLst/>
          </a:prstGeom>
          <a:ln w="9525">
            <a:solidFill>
              <a:srgbClr val="E3E9F2"/>
            </a:solidFill>
            <a:prstDash val="solid"/>
          </a:ln>
        </p:spPr>
      </p:sp>
      <p:sp>
        <p:nvSpPr>
          <p:cNvPr id="30" name="Shape 28"/>
          <p:cNvSpPr/>
          <p:nvPr/>
        </p:nvSpPr>
        <p:spPr>
          <a:xfrm>
            <a:off x="9555480" y="2039112"/>
            <a:ext cx="1028700" cy="484632"/>
          </a:xfrm>
          <a:prstGeom prst="rect">
            <a:avLst/>
          </a:prstGeom>
          <a:ln w="9525">
            <a:solidFill>
              <a:srgbClr val="E3E9F2"/>
            </a:solidFill>
            <a:prstDash val="solid"/>
          </a:ln>
        </p:spPr>
      </p:sp>
      <p:sp>
        <p:nvSpPr>
          <p:cNvPr id="31" name="Shape 29"/>
          <p:cNvSpPr/>
          <p:nvPr/>
        </p:nvSpPr>
        <p:spPr>
          <a:xfrm>
            <a:off x="10584180" y="2039112"/>
            <a:ext cx="1028700" cy="484632"/>
          </a:xfrm>
          <a:prstGeom prst="rect">
            <a:avLst/>
          </a:prstGeom>
          <a:ln w="9525">
            <a:solidFill>
              <a:srgbClr val="E3E9F2"/>
            </a:solidFill>
            <a:prstDash val="solid"/>
          </a:ln>
        </p:spPr>
      </p:sp>
      <p:sp>
        <p:nvSpPr>
          <p:cNvPr id="32" name="Shape 30"/>
          <p:cNvSpPr/>
          <p:nvPr/>
        </p:nvSpPr>
        <p:spPr>
          <a:xfrm>
            <a:off x="4448556" y="2112264"/>
            <a:ext cx="955548" cy="338328"/>
          </a:xfrm>
          <a:prstGeom prst="roundRect">
            <a:avLst>
              <a:gd name="adj" fmla="val 13514"/>
            </a:avLst>
          </a:prstGeom>
          <a:solidFill>
            <a:srgbClr val="2F5D8A"/>
          </a:solidFill>
        </p:spPr>
      </p:sp>
      <p:sp>
        <p:nvSpPr>
          <p:cNvPr id="33" name="Text 31"/>
          <p:cNvSpPr/>
          <p:nvPr/>
        </p:nvSpPr>
        <p:spPr>
          <a:xfrm>
            <a:off x="640080" y="2523744"/>
            <a:ext cx="2651760" cy="484632"/>
          </a:xfrm>
          <a:prstGeom prst="rect">
            <a:avLst/>
          </a:prstGeom>
          <a:noFill/>
        </p:spPr>
        <p:txBody>
          <a:bodyPr wrap="square" rtlCol="0" anchor="ctr"/>
          <a:lstStyle/>
          <a:p>
            <a:pPr marL="0" indent="0">
              <a:buNone/>
            </a:pPr>
            <a:r>
              <a:rPr lang="en-US" sz="1100" dirty="0">
                <a:solidFill>
                  <a:srgbClr val="1B2A4A"/>
                </a:solidFill>
                <a:latin typeface="Calibri" pitchFamily="34" charset="0"/>
                <a:ea typeface="Calibri" pitchFamily="34" charset="-122"/>
                <a:cs typeface="Calibri" pitchFamily="34" charset="-120"/>
              </a:rPr>
              <a:t>Spring Boot Backend APIs</a:t>
            </a:r>
            <a:endParaRPr lang="en-US" sz="1100" dirty="0"/>
          </a:p>
        </p:txBody>
      </p:sp>
      <p:sp>
        <p:nvSpPr>
          <p:cNvPr id="34" name="Shape 32"/>
          <p:cNvSpPr/>
          <p:nvPr/>
        </p:nvSpPr>
        <p:spPr>
          <a:xfrm>
            <a:off x="3383280" y="2523744"/>
            <a:ext cx="1028700" cy="484632"/>
          </a:xfrm>
          <a:prstGeom prst="rect">
            <a:avLst/>
          </a:prstGeom>
          <a:ln w="9525">
            <a:solidFill>
              <a:srgbClr val="E3E9F2"/>
            </a:solidFill>
            <a:prstDash val="solid"/>
          </a:ln>
        </p:spPr>
      </p:sp>
      <p:sp>
        <p:nvSpPr>
          <p:cNvPr id="35" name="Shape 33"/>
          <p:cNvSpPr/>
          <p:nvPr/>
        </p:nvSpPr>
        <p:spPr>
          <a:xfrm>
            <a:off x="4411980" y="2523744"/>
            <a:ext cx="1028700" cy="484632"/>
          </a:xfrm>
          <a:prstGeom prst="rect">
            <a:avLst/>
          </a:prstGeom>
          <a:ln w="9525">
            <a:solidFill>
              <a:srgbClr val="E3E9F2"/>
            </a:solidFill>
            <a:prstDash val="solid"/>
          </a:ln>
        </p:spPr>
      </p:sp>
      <p:sp>
        <p:nvSpPr>
          <p:cNvPr id="36" name="Shape 34"/>
          <p:cNvSpPr/>
          <p:nvPr/>
        </p:nvSpPr>
        <p:spPr>
          <a:xfrm>
            <a:off x="5440680" y="2523744"/>
            <a:ext cx="1028700" cy="484632"/>
          </a:xfrm>
          <a:prstGeom prst="rect">
            <a:avLst/>
          </a:prstGeom>
          <a:ln w="9525">
            <a:solidFill>
              <a:srgbClr val="E3E9F2"/>
            </a:solidFill>
            <a:prstDash val="solid"/>
          </a:ln>
        </p:spPr>
      </p:sp>
      <p:sp>
        <p:nvSpPr>
          <p:cNvPr id="37" name="Shape 35"/>
          <p:cNvSpPr/>
          <p:nvPr/>
        </p:nvSpPr>
        <p:spPr>
          <a:xfrm>
            <a:off x="6469380" y="2523744"/>
            <a:ext cx="1028700" cy="484632"/>
          </a:xfrm>
          <a:prstGeom prst="rect">
            <a:avLst/>
          </a:prstGeom>
          <a:ln w="9525">
            <a:solidFill>
              <a:srgbClr val="E3E9F2"/>
            </a:solidFill>
            <a:prstDash val="solid"/>
          </a:ln>
        </p:spPr>
      </p:sp>
      <p:sp>
        <p:nvSpPr>
          <p:cNvPr id="38" name="Shape 36"/>
          <p:cNvSpPr/>
          <p:nvPr/>
        </p:nvSpPr>
        <p:spPr>
          <a:xfrm>
            <a:off x="7498080" y="2523744"/>
            <a:ext cx="1028700" cy="484632"/>
          </a:xfrm>
          <a:prstGeom prst="rect">
            <a:avLst/>
          </a:prstGeom>
          <a:ln w="9525">
            <a:solidFill>
              <a:srgbClr val="E3E9F2"/>
            </a:solidFill>
            <a:prstDash val="solid"/>
          </a:ln>
        </p:spPr>
      </p:sp>
      <p:sp>
        <p:nvSpPr>
          <p:cNvPr id="39" name="Shape 37"/>
          <p:cNvSpPr/>
          <p:nvPr/>
        </p:nvSpPr>
        <p:spPr>
          <a:xfrm>
            <a:off x="8526780" y="2523744"/>
            <a:ext cx="1028700" cy="484632"/>
          </a:xfrm>
          <a:prstGeom prst="rect">
            <a:avLst/>
          </a:prstGeom>
          <a:ln w="9525">
            <a:solidFill>
              <a:srgbClr val="E3E9F2"/>
            </a:solidFill>
            <a:prstDash val="solid"/>
          </a:ln>
        </p:spPr>
      </p:sp>
      <p:sp>
        <p:nvSpPr>
          <p:cNvPr id="40" name="Shape 38"/>
          <p:cNvSpPr/>
          <p:nvPr/>
        </p:nvSpPr>
        <p:spPr>
          <a:xfrm>
            <a:off x="9555480" y="2523744"/>
            <a:ext cx="1028700" cy="484632"/>
          </a:xfrm>
          <a:prstGeom prst="rect">
            <a:avLst/>
          </a:prstGeom>
          <a:ln w="9525">
            <a:solidFill>
              <a:srgbClr val="E3E9F2"/>
            </a:solidFill>
            <a:prstDash val="solid"/>
          </a:ln>
        </p:spPr>
      </p:sp>
      <p:sp>
        <p:nvSpPr>
          <p:cNvPr id="41" name="Shape 39"/>
          <p:cNvSpPr/>
          <p:nvPr/>
        </p:nvSpPr>
        <p:spPr>
          <a:xfrm>
            <a:off x="10584180" y="2523744"/>
            <a:ext cx="1028700" cy="484632"/>
          </a:xfrm>
          <a:prstGeom prst="rect">
            <a:avLst/>
          </a:prstGeom>
          <a:ln w="9525">
            <a:solidFill>
              <a:srgbClr val="E3E9F2"/>
            </a:solidFill>
            <a:prstDash val="solid"/>
          </a:ln>
        </p:spPr>
      </p:sp>
      <p:sp>
        <p:nvSpPr>
          <p:cNvPr id="42" name="Shape 40"/>
          <p:cNvSpPr/>
          <p:nvPr/>
        </p:nvSpPr>
        <p:spPr>
          <a:xfrm>
            <a:off x="5477256" y="2596896"/>
            <a:ext cx="955548" cy="338328"/>
          </a:xfrm>
          <a:prstGeom prst="roundRect">
            <a:avLst>
              <a:gd name="adj" fmla="val 13514"/>
            </a:avLst>
          </a:prstGeom>
          <a:solidFill>
            <a:srgbClr val="13294B"/>
          </a:solidFill>
        </p:spPr>
      </p:sp>
      <p:sp>
        <p:nvSpPr>
          <p:cNvPr id="43" name="Shape 41"/>
          <p:cNvSpPr/>
          <p:nvPr/>
        </p:nvSpPr>
        <p:spPr>
          <a:xfrm>
            <a:off x="548640" y="3008376"/>
            <a:ext cx="11064240" cy="484632"/>
          </a:xfrm>
          <a:prstGeom prst="rect">
            <a:avLst/>
          </a:prstGeom>
          <a:solidFill>
            <a:srgbClr val="F4F7FB"/>
          </a:solidFill>
        </p:spPr>
      </p:sp>
      <p:sp>
        <p:nvSpPr>
          <p:cNvPr id="44" name="Text 42"/>
          <p:cNvSpPr/>
          <p:nvPr/>
        </p:nvSpPr>
        <p:spPr>
          <a:xfrm>
            <a:off x="640080" y="3008376"/>
            <a:ext cx="2651760" cy="484632"/>
          </a:xfrm>
          <a:prstGeom prst="rect">
            <a:avLst/>
          </a:prstGeom>
          <a:noFill/>
        </p:spPr>
        <p:txBody>
          <a:bodyPr wrap="square" rtlCol="0" anchor="ctr"/>
          <a:lstStyle/>
          <a:p>
            <a:pPr marL="0" indent="0">
              <a:buNone/>
            </a:pPr>
            <a:r>
              <a:rPr lang="en-US" sz="1100" dirty="0">
                <a:solidFill>
                  <a:srgbClr val="1B2A4A"/>
                </a:solidFill>
                <a:latin typeface="Calibri" pitchFamily="34" charset="0"/>
                <a:ea typeface="Calibri" pitchFamily="34" charset="-122"/>
                <a:cs typeface="Calibri" pitchFamily="34" charset="-120"/>
              </a:rPr>
              <a:t>Authentication &amp; Security</a:t>
            </a:r>
            <a:endParaRPr lang="en-US" sz="1100" dirty="0"/>
          </a:p>
        </p:txBody>
      </p:sp>
      <p:sp>
        <p:nvSpPr>
          <p:cNvPr id="45" name="Shape 43"/>
          <p:cNvSpPr/>
          <p:nvPr/>
        </p:nvSpPr>
        <p:spPr>
          <a:xfrm>
            <a:off x="3383280" y="3008376"/>
            <a:ext cx="1028700" cy="484632"/>
          </a:xfrm>
          <a:prstGeom prst="rect">
            <a:avLst/>
          </a:prstGeom>
          <a:ln w="9525">
            <a:solidFill>
              <a:srgbClr val="E3E9F2"/>
            </a:solidFill>
            <a:prstDash val="solid"/>
          </a:ln>
        </p:spPr>
      </p:sp>
      <p:sp>
        <p:nvSpPr>
          <p:cNvPr id="46" name="Shape 44"/>
          <p:cNvSpPr/>
          <p:nvPr/>
        </p:nvSpPr>
        <p:spPr>
          <a:xfrm>
            <a:off x="4411980" y="3008376"/>
            <a:ext cx="1028700" cy="484632"/>
          </a:xfrm>
          <a:prstGeom prst="rect">
            <a:avLst/>
          </a:prstGeom>
          <a:ln w="9525">
            <a:solidFill>
              <a:srgbClr val="E3E9F2"/>
            </a:solidFill>
            <a:prstDash val="solid"/>
          </a:ln>
        </p:spPr>
      </p:sp>
      <p:sp>
        <p:nvSpPr>
          <p:cNvPr id="47" name="Shape 45"/>
          <p:cNvSpPr/>
          <p:nvPr/>
        </p:nvSpPr>
        <p:spPr>
          <a:xfrm>
            <a:off x="5440680" y="3008376"/>
            <a:ext cx="1028700" cy="484632"/>
          </a:xfrm>
          <a:prstGeom prst="rect">
            <a:avLst/>
          </a:prstGeom>
          <a:ln w="9525">
            <a:solidFill>
              <a:srgbClr val="E3E9F2"/>
            </a:solidFill>
            <a:prstDash val="solid"/>
          </a:ln>
        </p:spPr>
      </p:sp>
      <p:sp>
        <p:nvSpPr>
          <p:cNvPr id="48" name="Shape 46"/>
          <p:cNvSpPr/>
          <p:nvPr/>
        </p:nvSpPr>
        <p:spPr>
          <a:xfrm>
            <a:off x="6469380" y="3008376"/>
            <a:ext cx="1028700" cy="484632"/>
          </a:xfrm>
          <a:prstGeom prst="rect">
            <a:avLst/>
          </a:prstGeom>
          <a:ln w="9525">
            <a:solidFill>
              <a:srgbClr val="E3E9F2"/>
            </a:solidFill>
            <a:prstDash val="solid"/>
          </a:ln>
        </p:spPr>
      </p:sp>
      <p:sp>
        <p:nvSpPr>
          <p:cNvPr id="49" name="Shape 47"/>
          <p:cNvSpPr/>
          <p:nvPr/>
        </p:nvSpPr>
        <p:spPr>
          <a:xfrm>
            <a:off x="7498080" y="3008376"/>
            <a:ext cx="1028700" cy="484632"/>
          </a:xfrm>
          <a:prstGeom prst="rect">
            <a:avLst/>
          </a:prstGeom>
          <a:ln w="9525">
            <a:solidFill>
              <a:srgbClr val="E3E9F2"/>
            </a:solidFill>
            <a:prstDash val="solid"/>
          </a:ln>
        </p:spPr>
      </p:sp>
      <p:sp>
        <p:nvSpPr>
          <p:cNvPr id="50" name="Shape 48"/>
          <p:cNvSpPr/>
          <p:nvPr/>
        </p:nvSpPr>
        <p:spPr>
          <a:xfrm>
            <a:off x="8526780" y="3008376"/>
            <a:ext cx="1028700" cy="484632"/>
          </a:xfrm>
          <a:prstGeom prst="rect">
            <a:avLst/>
          </a:prstGeom>
          <a:ln w="9525">
            <a:solidFill>
              <a:srgbClr val="E3E9F2"/>
            </a:solidFill>
            <a:prstDash val="solid"/>
          </a:ln>
        </p:spPr>
      </p:sp>
      <p:sp>
        <p:nvSpPr>
          <p:cNvPr id="51" name="Shape 49"/>
          <p:cNvSpPr/>
          <p:nvPr/>
        </p:nvSpPr>
        <p:spPr>
          <a:xfrm>
            <a:off x="9555480" y="3008376"/>
            <a:ext cx="1028700" cy="484632"/>
          </a:xfrm>
          <a:prstGeom prst="rect">
            <a:avLst/>
          </a:prstGeom>
          <a:ln w="9525">
            <a:solidFill>
              <a:srgbClr val="E3E9F2"/>
            </a:solidFill>
            <a:prstDash val="solid"/>
          </a:ln>
        </p:spPr>
      </p:sp>
      <p:sp>
        <p:nvSpPr>
          <p:cNvPr id="52" name="Shape 50"/>
          <p:cNvSpPr/>
          <p:nvPr/>
        </p:nvSpPr>
        <p:spPr>
          <a:xfrm>
            <a:off x="10584180" y="3008376"/>
            <a:ext cx="1028700" cy="484632"/>
          </a:xfrm>
          <a:prstGeom prst="rect">
            <a:avLst/>
          </a:prstGeom>
          <a:ln w="9525">
            <a:solidFill>
              <a:srgbClr val="E3E9F2"/>
            </a:solidFill>
            <a:prstDash val="solid"/>
          </a:ln>
        </p:spPr>
      </p:sp>
      <p:sp>
        <p:nvSpPr>
          <p:cNvPr id="53" name="Shape 51"/>
          <p:cNvSpPr/>
          <p:nvPr/>
        </p:nvSpPr>
        <p:spPr>
          <a:xfrm>
            <a:off x="6505956" y="3081528"/>
            <a:ext cx="955548" cy="338328"/>
          </a:xfrm>
          <a:prstGeom prst="roundRect">
            <a:avLst>
              <a:gd name="adj" fmla="val 13514"/>
            </a:avLst>
          </a:prstGeom>
          <a:solidFill>
            <a:srgbClr val="2F5D8A"/>
          </a:solidFill>
        </p:spPr>
      </p:sp>
      <p:sp>
        <p:nvSpPr>
          <p:cNvPr id="54" name="Text 52"/>
          <p:cNvSpPr/>
          <p:nvPr/>
        </p:nvSpPr>
        <p:spPr>
          <a:xfrm>
            <a:off x="640080" y="3493008"/>
            <a:ext cx="2651760" cy="484632"/>
          </a:xfrm>
          <a:prstGeom prst="rect">
            <a:avLst/>
          </a:prstGeom>
          <a:noFill/>
        </p:spPr>
        <p:txBody>
          <a:bodyPr wrap="square" rtlCol="0" anchor="ctr"/>
          <a:lstStyle/>
          <a:p>
            <a:pPr marL="0" indent="0">
              <a:buNone/>
            </a:pPr>
            <a:r>
              <a:rPr lang="en-US" sz="1100" dirty="0">
                <a:solidFill>
                  <a:srgbClr val="1B2A4A"/>
                </a:solidFill>
                <a:latin typeface="Calibri" pitchFamily="34" charset="0"/>
                <a:ea typeface="Calibri" pitchFamily="34" charset="-122"/>
                <a:cs typeface="Calibri" pitchFamily="34" charset="-120"/>
              </a:rPr>
              <a:t>Document Management Module</a:t>
            </a:r>
            <a:endParaRPr lang="en-US" sz="1100" dirty="0"/>
          </a:p>
        </p:txBody>
      </p:sp>
      <p:sp>
        <p:nvSpPr>
          <p:cNvPr id="55" name="Shape 53"/>
          <p:cNvSpPr/>
          <p:nvPr/>
        </p:nvSpPr>
        <p:spPr>
          <a:xfrm>
            <a:off x="3383280" y="3493008"/>
            <a:ext cx="1028700" cy="484632"/>
          </a:xfrm>
          <a:prstGeom prst="rect">
            <a:avLst/>
          </a:prstGeom>
          <a:ln w="9525">
            <a:solidFill>
              <a:srgbClr val="E3E9F2"/>
            </a:solidFill>
            <a:prstDash val="solid"/>
          </a:ln>
        </p:spPr>
      </p:sp>
      <p:sp>
        <p:nvSpPr>
          <p:cNvPr id="56" name="Shape 54"/>
          <p:cNvSpPr/>
          <p:nvPr/>
        </p:nvSpPr>
        <p:spPr>
          <a:xfrm>
            <a:off x="4411980" y="3493008"/>
            <a:ext cx="1028700" cy="484632"/>
          </a:xfrm>
          <a:prstGeom prst="rect">
            <a:avLst/>
          </a:prstGeom>
          <a:ln w="9525">
            <a:solidFill>
              <a:srgbClr val="E3E9F2"/>
            </a:solidFill>
            <a:prstDash val="solid"/>
          </a:ln>
        </p:spPr>
      </p:sp>
      <p:sp>
        <p:nvSpPr>
          <p:cNvPr id="57" name="Shape 55"/>
          <p:cNvSpPr/>
          <p:nvPr/>
        </p:nvSpPr>
        <p:spPr>
          <a:xfrm>
            <a:off x="5440680" y="3493008"/>
            <a:ext cx="1028700" cy="484632"/>
          </a:xfrm>
          <a:prstGeom prst="rect">
            <a:avLst/>
          </a:prstGeom>
          <a:ln w="9525">
            <a:solidFill>
              <a:srgbClr val="E3E9F2"/>
            </a:solidFill>
            <a:prstDash val="solid"/>
          </a:ln>
        </p:spPr>
      </p:sp>
      <p:sp>
        <p:nvSpPr>
          <p:cNvPr id="58" name="Shape 56"/>
          <p:cNvSpPr/>
          <p:nvPr/>
        </p:nvSpPr>
        <p:spPr>
          <a:xfrm>
            <a:off x="6469380" y="3493008"/>
            <a:ext cx="1028700" cy="484632"/>
          </a:xfrm>
          <a:prstGeom prst="rect">
            <a:avLst/>
          </a:prstGeom>
          <a:ln w="9525">
            <a:solidFill>
              <a:srgbClr val="E3E9F2"/>
            </a:solidFill>
            <a:prstDash val="solid"/>
          </a:ln>
        </p:spPr>
      </p:sp>
      <p:sp>
        <p:nvSpPr>
          <p:cNvPr id="59" name="Shape 57"/>
          <p:cNvSpPr/>
          <p:nvPr/>
        </p:nvSpPr>
        <p:spPr>
          <a:xfrm>
            <a:off x="7498080" y="3493008"/>
            <a:ext cx="1028700" cy="484632"/>
          </a:xfrm>
          <a:prstGeom prst="rect">
            <a:avLst/>
          </a:prstGeom>
          <a:ln w="9525">
            <a:solidFill>
              <a:srgbClr val="E3E9F2"/>
            </a:solidFill>
            <a:prstDash val="solid"/>
          </a:ln>
        </p:spPr>
      </p:sp>
      <p:sp>
        <p:nvSpPr>
          <p:cNvPr id="60" name="Shape 58"/>
          <p:cNvSpPr/>
          <p:nvPr/>
        </p:nvSpPr>
        <p:spPr>
          <a:xfrm>
            <a:off x="8526780" y="3493008"/>
            <a:ext cx="1028700" cy="484632"/>
          </a:xfrm>
          <a:prstGeom prst="rect">
            <a:avLst/>
          </a:prstGeom>
          <a:ln w="9525">
            <a:solidFill>
              <a:srgbClr val="E3E9F2"/>
            </a:solidFill>
            <a:prstDash val="solid"/>
          </a:ln>
        </p:spPr>
      </p:sp>
      <p:sp>
        <p:nvSpPr>
          <p:cNvPr id="61" name="Shape 59"/>
          <p:cNvSpPr/>
          <p:nvPr/>
        </p:nvSpPr>
        <p:spPr>
          <a:xfrm>
            <a:off x="9555480" y="3493008"/>
            <a:ext cx="1028700" cy="484632"/>
          </a:xfrm>
          <a:prstGeom prst="rect">
            <a:avLst/>
          </a:prstGeom>
          <a:ln w="9525">
            <a:solidFill>
              <a:srgbClr val="E3E9F2"/>
            </a:solidFill>
            <a:prstDash val="solid"/>
          </a:ln>
        </p:spPr>
      </p:sp>
      <p:sp>
        <p:nvSpPr>
          <p:cNvPr id="62" name="Shape 60"/>
          <p:cNvSpPr/>
          <p:nvPr/>
        </p:nvSpPr>
        <p:spPr>
          <a:xfrm>
            <a:off x="10584180" y="3493008"/>
            <a:ext cx="1028700" cy="484632"/>
          </a:xfrm>
          <a:prstGeom prst="rect">
            <a:avLst/>
          </a:prstGeom>
          <a:ln w="9525">
            <a:solidFill>
              <a:srgbClr val="E3E9F2"/>
            </a:solidFill>
            <a:prstDash val="solid"/>
          </a:ln>
        </p:spPr>
      </p:sp>
      <p:sp>
        <p:nvSpPr>
          <p:cNvPr id="63" name="Shape 61"/>
          <p:cNvSpPr/>
          <p:nvPr/>
        </p:nvSpPr>
        <p:spPr>
          <a:xfrm>
            <a:off x="7534656" y="3566160"/>
            <a:ext cx="955548" cy="338328"/>
          </a:xfrm>
          <a:prstGeom prst="roundRect">
            <a:avLst>
              <a:gd name="adj" fmla="val 13514"/>
            </a:avLst>
          </a:prstGeom>
          <a:solidFill>
            <a:srgbClr val="13294B"/>
          </a:solidFill>
        </p:spPr>
      </p:sp>
      <p:sp>
        <p:nvSpPr>
          <p:cNvPr id="64" name="Shape 62"/>
          <p:cNvSpPr/>
          <p:nvPr/>
        </p:nvSpPr>
        <p:spPr>
          <a:xfrm>
            <a:off x="548640" y="3977640"/>
            <a:ext cx="11064240" cy="484632"/>
          </a:xfrm>
          <a:prstGeom prst="rect">
            <a:avLst/>
          </a:prstGeom>
          <a:solidFill>
            <a:srgbClr val="F4F7FB"/>
          </a:solidFill>
        </p:spPr>
      </p:sp>
      <p:sp>
        <p:nvSpPr>
          <p:cNvPr id="65" name="Text 63"/>
          <p:cNvSpPr/>
          <p:nvPr/>
        </p:nvSpPr>
        <p:spPr>
          <a:xfrm>
            <a:off x="640080" y="3977640"/>
            <a:ext cx="2651760" cy="484632"/>
          </a:xfrm>
          <a:prstGeom prst="rect">
            <a:avLst/>
          </a:prstGeom>
          <a:noFill/>
        </p:spPr>
        <p:txBody>
          <a:bodyPr wrap="square" rtlCol="0" anchor="ctr"/>
          <a:lstStyle/>
          <a:p>
            <a:pPr marL="0" indent="0">
              <a:buNone/>
            </a:pPr>
            <a:r>
              <a:rPr lang="en-US" sz="1100" dirty="0">
                <a:solidFill>
                  <a:srgbClr val="1B2A4A"/>
                </a:solidFill>
                <a:latin typeface="Calibri" pitchFamily="34" charset="0"/>
                <a:ea typeface="Calibri" pitchFamily="34" charset="-122"/>
                <a:cs typeface="Calibri" pitchFamily="34" charset="-120"/>
              </a:rPr>
              <a:t>Search &amp; Version Control</a:t>
            </a:r>
            <a:endParaRPr lang="en-US" sz="1100" dirty="0"/>
          </a:p>
        </p:txBody>
      </p:sp>
      <p:sp>
        <p:nvSpPr>
          <p:cNvPr id="66" name="Shape 64"/>
          <p:cNvSpPr/>
          <p:nvPr/>
        </p:nvSpPr>
        <p:spPr>
          <a:xfrm>
            <a:off x="3383280" y="3977640"/>
            <a:ext cx="1028700" cy="484632"/>
          </a:xfrm>
          <a:prstGeom prst="rect">
            <a:avLst/>
          </a:prstGeom>
          <a:ln w="9525">
            <a:solidFill>
              <a:srgbClr val="E3E9F2"/>
            </a:solidFill>
            <a:prstDash val="solid"/>
          </a:ln>
        </p:spPr>
      </p:sp>
      <p:sp>
        <p:nvSpPr>
          <p:cNvPr id="67" name="Shape 65"/>
          <p:cNvSpPr/>
          <p:nvPr/>
        </p:nvSpPr>
        <p:spPr>
          <a:xfrm>
            <a:off x="4411980" y="3977640"/>
            <a:ext cx="1028700" cy="484632"/>
          </a:xfrm>
          <a:prstGeom prst="rect">
            <a:avLst/>
          </a:prstGeom>
          <a:ln w="9525">
            <a:solidFill>
              <a:srgbClr val="E3E9F2"/>
            </a:solidFill>
            <a:prstDash val="solid"/>
          </a:ln>
        </p:spPr>
      </p:sp>
      <p:sp>
        <p:nvSpPr>
          <p:cNvPr id="68" name="Shape 66"/>
          <p:cNvSpPr/>
          <p:nvPr/>
        </p:nvSpPr>
        <p:spPr>
          <a:xfrm>
            <a:off x="5440680" y="3977640"/>
            <a:ext cx="1028700" cy="484632"/>
          </a:xfrm>
          <a:prstGeom prst="rect">
            <a:avLst/>
          </a:prstGeom>
          <a:ln w="9525">
            <a:solidFill>
              <a:srgbClr val="E3E9F2"/>
            </a:solidFill>
            <a:prstDash val="solid"/>
          </a:ln>
        </p:spPr>
      </p:sp>
      <p:sp>
        <p:nvSpPr>
          <p:cNvPr id="69" name="Shape 67"/>
          <p:cNvSpPr/>
          <p:nvPr/>
        </p:nvSpPr>
        <p:spPr>
          <a:xfrm>
            <a:off x="6469380" y="3977640"/>
            <a:ext cx="1028700" cy="484632"/>
          </a:xfrm>
          <a:prstGeom prst="rect">
            <a:avLst/>
          </a:prstGeom>
          <a:ln w="9525">
            <a:solidFill>
              <a:srgbClr val="E3E9F2"/>
            </a:solidFill>
            <a:prstDash val="solid"/>
          </a:ln>
        </p:spPr>
      </p:sp>
      <p:sp>
        <p:nvSpPr>
          <p:cNvPr id="70" name="Shape 68"/>
          <p:cNvSpPr/>
          <p:nvPr/>
        </p:nvSpPr>
        <p:spPr>
          <a:xfrm>
            <a:off x="7498080" y="3977640"/>
            <a:ext cx="1028700" cy="484632"/>
          </a:xfrm>
          <a:prstGeom prst="rect">
            <a:avLst/>
          </a:prstGeom>
          <a:ln w="9525">
            <a:solidFill>
              <a:srgbClr val="E3E9F2"/>
            </a:solidFill>
            <a:prstDash val="solid"/>
          </a:ln>
        </p:spPr>
      </p:sp>
      <p:sp>
        <p:nvSpPr>
          <p:cNvPr id="71" name="Shape 69"/>
          <p:cNvSpPr/>
          <p:nvPr/>
        </p:nvSpPr>
        <p:spPr>
          <a:xfrm>
            <a:off x="8526780" y="3977640"/>
            <a:ext cx="1028700" cy="484632"/>
          </a:xfrm>
          <a:prstGeom prst="rect">
            <a:avLst/>
          </a:prstGeom>
          <a:ln w="9525">
            <a:solidFill>
              <a:srgbClr val="E3E9F2"/>
            </a:solidFill>
            <a:prstDash val="solid"/>
          </a:ln>
        </p:spPr>
      </p:sp>
      <p:sp>
        <p:nvSpPr>
          <p:cNvPr id="72" name="Shape 70"/>
          <p:cNvSpPr/>
          <p:nvPr/>
        </p:nvSpPr>
        <p:spPr>
          <a:xfrm>
            <a:off x="9555480" y="3977640"/>
            <a:ext cx="1028700" cy="484632"/>
          </a:xfrm>
          <a:prstGeom prst="rect">
            <a:avLst/>
          </a:prstGeom>
          <a:ln w="9525">
            <a:solidFill>
              <a:srgbClr val="E3E9F2"/>
            </a:solidFill>
            <a:prstDash val="solid"/>
          </a:ln>
        </p:spPr>
      </p:sp>
      <p:sp>
        <p:nvSpPr>
          <p:cNvPr id="73" name="Shape 71"/>
          <p:cNvSpPr/>
          <p:nvPr/>
        </p:nvSpPr>
        <p:spPr>
          <a:xfrm>
            <a:off x="10584180" y="3977640"/>
            <a:ext cx="1028700" cy="484632"/>
          </a:xfrm>
          <a:prstGeom prst="rect">
            <a:avLst/>
          </a:prstGeom>
          <a:ln w="9525">
            <a:solidFill>
              <a:srgbClr val="E3E9F2"/>
            </a:solidFill>
            <a:prstDash val="solid"/>
          </a:ln>
        </p:spPr>
      </p:sp>
      <p:sp>
        <p:nvSpPr>
          <p:cNvPr id="74" name="Shape 72"/>
          <p:cNvSpPr/>
          <p:nvPr/>
        </p:nvSpPr>
        <p:spPr>
          <a:xfrm>
            <a:off x="8563356" y="4050792"/>
            <a:ext cx="955548" cy="338328"/>
          </a:xfrm>
          <a:prstGeom prst="roundRect">
            <a:avLst>
              <a:gd name="adj" fmla="val 13514"/>
            </a:avLst>
          </a:prstGeom>
          <a:solidFill>
            <a:srgbClr val="2F5D8A"/>
          </a:solidFill>
        </p:spPr>
      </p:sp>
      <p:sp>
        <p:nvSpPr>
          <p:cNvPr id="75" name="Text 73"/>
          <p:cNvSpPr/>
          <p:nvPr/>
        </p:nvSpPr>
        <p:spPr>
          <a:xfrm>
            <a:off x="640080" y="4462272"/>
            <a:ext cx="2651760" cy="484632"/>
          </a:xfrm>
          <a:prstGeom prst="rect">
            <a:avLst/>
          </a:prstGeom>
          <a:noFill/>
        </p:spPr>
        <p:txBody>
          <a:bodyPr wrap="square" rtlCol="0" anchor="ctr"/>
          <a:lstStyle/>
          <a:p>
            <a:pPr marL="0" indent="0">
              <a:buNone/>
            </a:pPr>
            <a:r>
              <a:rPr lang="en-US" sz="1100" dirty="0">
                <a:solidFill>
                  <a:srgbClr val="1B2A4A"/>
                </a:solidFill>
                <a:latin typeface="Calibri" pitchFamily="34" charset="0"/>
                <a:ea typeface="Calibri" pitchFamily="34" charset="-122"/>
                <a:cs typeface="Calibri" pitchFamily="34" charset="-120"/>
              </a:rPr>
              <a:t>Frontend Integration &amp; Testing</a:t>
            </a:r>
            <a:endParaRPr lang="en-US" sz="1100" dirty="0"/>
          </a:p>
        </p:txBody>
      </p:sp>
      <p:sp>
        <p:nvSpPr>
          <p:cNvPr id="76" name="Shape 74"/>
          <p:cNvSpPr/>
          <p:nvPr/>
        </p:nvSpPr>
        <p:spPr>
          <a:xfrm>
            <a:off x="3383280" y="4462272"/>
            <a:ext cx="1028700" cy="484632"/>
          </a:xfrm>
          <a:prstGeom prst="rect">
            <a:avLst/>
          </a:prstGeom>
          <a:ln w="9525">
            <a:solidFill>
              <a:srgbClr val="E3E9F2"/>
            </a:solidFill>
            <a:prstDash val="solid"/>
          </a:ln>
        </p:spPr>
      </p:sp>
      <p:sp>
        <p:nvSpPr>
          <p:cNvPr id="77" name="Shape 75"/>
          <p:cNvSpPr/>
          <p:nvPr/>
        </p:nvSpPr>
        <p:spPr>
          <a:xfrm>
            <a:off x="4411980" y="4462272"/>
            <a:ext cx="1028700" cy="484632"/>
          </a:xfrm>
          <a:prstGeom prst="rect">
            <a:avLst/>
          </a:prstGeom>
          <a:ln w="9525">
            <a:solidFill>
              <a:srgbClr val="E3E9F2"/>
            </a:solidFill>
            <a:prstDash val="solid"/>
          </a:ln>
        </p:spPr>
      </p:sp>
      <p:sp>
        <p:nvSpPr>
          <p:cNvPr id="78" name="Shape 76"/>
          <p:cNvSpPr/>
          <p:nvPr/>
        </p:nvSpPr>
        <p:spPr>
          <a:xfrm>
            <a:off x="5440680" y="4462272"/>
            <a:ext cx="1028700" cy="484632"/>
          </a:xfrm>
          <a:prstGeom prst="rect">
            <a:avLst/>
          </a:prstGeom>
          <a:ln w="9525">
            <a:solidFill>
              <a:srgbClr val="E3E9F2"/>
            </a:solidFill>
            <a:prstDash val="solid"/>
          </a:ln>
        </p:spPr>
      </p:sp>
      <p:sp>
        <p:nvSpPr>
          <p:cNvPr id="79" name="Shape 77"/>
          <p:cNvSpPr/>
          <p:nvPr/>
        </p:nvSpPr>
        <p:spPr>
          <a:xfrm>
            <a:off x="6469380" y="4462272"/>
            <a:ext cx="1028700" cy="484632"/>
          </a:xfrm>
          <a:prstGeom prst="rect">
            <a:avLst/>
          </a:prstGeom>
          <a:ln w="9525">
            <a:solidFill>
              <a:srgbClr val="E3E9F2"/>
            </a:solidFill>
            <a:prstDash val="solid"/>
          </a:ln>
        </p:spPr>
      </p:sp>
      <p:sp>
        <p:nvSpPr>
          <p:cNvPr id="80" name="Shape 78"/>
          <p:cNvSpPr/>
          <p:nvPr/>
        </p:nvSpPr>
        <p:spPr>
          <a:xfrm>
            <a:off x="7498080" y="4462272"/>
            <a:ext cx="1028700" cy="484632"/>
          </a:xfrm>
          <a:prstGeom prst="rect">
            <a:avLst/>
          </a:prstGeom>
          <a:ln w="9525">
            <a:solidFill>
              <a:srgbClr val="E3E9F2"/>
            </a:solidFill>
            <a:prstDash val="solid"/>
          </a:ln>
        </p:spPr>
      </p:sp>
      <p:sp>
        <p:nvSpPr>
          <p:cNvPr id="81" name="Shape 79"/>
          <p:cNvSpPr/>
          <p:nvPr/>
        </p:nvSpPr>
        <p:spPr>
          <a:xfrm>
            <a:off x="8526780" y="4462272"/>
            <a:ext cx="1028700" cy="484632"/>
          </a:xfrm>
          <a:prstGeom prst="rect">
            <a:avLst/>
          </a:prstGeom>
          <a:ln w="9525">
            <a:solidFill>
              <a:srgbClr val="E3E9F2"/>
            </a:solidFill>
            <a:prstDash val="solid"/>
          </a:ln>
        </p:spPr>
      </p:sp>
      <p:sp>
        <p:nvSpPr>
          <p:cNvPr id="82" name="Shape 80"/>
          <p:cNvSpPr/>
          <p:nvPr/>
        </p:nvSpPr>
        <p:spPr>
          <a:xfrm>
            <a:off x="9555480" y="4462272"/>
            <a:ext cx="1028700" cy="484632"/>
          </a:xfrm>
          <a:prstGeom prst="rect">
            <a:avLst/>
          </a:prstGeom>
          <a:ln w="9525">
            <a:solidFill>
              <a:srgbClr val="E3E9F2"/>
            </a:solidFill>
            <a:prstDash val="solid"/>
          </a:ln>
        </p:spPr>
      </p:sp>
      <p:sp>
        <p:nvSpPr>
          <p:cNvPr id="83" name="Shape 81"/>
          <p:cNvSpPr/>
          <p:nvPr/>
        </p:nvSpPr>
        <p:spPr>
          <a:xfrm>
            <a:off x="10584180" y="4462272"/>
            <a:ext cx="1028700" cy="484632"/>
          </a:xfrm>
          <a:prstGeom prst="rect">
            <a:avLst/>
          </a:prstGeom>
          <a:ln w="9525">
            <a:solidFill>
              <a:srgbClr val="E3E9F2"/>
            </a:solidFill>
            <a:prstDash val="solid"/>
          </a:ln>
        </p:spPr>
      </p:sp>
      <p:sp>
        <p:nvSpPr>
          <p:cNvPr id="84" name="Shape 82"/>
          <p:cNvSpPr/>
          <p:nvPr/>
        </p:nvSpPr>
        <p:spPr>
          <a:xfrm>
            <a:off x="9592056" y="4535424"/>
            <a:ext cx="955548" cy="338328"/>
          </a:xfrm>
          <a:prstGeom prst="roundRect">
            <a:avLst>
              <a:gd name="adj" fmla="val 13514"/>
            </a:avLst>
          </a:prstGeom>
          <a:solidFill>
            <a:srgbClr val="13294B"/>
          </a:solidFill>
        </p:spPr>
      </p:sp>
      <p:sp>
        <p:nvSpPr>
          <p:cNvPr id="85" name="Shape 83"/>
          <p:cNvSpPr/>
          <p:nvPr/>
        </p:nvSpPr>
        <p:spPr>
          <a:xfrm>
            <a:off x="548640" y="4946904"/>
            <a:ext cx="11064240" cy="484632"/>
          </a:xfrm>
          <a:prstGeom prst="rect">
            <a:avLst/>
          </a:prstGeom>
          <a:solidFill>
            <a:srgbClr val="F4F7FB"/>
          </a:solidFill>
        </p:spPr>
      </p:sp>
      <p:sp>
        <p:nvSpPr>
          <p:cNvPr id="86" name="Text 84"/>
          <p:cNvSpPr/>
          <p:nvPr/>
        </p:nvSpPr>
        <p:spPr>
          <a:xfrm>
            <a:off x="640080" y="4946904"/>
            <a:ext cx="2651760" cy="484632"/>
          </a:xfrm>
          <a:prstGeom prst="rect">
            <a:avLst/>
          </a:prstGeom>
          <a:noFill/>
        </p:spPr>
        <p:txBody>
          <a:bodyPr wrap="square" rtlCol="0" anchor="ctr"/>
          <a:lstStyle/>
          <a:p>
            <a:pPr marL="0" indent="0">
              <a:buNone/>
            </a:pPr>
            <a:r>
              <a:rPr lang="en-US" sz="1100" dirty="0">
                <a:solidFill>
                  <a:srgbClr val="1B2A4A"/>
                </a:solidFill>
                <a:latin typeface="Calibri" pitchFamily="34" charset="0"/>
                <a:ea typeface="Calibri" pitchFamily="34" charset="-122"/>
                <a:cs typeface="Calibri" pitchFamily="34" charset="-120"/>
              </a:rPr>
              <a:t>Documentation &amp; Final Review</a:t>
            </a:r>
            <a:endParaRPr lang="en-US" sz="1100" dirty="0"/>
          </a:p>
        </p:txBody>
      </p:sp>
      <p:sp>
        <p:nvSpPr>
          <p:cNvPr id="87" name="Shape 85"/>
          <p:cNvSpPr/>
          <p:nvPr/>
        </p:nvSpPr>
        <p:spPr>
          <a:xfrm>
            <a:off x="3383280" y="4946904"/>
            <a:ext cx="1028700" cy="484632"/>
          </a:xfrm>
          <a:prstGeom prst="rect">
            <a:avLst/>
          </a:prstGeom>
          <a:ln w="9525">
            <a:solidFill>
              <a:srgbClr val="E3E9F2"/>
            </a:solidFill>
            <a:prstDash val="solid"/>
          </a:ln>
        </p:spPr>
      </p:sp>
      <p:sp>
        <p:nvSpPr>
          <p:cNvPr id="88" name="Shape 86"/>
          <p:cNvSpPr/>
          <p:nvPr/>
        </p:nvSpPr>
        <p:spPr>
          <a:xfrm>
            <a:off x="4411980" y="4946904"/>
            <a:ext cx="1028700" cy="484632"/>
          </a:xfrm>
          <a:prstGeom prst="rect">
            <a:avLst/>
          </a:prstGeom>
          <a:ln w="9525">
            <a:solidFill>
              <a:srgbClr val="E3E9F2"/>
            </a:solidFill>
            <a:prstDash val="solid"/>
          </a:ln>
        </p:spPr>
      </p:sp>
      <p:sp>
        <p:nvSpPr>
          <p:cNvPr id="89" name="Shape 87"/>
          <p:cNvSpPr/>
          <p:nvPr/>
        </p:nvSpPr>
        <p:spPr>
          <a:xfrm>
            <a:off x="5440680" y="4946904"/>
            <a:ext cx="1028700" cy="484632"/>
          </a:xfrm>
          <a:prstGeom prst="rect">
            <a:avLst/>
          </a:prstGeom>
          <a:ln w="9525">
            <a:solidFill>
              <a:srgbClr val="E3E9F2"/>
            </a:solidFill>
            <a:prstDash val="solid"/>
          </a:ln>
        </p:spPr>
      </p:sp>
      <p:sp>
        <p:nvSpPr>
          <p:cNvPr id="90" name="Shape 88"/>
          <p:cNvSpPr/>
          <p:nvPr/>
        </p:nvSpPr>
        <p:spPr>
          <a:xfrm>
            <a:off x="6469380" y="4946904"/>
            <a:ext cx="1028700" cy="484632"/>
          </a:xfrm>
          <a:prstGeom prst="rect">
            <a:avLst/>
          </a:prstGeom>
          <a:ln w="9525">
            <a:solidFill>
              <a:srgbClr val="E3E9F2"/>
            </a:solidFill>
            <a:prstDash val="solid"/>
          </a:ln>
        </p:spPr>
      </p:sp>
      <p:sp>
        <p:nvSpPr>
          <p:cNvPr id="91" name="Shape 89"/>
          <p:cNvSpPr/>
          <p:nvPr/>
        </p:nvSpPr>
        <p:spPr>
          <a:xfrm>
            <a:off x="7498080" y="4946904"/>
            <a:ext cx="1028700" cy="484632"/>
          </a:xfrm>
          <a:prstGeom prst="rect">
            <a:avLst/>
          </a:prstGeom>
          <a:ln w="9525">
            <a:solidFill>
              <a:srgbClr val="E3E9F2"/>
            </a:solidFill>
            <a:prstDash val="solid"/>
          </a:ln>
        </p:spPr>
      </p:sp>
      <p:sp>
        <p:nvSpPr>
          <p:cNvPr id="92" name="Shape 90"/>
          <p:cNvSpPr/>
          <p:nvPr/>
        </p:nvSpPr>
        <p:spPr>
          <a:xfrm>
            <a:off x="8526780" y="4946904"/>
            <a:ext cx="1028700" cy="484632"/>
          </a:xfrm>
          <a:prstGeom prst="rect">
            <a:avLst/>
          </a:prstGeom>
          <a:ln w="9525">
            <a:solidFill>
              <a:srgbClr val="E3E9F2"/>
            </a:solidFill>
            <a:prstDash val="solid"/>
          </a:ln>
        </p:spPr>
      </p:sp>
      <p:sp>
        <p:nvSpPr>
          <p:cNvPr id="93" name="Shape 91"/>
          <p:cNvSpPr/>
          <p:nvPr/>
        </p:nvSpPr>
        <p:spPr>
          <a:xfrm>
            <a:off x="9555480" y="4946904"/>
            <a:ext cx="1028700" cy="484632"/>
          </a:xfrm>
          <a:prstGeom prst="rect">
            <a:avLst/>
          </a:prstGeom>
          <a:ln w="9525">
            <a:solidFill>
              <a:srgbClr val="E3E9F2"/>
            </a:solidFill>
            <a:prstDash val="solid"/>
          </a:ln>
        </p:spPr>
      </p:sp>
      <p:sp>
        <p:nvSpPr>
          <p:cNvPr id="94" name="Shape 92"/>
          <p:cNvSpPr/>
          <p:nvPr/>
        </p:nvSpPr>
        <p:spPr>
          <a:xfrm>
            <a:off x="10584180" y="4946904"/>
            <a:ext cx="1028700" cy="484632"/>
          </a:xfrm>
          <a:prstGeom prst="rect">
            <a:avLst/>
          </a:prstGeom>
          <a:ln w="9525">
            <a:solidFill>
              <a:srgbClr val="E3E9F2"/>
            </a:solidFill>
            <a:prstDash val="solid"/>
          </a:ln>
        </p:spPr>
      </p:sp>
      <p:sp>
        <p:nvSpPr>
          <p:cNvPr id="95" name="Shape 93"/>
          <p:cNvSpPr/>
          <p:nvPr/>
        </p:nvSpPr>
        <p:spPr>
          <a:xfrm>
            <a:off x="10620756" y="5020056"/>
            <a:ext cx="955548" cy="338328"/>
          </a:xfrm>
          <a:prstGeom prst="roundRect">
            <a:avLst>
              <a:gd name="adj" fmla="val 13514"/>
            </a:avLst>
          </a:prstGeom>
          <a:solidFill>
            <a:srgbClr val="D9A441"/>
          </a:solidFill>
        </p:spPr>
      </p:sp>
      <p:sp>
        <p:nvSpPr>
          <p:cNvPr id="96" name="Shape 94"/>
          <p:cNvSpPr/>
          <p:nvPr/>
        </p:nvSpPr>
        <p:spPr>
          <a:xfrm>
            <a:off x="548640" y="1554480"/>
            <a:ext cx="0" cy="3877056"/>
          </a:xfrm>
          <a:prstGeom prst="line">
            <a:avLst/>
          </a:prstGeom>
          <a:noFill/>
          <a:ln w="12700">
            <a:solidFill>
              <a:srgbClr val="D7E0EC"/>
            </a:solidFill>
            <a:prstDash val="solid"/>
          </a:ln>
        </p:spPr>
      </p:sp>
      <p:sp>
        <p:nvSpPr>
          <p:cNvPr id="97" name="Shape 95"/>
          <p:cNvSpPr/>
          <p:nvPr/>
        </p:nvSpPr>
        <p:spPr>
          <a:xfrm>
            <a:off x="11612880" y="1554480"/>
            <a:ext cx="0" cy="3877056"/>
          </a:xfrm>
          <a:prstGeom prst="line">
            <a:avLst/>
          </a:prstGeom>
          <a:noFill/>
          <a:ln w="12700">
            <a:solidFill>
              <a:srgbClr val="D7E0EC"/>
            </a:solidFill>
            <a:prstDash val="solid"/>
          </a:ln>
        </p:spPr>
      </p:sp>
      <p:sp>
        <p:nvSpPr>
          <p:cNvPr id="98" name="Text 96"/>
          <p:cNvSpPr/>
          <p:nvPr/>
        </p:nvSpPr>
        <p:spPr>
          <a:xfrm>
            <a:off x="457200" y="6519672"/>
            <a:ext cx="5486400" cy="274320"/>
          </a:xfrm>
          <a:prstGeom prst="rect">
            <a:avLst/>
          </a:prstGeom>
          <a:noFill/>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25CS1302E – DBS-DBD  |  Project Review-1</a:t>
            </a:r>
            <a:endParaRPr lang="en-US" sz="900" dirty="0"/>
          </a:p>
        </p:txBody>
      </p:sp>
      <p:sp>
        <p:nvSpPr>
          <p:cNvPr id="99" name="Text 97"/>
          <p:cNvSpPr/>
          <p:nvPr/>
        </p:nvSpPr>
        <p:spPr>
          <a:xfrm>
            <a:off x="11277295" y="6519672"/>
            <a:ext cx="457200" cy="274320"/>
          </a:xfrm>
          <a:prstGeom prst="rect">
            <a:avLst/>
          </a:prstGeom>
          <a:noFill/>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9</a:t>
            </a:r>
            <a:endParaRPr lang="en-US" sz="900" dirty="0"/>
          </a:p>
        </p:txBody>
      </p:sp>
      <p:pic>
        <p:nvPicPr>
          <p:cNvPr id="360564775"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9959340" y="265430"/>
            <a:ext cx="1903730" cy="768350"/>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4077</Words>
  <Application>WPS Presentation</Application>
  <PresentationFormat>On-screen Show (16:9)</PresentationFormat>
  <Paragraphs>378</Paragraphs>
  <Slides>9</Slides>
  <Notes>9</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9</vt:i4>
      </vt:variant>
    </vt:vector>
  </HeadingPairs>
  <TitlesOfParts>
    <vt:vector size="26" baseType="lpstr">
      <vt:lpstr>Arial</vt:lpstr>
      <vt:lpstr>SimSun</vt:lpstr>
      <vt:lpstr>Wingdings</vt:lpstr>
      <vt:lpstr>Calibri</vt:lpstr>
      <vt:lpstr>Helvetica Neue</vt:lpstr>
      <vt:lpstr>Calibri</vt:lpstr>
      <vt:lpstr>Calibri</vt:lpstr>
      <vt:lpstr>Poppins</vt:lpstr>
      <vt:lpstr>Poppins</vt:lpstr>
      <vt:lpstr>Poppins</vt:lpstr>
      <vt:lpstr>Heiti TC Light</vt:lpstr>
      <vt:lpstr>苹方-简</vt:lpstr>
      <vt:lpstr>Microsoft YaHei</vt:lpstr>
      <vt:lpstr>汉仪旗黑</vt:lpstr>
      <vt:lpstr>宋体-简</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Lakshith Reddy</cp:lastModifiedBy>
  <cp:revision>4</cp:revision>
  <dcterms:created xsi:type="dcterms:W3CDTF">2026-08-02T11:03:39Z</dcterms:created>
  <dcterms:modified xsi:type="dcterms:W3CDTF">2026-08-02T11:03:39Z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1033-12.1.26035.26035</vt:lpwstr>
  </property>
  <property fmtid="{D5CDD505-2E9C-101B-9397-08002B2CF9AE}" pid="3" name="ICV">
    <vt:lpwstr>F8565987B31614823F1F6F6ABD9D760F_42</vt:lpwstr>
  </property>
</Properties>
</file>