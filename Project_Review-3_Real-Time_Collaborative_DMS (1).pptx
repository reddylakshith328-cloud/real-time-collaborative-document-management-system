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sync latency (ms)</c:v>
                </c:pt>
              </c:strCache>
            </c:strRef>
          </c:tx>
          <c:spPr>
            <a:solidFill>
              <a:srgbClr val="2F5D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 users</c:v>
                  </c:pt>
                  <c:pt idx="1">
                    <c:v>10 users</c:v>
                  </c:pt>
                  <c:pt idx="2">
                    <c:v>20 users</c:v>
                  </c:pt>
                  <c:pt idx="3">
                    <c:v>40 users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91</c:v>
                </c:pt>
                <c:pt idx="2">
                  <c:v>142</c:v>
                </c:pt>
                <c:pt idx="3">
                  <c:v>236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9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F0F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2"/>
                    </a:solidFill>
                    <a:latin typeface="Arial"/>
                  </a:rPr>
                  <a:t>ms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3291840" cy="3291840"/>
          </a:xfrm>
          <a:prstGeom prst="ellipse">
            <a:avLst/>
          </a:prstGeom>
          <a:solidFill>
            <a:srgbClr val="2F5D8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Collaborative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— Database Systems Engineering &amp; Distributed Backend Development (DBS-DBD)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2743200" cy="0"/>
          </a:xfrm>
          <a:prstGeom prst="line">
            <a:avLst/>
          </a:prstGeom>
          <a:noFill/>
          <a:ln w="19050">
            <a:solidFill>
              <a:srgbClr val="2F5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Sasidhar Kothuru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166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Lakshith – 2510030332      Ranadeep – 2510030337      Jivith – 2510030430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– 2510030322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Implementation  ·  Testing &amp; Validation of Results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architecture combining a React SPA client, a Spring Boot API / WebSocket backend, PostgreSQL for relational metadata, MinIO for object storage, and a Yjs CRDT engine for conflict-free real-time editing.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1284732" y="2075688"/>
            <a:ext cx="585216" cy="58521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7" name="Image 0" descr="/home/claude/work/icons/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810" y="2151766"/>
            <a:ext cx="433060" cy="433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19476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3136392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JWT, 4-tier roles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07208" y="18745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12" name="Shape 9"/>
          <p:cNvSpPr/>
          <p:nvPr/>
        </p:nvSpPr>
        <p:spPr>
          <a:xfrm>
            <a:off x="3543300" y="2075688"/>
            <a:ext cx="585216" cy="58521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3" name="Image 1" descr="/home/claude/work/icons/metad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378" y="2151766"/>
            <a:ext cx="433060" cy="4330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98848" y="19476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898648" y="2788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Storage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916936" y="3136392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+ MinIO objects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065776" y="18745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18" name="Shape 14"/>
          <p:cNvSpPr/>
          <p:nvPr/>
        </p:nvSpPr>
        <p:spPr>
          <a:xfrm>
            <a:off x="5801868" y="2075688"/>
            <a:ext cx="585216" cy="58521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9" name="Image 2" descr="/home/claude/work/icons/realt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946" y="2151766"/>
            <a:ext cx="433060" cy="4330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57416" y="19476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157216" y="2788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Engine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175504" y="3136392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Yjs CRDT over WebSocket (STOMP)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324344" y="18745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24" name="Shape 19"/>
          <p:cNvSpPr/>
          <p:nvPr/>
        </p:nvSpPr>
        <p:spPr>
          <a:xfrm>
            <a:off x="8060436" y="2075688"/>
            <a:ext cx="585216" cy="58521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5" name="Image 3" descr="/home/claude/work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514" y="2151766"/>
            <a:ext cx="433060" cy="4330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15984" y="19476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415784" y="2788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Versioning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434072" y="3136392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+ diff snapshots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9582912" y="18745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30" name="Shape 24"/>
          <p:cNvSpPr/>
          <p:nvPr/>
        </p:nvSpPr>
        <p:spPr>
          <a:xfrm>
            <a:off x="10319004" y="2075688"/>
            <a:ext cx="585216" cy="58521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31" name="Image 4" descr="/home/claude/work/icons/aud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5082" y="2151766"/>
            <a:ext cx="433060" cy="4330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274552" y="19476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9674352" y="2788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Governance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9692640" y="3136392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activity log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2651760" y="233172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4910328" y="233172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7168896" y="233172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9427464" y="233172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548640" y="388620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E8F0FA"/>
          </a:solidFill>
          <a:ln/>
        </p:spPr>
      </p:sp>
      <p:sp>
        <p:nvSpPr>
          <p:cNvPr id="40" name="Text 33"/>
          <p:cNvSpPr/>
          <p:nvPr/>
        </p:nvSpPr>
        <p:spPr>
          <a:xfrm>
            <a:off x="777240" y="4050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WORKFLOW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777240" y="438912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edits sync live via Yjs CRDT over a STOMP WebSocket channel; the Spring Boot gateway enforces RBAC per channel, persists metadata to PostgreSQL, streams file content to MinIO, and appends every operation to the audit log.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5989320" y="3886200"/>
            <a:ext cx="5669280" cy="1965960"/>
          </a:xfrm>
          <a:prstGeom prst="roundRect">
            <a:avLst>
              <a:gd name="adj" fmla="val 2791"/>
            </a:avLst>
          </a:prstGeom>
          <a:solidFill>
            <a:srgbClr val="13294B"/>
          </a:solidFill>
          <a:ln/>
        </p:spPr>
      </p:sp>
      <p:sp>
        <p:nvSpPr>
          <p:cNvPr id="43" name="Text 36"/>
          <p:cNvSpPr/>
          <p:nvPr/>
        </p:nvSpPr>
        <p:spPr>
          <a:xfrm>
            <a:off x="6217920" y="40507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6217920" y="438912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self-hosted platform that unifies real-time CRDT collaboration, 4-tier RBAC, versioning, full-text search, and audit governance — the combination identified as missing in the Review-2 literature gap analysis.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Review-3  |  Proposed Methodology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of Developed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and how it differs from existing methods studied in the literature review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3112" cy="3246120"/>
          </a:xfrm>
          <a:prstGeom prst="roundRect">
            <a:avLst>
              <a:gd name="adj" fmla="val 2254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20240"/>
            <a:ext cx="566928" cy="566928"/>
          </a:xfrm>
          <a:prstGeom prst="ellipse">
            <a:avLst/>
          </a:prstGeom>
          <a:solidFill>
            <a:srgbClr val="2F5D8A"/>
          </a:solidFill>
          <a:ln/>
        </p:spPr>
      </p:sp>
      <p:pic>
        <p:nvPicPr>
          <p:cNvPr id="7" name="Image 0" descr="/home/claude/work/icons/me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199394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606040"/>
            <a:ext cx="3051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Audit-Linked CRDT Operations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3291840"/>
            <a:ext cx="30510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Yjs CRDT edit operation is tagged with actor ID, role, and timestamp so live collaboration and the audit trail share one event stream — existing CRDT studies (Study B, C) track conflict resolution only, with no governance layer.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12920" y="1691640"/>
            <a:ext cx="3563112" cy="3246120"/>
          </a:xfrm>
          <a:prstGeom prst="roundRect">
            <a:avLst>
              <a:gd name="adj" fmla="val 2254"/>
            </a:avLst>
          </a:prstGeom>
          <a:solidFill>
            <a:srgbClr val="F4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4568952" y="1920240"/>
            <a:ext cx="566928" cy="566928"/>
          </a:xfrm>
          <a:prstGeom prst="ellipse">
            <a:avLst/>
          </a:prstGeom>
          <a:solidFill>
            <a:srgbClr val="2F5D8A"/>
          </a:solidFill>
          <a:ln/>
        </p:spPr>
      </p:sp>
      <p:pic>
        <p:nvPicPr>
          <p:cNvPr id="12" name="Image 1" descr="/home/claude/work/icons/roleaw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653" y="1993941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8952" y="2606040"/>
            <a:ext cx="3051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Real-Time Channels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68952" y="3291840"/>
            <a:ext cx="30510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is enforced at the WebSocket / STOMP channel level, not just on REST calls — a Viewer cannot open a write channel at all, closing the access-control gap left by CRDT-only systems (Study A, D).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77200" y="1691640"/>
            <a:ext cx="3563112" cy="3246120"/>
          </a:xfrm>
          <a:prstGeom prst="roundRect">
            <a:avLst>
              <a:gd name="adj" fmla="val 2254"/>
            </a:avLst>
          </a:prstGeom>
          <a:solidFill>
            <a:srgbClr val="F4F7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33232" y="1920240"/>
            <a:ext cx="566928" cy="566928"/>
          </a:xfrm>
          <a:prstGeom prst="ellipse">
            <a:avLst/>
          </a:prstGeom>
          <a:solidFill>
            <a:srgbClr val="2F5D8A"/>
          </a:solidFill>
          <a:ln/>
        </p:spPr>
      </p:sp>
      <p:pic>
        <p:nvPicPr>
          <p:cNvPr id="17" name="Image 2" descr="/home/claude/work/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33" y="1993941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3232" y="2606040"/>
            <a:ext cx="3051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CRDT-Integrated Versioning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33232" y="3291840"/>
            <a:ext cx="30510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Diff-based snapshots are captured from live CRDT document state, enabling one-click restore without pausing an active collaborative session — unlike Study E's RBAC model, which has no document-level versioning.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5266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EXISTING APPROACHES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reviewed study (Studies A–E) combines real-time CRDT editing, RBAC, versioning, and audit governance — the proposed methodology closes that gap in one platform.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Review-3  |  Novelty of Methodology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/ Inputs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3112" cy="4617720"/>
          </a:xfrm>
          <a:prstGeom prst="roundRect">
            <a:avLst>
              <a:gd name="adj" fmla="val 2053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2001012" y="1691640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/home/claude/work/icons/data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6600" y="1777228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68880"/>
            <a:ext cx="319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/ Inputs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017520"/>
            <a:ext cx="3014472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document corpus: 500 files (DOCX, PDF, XLSX) across contracts, reports, and spreadsheets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multi-user edit sessions generated for CRDT conflict testing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user/role directory for RBAC test coverage (Admin, Editor, Commenter, Viewer)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12920" y="1417320"/>
            <a:ext cx="3563112" cy="4617720"/>
          </a:xfrm>
          <a:prstGeom prst="roundRect">
            <a:avLst>
              <a:gd name="adj" fmla="val 2053"/>
            </a:avLst>
          </a:prstGeom>
          <a:solidFill>
            <a:srgbClr val="F4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5765292" y="1691640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1" name="Image 1" descr="/home/claude/work/icons/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880" y="1777228"/>
            <a:ext cx="487192" cy="487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5800" y="2468880"/>
            <a:ext cx="319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Considerations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87240" y="3017520"/>
            <a:ext cx="3014472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Spring Boot services behind a load balancer for horizontal scale-out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indexing + connection pooling for metadata/search at higher document volumes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configured for distributed object storage as document volume grows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77200" y="1417320"/>
            <a:ext cx="3563112" cy="4617720"/>
          </a:xfrm>
          <a:prstGeom prst="roundRect">
            <a:avLst>
              <a:gd name="adj" fmla="val 2053"/>
            </a:avLst>
          </a:prstGeom>
          <a:solidFill>
            <a:srgbClr val="F4F7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529572" y="1691640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6" name="Image 2" descr="/home/claude/work/icons/customiz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160" y="1777228"/>
            <a:ext cx="487192" cy="487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60080" y="2468880"/>
            <a:ext cx="319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3017520"/>
            <a:ext cx="3014472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RBAC role sets and folder hierarchies per organization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storage backend (MinIO today; S3-compatible in future)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versioning retention window and audit log export format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Review-3  |  Datasets &amp; Inputs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Scenarios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of the platform across organization types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3112" cy="4434840"/>
          </a:xfrm>
          <a:prstGeom prst="roundRect">
            <a:avLst>
              <a:gd name="adj" fmla="val 2053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20240"/>
            <a:ext cx="603504" cy="603504"/>
          </a:xfrm>
          <a:prstGeom prst="ellipse">
            <a:avLst/>
          </a:prstGeom>
          <a:solidFill>
            <a:srgbClr val="2F5D8A"/>
          </a:solidFill>
          <a:ln/>
        </p:spPr>
      </p:sp>
      <p:pic>
        <p:nvPicPr>
          <p:cNvPr id="7" name="Image 0" descr="/home/claude/work/icons/enterpr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416" y="1998696"/>
            <a:ext cx="446593" cy="446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651760"/>
            <a:ext cx="301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944368"/>
            <a:ext cx="301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Multi-Department Collaboration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749040"/>
            <a:ext cx="301447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HR teams co-edit budget and policy documents concurrently; role-based channels ensure Finance edits stay isolated from HR viewers, with full audit trail for compliance.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12920" y="1645920"/>
            <a:ext cx="3563112" cy="4434840"/>
          </a:xfrm>
          <a:prstGeom prst="roundRect">
            <a:avLst>
              <a:gd name="adj" fmla="val 2053"/>
            </a:avLst>
          </a:prstGeom>
          <a:solidFill>
            <a:srgbClr val="13294B"/>
          </a:solidFill>
          <a:ln/>
        </p:spPr>
      </p:sp>
      <p:sp>
        <p:nvSpPr>
          <p:cNvPr id="12" name="Shape 9"/>
          <p:cNvSpPr/>
          <p:nvPr/>
        </p:nvSpPr>
        <p:spPr>
          <a:xfrm>
            <a:off x="4587240" y="1920240"/>
            <a:ext cx="603504" cy="603504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3" name="Image 1" descr="/home/claude/work/icons/edu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696" y="1998696"/>
            <a:ext cx="446593" cy="4465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7240" y="2651760"/>
            <a:ext cx="301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87240" y="2944368"/>
            <a:ext cx="301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 Co-Authoring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87240" y="3749040"/>
            <a:ext cx="301447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faculty jointly author reports and theses in real time, with version history letting instructors review edit provenance and restore earlier drafts.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77200" y="1645920"/>
            <a:ext cx="3563112" cy="4434840"/>
          </a:xfrm>
          <a:prstGeom prst="roundRect">
            <a:avLst>
              <a:gd name="adj" fmla="val 2053"/>
            </a:avLst>
          </a:prstGeom>
          <a:solidFill>
            <a:srgbClr val="F4F7FB"/>
          </a:solidFill>
          <a:ln/>
        </p:spPr>
      </p:sp>
      <p:sp>
        <p:nvSpPr>
          <p:cNvPr id="18" name="Shape 14"/>
          <p:cNvSpPr/>
          <p:nvPr/>
        </p:nvSpPr>
        <p:spPr>
          <a:xfrm>
            <a:off x="8351520" y="1920240"/>
            <a:ext cx="603504" cy="603504"/>
          </a:xfrm>
          <a:prstGeom prst="ellipse">
            <a:avLst/>
          </a:prstGeom>
          <a:solidFill>
            <a:srgbClr val="2F5D8A"/>
          </a:solidFill>
          <a:ln/>
        </p:spPr>
      </p:sp>
      <p:pic>
        <p:nvPicPr>
          <p:cNvPr id="19" name="Image 2" descr="/home/claude/work/icons/smallbi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976" y="1998696"/>
            <a:ext cx="446593" cy="4465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51520" y="2651760"/>
            <a:ext cx="301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351520" y="2944368"/>
            <a:ext cx="301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Client Document Sharing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351520" y="3749040"/>
            <a:ext cx="301447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documents are shared through Viewer/Commenter roles, keeping sensitive edits restricted while maintaining a searchable, versioned record for audits.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Review-3  |  Application Scenarios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categories designed to validate the proposed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7FB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01368"/>
            <a:ext cx="475488" cy="47548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7" name="Image 0" descr="/home/claude/work/icons/funct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621" y="1863181"/>
            <a:ext cx="351861" cy="3518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4650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77640" y="1746504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RBAC role enforcement, CRUD, folder management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104120" y="18288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2F5D8A"/>
          </a:solidFill>
          <a:ln/>
        </p:spPr>
      </p:sp>
      <p:sp>
        <p:nvSpPr>
          <p:cNvPr id="11" name="Text 8"/>
          <p:cNvSpPr/>
          <p:nvPr/>
        </p:nvSpPr>
        <p:spPr>
          <a:xfrm>
            <a:off x="1010412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cases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32888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2642616"/>
            <a:ext cx="475488" cy="47548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4" name="Image 1" descr="/home/claude/work/icons/concurr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21" y="2704429"/>
            <a:ext cx="351861" cy="3518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58775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977640" y="258775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simultaneous edits and CRDT conflict resolution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104120" y="2670048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2F5D8A"/>
          </a:solidFill>
          <a:ln/>
        </p:spPr>
      </p:sp>
      <p:sp>
        <p:nvSpPr>
          <p:cNvPr id="18" name="Text 14"/>
          <p:cNvSpPr/>
          <p:nvPr/>
        </p:nvSpPr>
        <p:spPr>
          <a:xfrm>
            <a:off x="10104120" y="26700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cases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3374136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7FB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3483864"/>
            <a:ext cx="475488" cy="47548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1" name="Image 2" descr="/home/claude/work/icons/perform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21" y="3545677"/>
            <a:ext cx="351861" cy="3518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429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Load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977640" y="34290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sessions, sync latency, throughput under load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10104120" y="3511296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2F5D8A"/>
          </a:solidFill>
          <a:ln/>
        </p:spPr>
      </p:sp>
      <p:sp>
        <p:nvSpPr>
          <p:cNvPr id="25" name="Text 20"/>
          <p:cNvSpPr/>
          <p:nvPr/>
        </p:nvSpPr>
        <p:spPr>
          <a:xfrm>
            <a:off x="10104120" y="35112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cases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4215384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325112"/>
            <a:ext cx="475488" cy="47548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8" name="Image 3" descr="/home/claude/work/icons/secur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21" y="4386925"/>
            <a:ext cx="351861" cy="35186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42702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3977640" y="427024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attempts, JWT expiry, channel isolation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10104120" y="4352544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2F5D8A"/>
          </a:solidFill>
          <a:ln/>
        </p:spPr>
      </p:sp>
      <p:sp>
        <p:nvSpPr>
          <p:cNvPr id="32" name="Text 26"/>
          <p:cNvSpPr/>
          <p:nvPr/>
        </p:nvSpPr>
        <p:spPr>
          <a:xfrm>
            <a:off x="10104120" y="43525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cases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48640" y="5056632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7FB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49808" y="5166360"/>
            <a:ext cx="475488" cy="47548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35" name="Image 4" descr="/home/claude/work/icons/vers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621" y="5228173"/>
            <a:ext cx="351861" cy="35186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17320" y="511149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Search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3977640" y="511149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accuracy, one-click restore, full-text query relevance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10104120" y="5193792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2F5D8A"/>
          </a:solidFill>
          <a:ln/>
        </p:spPr>
      </p:sp>
      <p:sp>
        <p:nvSpPr>
          <p:cNvPr id="39" name="Text 32"/>
          <p:cNvSpPr/>
          <p:nvPr/>
        </p:nvSpPr>
        <p:spPr>
          <a:xfrm>
            <a:off x="10104120" y="51937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cases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Review-3  |  Methodology Evaluation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Evaluation —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outcomes across the 102 executed test cases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35758" cy="1691640"/>
          </a:xfrm>
          <a:prstGeom prst="roundRect">
            <a:avLst>
              <a:gd name="adj" fmla="val 4324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4708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7" name="Image 0" descr="/home/claude/wor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90652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55648"/>
            <a:ext cx="17213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2423160"/>
            <a:ext cx="22699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rate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/ 102 cases)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67278" y="1645920"/>
            <a:ext cx="2635758" cy="1691640"/>
          </a:xfrm>
          <a:prstGeom prst="roundRect">
            <a:avLst>
              <a:gd name="adj" fmla="val 4324"/>
            </a:avLst>
          </a:prstGeom>
          <a:solidFill>
            <a:srgbClr val="13294B"/>
          </a:solidFill>
          <a:ln/>
        </p:spPr>
      </p:sp>
      <p:sp>
        <p:nvSpPr>
          <p:cNvPr id="11" name="Shape 8"/>
          <p:cNvSpPr/>
          <p:nvPr/>
        </p:nvSpPr>
        <p:spPr>
          <a:xfrm>
            <a:off x="3568446" y="184708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2" name="Image 1" descr="/home/claude/work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882" y="190652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44518" y="1755648"/>
            <a:ext cx="17213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ms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568446" y="2423160"/>
            <a:ext cx="22699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CRDT sync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20 users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85916" y="1645920"/>
            <a:ext cx="2635758" cy="1691640"/>
          </a:xfrm>
          <a:prstGeom prst="roundRect">
            <a:avLst>
              <a:gd name="adj" fmla="val 4324"/>
            </a:avLst>
          </a:prstGeom>
          <a:solidFill>
            <a:srgbClr val="13294B"/>
          </a:solidFill>
          <a:ln/>
        </p:spPr>
      </p:sp>
      <p:sp>
        <p:nvSpPr>
          <p:cNvPr id="16" name="Shape 12"/>
          <p:cNvSpPr/>
          <p:nvPr/>
        </p:nvSpPr>
        <p:spPr>
          <a:xfrm>
            <a:off x="6387084" y="184708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7" name="Image 2" descr="/home/claude/work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0652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63156" y="1755648"/>
            <a:ext cx="17213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ms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387084" y="2423160"/>
            <a:ext cx="22699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full-text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response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04554" y="1645920"/>
            <a:ext cx="2635758" cy="1691640"/>
          </a:xfrm>
          <a:prstGeom prst="roundRect">
            <a:avLst>
              <a:gd name="adj" fmla="val 4324"/>
            </a:avLst>
          </a:prstGeom>
          <a:solidFill>
            <a:srgbClr val="13294B"/>
          </a:solidFill>
          <a:ln/>
        </p:spPr>
      </p:sp>
      <p:sp>
        <p:nvSpPr>
          <p:cNvPr id="21" name="Shape 16"/>
          <p:cNvSpPr/>
          <p:nvPr/>
        </p:nvSpPr>
        <p:spPr>
          <a:xfrm>
            <a:off x="9205722" y="184708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2" name="Image 3" descr="/home/claude/work/icons/hist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158" y="1906524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781794" y="1755648"/>
            <a:ext cx="17213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s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205722" y="2423160"/>
            <a:ext cx="22699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version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time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 SYNC LATENCY vs. CONCURRENT USERS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48640" y="3931920"/>
          <a:ext cx="5394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" name="Text 20"/>
          <p:cNvSpPr/>
          <p:nvPr/>
        </p:nvSpPr>
        <p:spPr>
          <a:xfrm>
            <a:off x="626364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BY TEST CATEGORY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931920"/>
          <a:ext cx="5394960" cy="2514600"/>
        </p:xfrm>
        <a:graphic>
          <a:graphicData uri="http://schemas.openxmlformats.org/drawingml/2006/table">
            <a:tbl>
              <a:tblPr/>
              <a:tblGrid>
                <a:gridCol w="2468880"/>
                <a:gridCol w="914400"/>
                <a:gridCol w="1005840"/>
                <a:gridCol w="100584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5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5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/ 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5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5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Versioning &amp;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5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9" name="Text 21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Review-3  |  Methodology Evaluation – Results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Discussion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8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490472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/home/claude/work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" y="156179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4475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was performed by re-running the Review-2 baseline comparison criteria against the implemented platform, and by soak-testing the CRDT engine beyond the functional test suite.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60527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Platform — Validated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files / local folders (manual)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F5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MinIO + PostgreSQL repository — validated: search finds any file in &lt; 350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structured permissions (Studies A–D)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F5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4-tier RBAC enforced at channel + REST level — validated: 100% of unauthorized-access test cases blocked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resolution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 / algorithmic only (Studies B, 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F5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Yjs CRDT — validated: zero data loss across 20-user concurrent edit soak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Overwritten, lost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F5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Diff-based snapshots — validated: 100% of restore test cases returned exact prior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soft failures (Concurrency, Search) traced to WebSocket reconnection edge cases and stop-word handling — both logged for the Review-4 hardening cycle.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Review-3  |  Validation &amp; Discussion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645920"/>
            <a:ext cx="3657600" cy="3657600"/>
          </a:xfrm>
          <a:prstGeom prst="ellipse">
            <a:avLst/>
          </a:prstGeom>
          <a:solidFill>
            <a:srgbClr val="2F5D8A"/>
          </a:solidFill>
          <a:ln/>
        </p:spPr>
      </p:sp>
      <p:sp>
        <p:nvSpPr>
          <p:cNvPr id="4" name="Shape 2"/>
          <p:cNvSpPr/>
          <p:nvPr/>
        </p:nvSpPr>
        <p:spPr>
          <a:xfrm>
            <a:off x="5632704" y="2103120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/home/claude/work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22199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2476" y="3246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22476" y="3886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3  |  Real-Time Collaborative Document Management System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22476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2026-09-14T07:08:19Z</dcterms:created>
  <dcterms:modified xsi:type="dcterms:W3CDTF">2026-09-14T07:08:19Z</dcterms:modified>
</cp:coreProperties>
</file>