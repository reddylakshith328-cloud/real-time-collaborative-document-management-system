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66760" y="0"/>
            <a:ext cx="3822191" cy="6858000"/>
          </a:xfrm>
          <a:prstGeom prst="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68512" y="594360"/>
            <a:ext cx="2926080" cy="5669280"/>
          </a:xfrm>
          <a:prstGeom prst="roundRect">
            <a:avLst/>
          </a:prstGeom>
          <a:solidFill>
            <a:srgbClr val="0C1930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98280" y="1143000"/>
            <a:ext cx="1874519" cy="109728"/>
          </a:xfrm>
          <a:prstGeom prst="round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98280" y="1600200"/>
            <a:ext cx="1508760" cy="109728"/>
          </a:xfrm>
          <a:prstGeom prst="roundRect">
            <a:avLst/>
          </a:prstGeom>
          <a:solidFill>
            <a:srgbClr val="B0C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98280" y="2057400"/>
            <a:ext cx="2011680" cy="109728"/>
          </a:xfrm>
          <a:prstGeom prst="roundRect">
            <a:avLst/>
          </a:prstGeom>
          <a:solidFill>
            <a:srgbClr val="B0C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98280" y="2514600"/>
            <a:ext cx="1600200" cy="109728"/>
          </a:xfrm>
          <a:prstGeom prst="roundRect">
            <a:avLst/>
          </a:prstGeom>
          <a:solidFill>
            <a:srgbClr val="B0C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89720" y="3749039"/>
            <a:ext cx="384048" cy="384048"/>
          </a:xfrm>
          <a:prstGeom prst="ellipse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04120" y="3383280"/>
            <a:ext cx="384048" cy="384048"/>
          </a:xfrm>
          <a:prstGeom prst="ellipse">
            <a:avLst/>
          </a:prstGeom>
          <a:solidFill>
            <a:srgbClr val="57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0" y="3749039"/>
            <a:ext cx="384048" cy="384048"/>
          </a:xfrm>
          <a:prstGeom prst="ellipse">
            <a:avLst/>
          </a:prstGeom>
          <a:solidFill>
            <a:srgbClr val="91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4251960"/>
            <a:ext cx="475488" cy="146304"/>
          </a:xfrm>
          <a:prstGeom prst="round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12680" y="3931920"/>
            <a:ext cx="566928" cy="146304"/>
          </a:xfrm>
          <a:prstGeom prst="roundRect">
            <a:avLst/>
          </a:prstGeom>
          <a:solidFill>
            <a:srgbClr val="57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27080" y="4251960"/>
            <a:ext cx="475488" cy="146304"/>
          </a:xfrm>
          <a:prstGeom prst="roundRect">
            <a:avLst/>
          </a:prstGeom>
          <a:solidFill>
            <a:srgbClr val="91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713232"/>
            <a:ext cx="6858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D2E1"/>
                </a:solidFill>
                <a:latin typeface="Aptos"/>
              </a:rPr>
              <a:t>PROJECT REVIEW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98448"/>
            <a:ext cx="722376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REAL-TIME COLLABORATIVE
DOCUMENT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45720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57DCAA"/>
                </a:solidFill>
                <a:latin typeface="Aptos"/>
              </a:rPr>
              <a:t>DocuSphere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547872"/>
            <a:ext cx="7086600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0C2D8"/>
                </a:solidFill>
                <a:latin typeface="Aptos"/>
              </a:rPr>
              <a:t>A secure workspace for shared documents, live editing,
version history, comments, and team collaboration.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590288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PROJECT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965192"/>
            <a:ext cx="3474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Lakshith  •  2510030332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349240"/>
            <a:ext cx="3474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Ranadeep  •  2510030337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733288"/>
            <a:ext cx="3474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Jivith  •  2510030430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4965192"/>
            <a:ext cx="3474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Rahul  •  2510030322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5349240"/>
            <a:ext cx="3474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Varshith  •  2510030426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6336792"/>
            <a:ext cx="4937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B0C2D8"/>
                </a:solidFill>
                <a:latin typeface="Aptos"/>
              </a:rPr>
              <a:t>PROJECT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Why this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C2D8"/>
                </a:solidFill>
                <a:latin typeface="Aptos"/>
              </a:rPr>
              <a:t>A centralized platform to create, manage, and collaborate on documents in real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658368" cy="41148"/>
          </a:xfrm>
          <a:prstGeom prst="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B0C2D8"/>
                </a:solidFill>
                <a:latin typeface="Aptos"/>
              </a:rPr>
              <a:t>PROJECT REVIEW 4  •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3456432" cy="1874519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8D2E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971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7DCAA"/>
                </a:solidFill>
                <a:latin typeface="Aptos"/>
              </a:rPr>
              <a:t>CENTRALIZED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97180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Keep documents, folders, versions, and discussions in one workspace.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2331720"/>
            <a:ext cx="3456432" cy="1874519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542032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8D2E1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971800"/>
            <a:ext cx="2971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7DCAA"/>
                </a:solidFill>
                <a:latin typeface="Aptos"/>
              </a:rPr>
              <a:t>COLLABORATIVE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429000"/>
            <a:ext cx="297180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Show active users and synchronize edits through WebSockets.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5" y="2331720"/>
            <a:ext cx="3456432" cy="1874519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8784" y="2542032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8D2E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2971800"/>
            <a:ext cx="2971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7DCAA"/>
                </a:solidFill>
                <a:latin typeface="Aptos"/>
              </a:rPr>
              <a:t>TRACEABLE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3429000"/>
            <a:ext cx="297180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Maintain version history and activity records for accountability.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PROJECT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38928"/>
            <a:ext cx="1033272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Reduce scattered files and slow review cycles by making document work shared, searchable, and easier to track.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02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C2D8"/>
                </a:solidFill>
                <a:latin typeface="Aptos"/>
              </a:rPr>
              <a:t>Frontend communicates with API endpoints and a WebSocket channel; data is stored across purpose-built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658368" cy="41148"/>
          </a:xfrm>
          <a:prstGeom prst="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B0C2D8"/>
                </a:solidFill>
                <a:latin typeface="Aptos"/>
              </a:rPr>
              <a:t>PROJECT REVIEW 4  •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2240280" cy="1005840"/>
          </a:xfrm>
          <a:prstGeom prst="roundRect">
            <a:avLst/>
          </a:prstGeom>
          <a:solidFill>
            <a:srgbClr val="162A48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633472"/>
            <a:ext cx="2020824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999232"/>
            <a:ext cx="202082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B0C2D8"/>
                </a:solidFill>
                <a:latin typeface="Aptos"/>
              </a:rPr>
              <a:t>Editor •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468880"/>
            <a:ext cx="2240280" cy="1005840"/>
          </a:xfrm>
          <a:prstGeom prst="roundRect">
            <a:avLst/>
          </a:prstGeom>
          <a:solidFill>
            <a:srgbClr val="162A48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633472"/>
            <a:ext cx="2020824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999232"/>
            <a:ext cx="202082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B0C2D8"/>
                </a:solidFill>
                <a:latin typeface="Aptos"/>
              </a:rPr>
              <a:t>REST API + WebSocket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057400"/>
            <a:ext cx="2057400" cy="1005840"/>
          </a:xfrm>
          <a:prstGeom prst="roundRect">
            <a:avLst/>
          </a:prstGeom>
          <a:solidFill>
            <a:srgbClr val="162A48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2221992"/>
            <a:ext cx="1837943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2587752"/>
            <a:ext cx="1837943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B0C2D8"/>
                </a:solidFill>
                <a:latin typeface="Aptos"/>
              </a:rPr>
              <a:t>Structured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429000"/>
            <a:ext cx="2057400" cy="1005840"/>
          </a:xfrm>
          <a:prstGeom prst="roundRect">
            <a:avLst/>
          </a:prstGeom>
          <a:solidFill>
            <a:srgbClr val="162A48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3593592"/>
            <a:ext cx="1837943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3959352"/>
            <a:ext cx="1837943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B0C2D8"/>
                </a:solidFill>
                <a:latin typeface="Aptos"/>
              </a:rPr>
              <a:t>Content • versions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2743200"/>
            <a:ext cx="2057400" cy="1005840"/>
          </a:xfrm>
          <a:prstGeom prst="roundRect">
            <a:avLst/>
          </a:prstGeom>
          <a:solidFill>
            <a:srgbClr val="162A48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7" y="2907792"/>
            <a:ext cx="1837943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Kafka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7" y="3273552"/>
            <a:ext cx="1837943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B0C2D8"/>
                </a:solidFill>
                <a:latin typeface="Aptos"/>
              </a:rPr>
              <a:t>Notifications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26080" y="2971800"/>
            <a:ext cx="731520" cy="0"/>
          </a:xfrm>
          <a:prstGeom prst="line">
            <a:avLst/>
          </a:prstGeom>
          <a:ln w="25400">
            <a:solidFill>
              <a:srgbClr val="38D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897880" y="2560320"/>
            <a:ext cx="731520" cy="320040"/>
          </a:xfrm>
          <a:prstGeom prst="line">
            <a:avLst/>
          </a:prstGeom>
          <a:ln w="25400">
            <a:solidFill>
              <a:srgbClr val="38D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97880" y="3063240"/>
            <a:ext cx="731520" cy="822960"/>
          </a:xfrm>
          <a:prstGeom prst="line">
            <a:avLst/>
          </a:prstGeom>
          <a:ln w="25400">
            <a:solidFill>
              <a:srgbClr val="38D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86800" y="2560320"/>
            <a:ext cx="777240" cy="457200"/>
          </a:xfrm>
          <a:prstGeom prst="line">
            <a:avLst/>
          </a:prstGeom>
          <a:ln w="25400">
            <a:solidFill>
              <a:srgbClr val="38D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686800" y="3474720"/>
            <a:ext cx="777240" cy="411480"/>
          </a:xfrm>
          <a:prstGeom prst="line">
            <a:avLst/>
          </a:prstGeom>
          <a:ln w="25400">
            <a:solidFill>
              <a:srgbClr val="38D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5166360"/>
            <a:ext cx="10515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Design principle: each component has a clear responsibility, making the system easier to test and extend.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03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Accuracy of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C2D8"/>
                </a:solidFill>
                <a:latin typeface="Aptos"/>
              </a:rPr>
              <a:t>Focus on correctness, consistency, and verification—not unsupported performance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658368" cy="41148"/>
          </a:xfrm>
          <a:prstGeom prst="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B0C2D8"/>
                </a:solidFill>
                <a:latin typeface="Aptos"/>
              </a:rPr>
              <a:t>PROJECT REVIEW 4  •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166360" cy="1170432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96312"/>
            <a:ext cx="4709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7DCAA"/>
                </a:solidFill>
                <a:latin typeface="Aptos"/>
              </a:rPr>
              <a:t>Document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39"/>
            <a:ext cx="47091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  <a:latin typeface="Aptos"/>
              </a:rPr>
              <a:t>Verify the selected document ID returns the matching title and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31720"/>
            <a:ext cx="5166360" cy="1170432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496312"/>
            <a:ext cx="4709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7DCAA"/>
                </a:solidFill>
                <a:latin typeface="Aptos"/>
              </a:rPr>
              <a:t>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39"/>
            <a:ext cx="47091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  <a:latin typeface="Aptos"/>
              </a:rPr>
              <a:t>Edit, wait for save confirmation, refresh, and verify the latest text remains.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40479"/>
            <a:ext cx="5166360" cy="1170432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05071"/>
            <a:ext cx="4709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7DCAA"/>
                </a:solidFill>
                <a:latin typeface="Aptos"/>
              </a:rPr>
              <a:t>Version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43399"/>
            <a:ext cx="47091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  <a:latin typeface="Aptos"/>
              </a:rPr>
              <a:t>Confirm saved revisions are ordered and restoration returns the selected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79"/>
            <a:ext cx="5166360" cy="1170432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005071"/>
            <a:ext cx="4709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7DCAA"/>
                </a:solidFill>
                <a:latin typeface="Aptos"/>
              </a:rPr>
              <a:t>Collaboration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43399"/>
            <a:ext cx="47091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  <a:latin typeface="Aptos"/>
              </a:rPr>
              <a:t>Use two sessions to check live updates, online presence, and comments.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577840"/>
            <a:ext cx="103327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D2E1"/>
                </a:solidFill>
                <a:latin typeface="Aptos"/>
              </a:rPr>
              <a:t>Report measured results only after running repeatable test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04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Technical Competence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C2D8"/>
                </a:solidFill>
                <a:latin typeface="Aptos"/>
              </a:rPr>
              <a:t>A full-stack design combining API development, persistent storage, and real-time communication.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658368" cy="41148"/>
          </a:xfrm>
          <a:prstGeom prst="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B0C2D8"/>
                </a:solidFill>
                <a:latin typeface="Aptos"/>
              </a:rPr>
              <a:t>PROJECT REVIEW 4  •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456432" cy="118872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D2E1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98648"/>
            <a:ext cx="3090672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React • Vite • component-based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2331720"/>
            <a:ext cx="3456432" cy="118872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3" y="25146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D2E1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3" y="2898648"/>
            <a:ext cx="3090672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FastAPI • REST endpoints • JWT authentication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5904" y="2331720"/>
            <a:ext cx="3456432" cy="118872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25146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D2E1"/>
                </a:solidFill>
                <a:latin typeface="Aptos"/>
              </a:rPr>
              <a:t>Live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898648"/>
            <a:ext cx="3090672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WebSockets • online presence • typing signals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79"/>
            <a:ext cx="3456432" cy="118872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23359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D2E1"/>
                </a:solidFill>
                <a:latin typeface="Aptos"/>
              </a:rP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407407"/>
            <a:ext cx="3090672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PostgreSQL + pgvector • MongoDB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3712" y="3840479"/>
            <a:ext cx="3456432" cy="118872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3" y="4023359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D2E1"/>
                </a:solidFill>
                <a:latin typeface="Aptos"/>
              </a:rPr>
              <a:t>Messaging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3" y="4407407"/>
            <a:ext cx="3090672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Kafka notification producer/consumer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75904" y="3840479"/>
            <a:ext cx="3456432" cy="1188720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6" y="4023359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D2E1"/>
                </a:solidFill>
                <a:latin typeface="Aptos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4407407"/>
            <a:ext cx="3090672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Aptos"/>
              </a:rPr>
              <a:t>API testing • error handling • version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05 /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Innovative and Sustainable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C2D8"/>
                </a:solidFill>
                <a:latin typeface="Aptos"/>
              </a:rPr>
              <a:t>Features that support teamwork, accountability, and maintainability.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658368" cy="41148"/>
          </a:xfrm>
          <a:prstGeom prst="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B0C2D8"/>
                </a:solidFill>
                <a:latin typeface="Aptos"/>
              </a:rPr>
              <a:t>PROJECT REVIEW 4  •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138928" cy="932688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77440"/>
            <a:ext cx="47548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Live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88336"/>
            <a:ext cx="4754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ptos"/>
              </a:rPr>
              <a:t>WebSocket-based edits and presence reduce repeated manual sharing.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2240280"/>
            <a:ext cx="5138928" cy="932688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1" y="2377440"/>
            <a:ext cx="47548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Version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1" y="2688336"/>
            <a:ext cx="4754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ptos"/>
              </a:rPr>
              <a:t>Earlier content can be reviewed and restored when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01568"/>
            <a:ext cx="5138928" cy="932688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538728"/>
            <a:ext cx="47548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849624"/>
            <a:ext cx="4754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ptos"/>
              </a:rPr>
              <a:t>Activity records can support traceability and accountability.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3401568"/>
            <a:ext cx="5138928" cy="932688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1" y="3538728"/>
            <a:ext cx="47548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Search-ready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1" y="3849624"/>
            <a:ext cx="4754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ptos"/>
              </a:rPr>
              <a:t>Structured metadata and vector capability can support future semantic search.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138928" cy="932688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700016"/>
            <a:ext cx="47548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Modular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010912"/>
            <a:ext cx="4754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ptos"/>
              </a:rPr>
              <a:t>Separate frontend, API, and data services simplify maintenance.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4562856"/>
            <a:ext cx="5138928" cy="932688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1" y="4700016"/>
            <a:ext cx="47548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Digital-first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1" y="5010912"/>
            <a:ext cx="4754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ptos"/>
              </a:rPr>
              <a:t>Shared electronic documents can reduce unnecessary printing and duplicate copies.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06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Utility to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C2D8"/>
                </a:solidFill>
                <a:latin typeface="Aptos"/>
              </a:rPr>
              <a:t>Potential users and the practical value of shared, traceable document workflows.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658368" cy="41148"/>
          </a:xfrm>
          <a:prstGeom prst="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B0C2D8"/>
                </a:solidFill>
                <a:latin typeface="Aptos"/>
              </a:rPr>
              <a:t>PROJECT REVIEW 4  •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146304" cy="502920"/>
          </a:xfrm>
          <a:prstGeom prst="round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04288"/>
            <a:ext cx="2103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7DCAA"/>
                </a:solidFill>
                <a:latin typeface="Aptos"/>
              </a:rPr>
              <a:t>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04288"/>
            <a:ext cx="7955279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Students and faculty can work on project reports and shared notes.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90672"/>
            <a:ext cx="146304" cy="502920"/>
          </a:xfrm>
          <a:prstGeom prst="round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08960"/>
            <a:ext cx="2103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7DCAA"/>
                </a:solidFill>
                <a:latin typeface="Aptos"/>
              </a:rPr>
              <a:t>Small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08960"/>
            <a:ext cx="7955279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Teams can centralize documents, comments, and revisions.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95344"/>
            <a:ext cx="146304" cy="502920"/>
          </a:xfrm>
          <a:prstGeom prst="round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13631"/>
            <a:ext cx="2103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7DCAA"/>
                </a:solidFill>
                <a:latin typeface="Aptos"/>
              </a:rPr>
              <a:t>Organizations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913631"/>
            <a:ext cx="7955279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Version tracking and activity records can help reduce confusion over copies.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00016"/>
            <a:ext cx="146304" cy="502920"/>
          </a:xfrm>
          <a:prstGeom prst="round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718304"/>
            <a:ext cx="2103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7DCAA"/>
                </a:solidFill>
                <a:latin typeface="Aptos"/>
              </a:rPr>
              <a:t>Remote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718304"/>
            <a:ext cx="7955279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Browser-based access supports collaboration across locations.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806440"/>
            <a:ext cx="1042416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D2E1"/>
                </a:solidFill>
                <a:latin typeface="Aptos"/>
              </a:rPr>
              <a:t>Responsible use requires authentication, access control, backups, and secure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07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Presentation Skills: Live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C2D8"/>
                </a:solidFill>
                <a:latin typeface="Aptos"/>
              </a:rPr>
              <a:t>A clear sequence for demonstrating the system and explaining each result.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658368" cy="41148"/>
          </a:xfrm>
          <a:prstGeom prst="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B0C2D8"/>
                </a:solidFill>
                <a:latin typeface="Aptos"/>
              </a:rPr>
              <a:t>PROJECT REVIEW 4  •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560320"/>
            <a:ext cx="2011680" cy="1874519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761488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8D2E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246120"/>
            <a:ext cx="1664208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703320"/>
            <a:ext cx="1664208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  <a:latin typeface="Aptos"/>
              </a:rPr>
              <a:t>Authenticate and open the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2560320"/>
            <a:ext cx="2011680" cy="1874519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2761488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8D2E1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3246120"/>
            <a:ext cx="1664208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Open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3703320"/>
            <a:ext cx="1664208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  <a:latin typeface="Aptos"/>
              </a:rPr>
              <a:t>Show retrieval of saved title and content.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2" y="2560320"/>
            <a:ext cx="2011680" cy="1874519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9824" y="2761488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8D2E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9824" y="3246120"/>
            <a:ext cx="1664208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Edit 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3703320"/>
            <a:ext cx="1664208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  <a:latin typeface="Aptos"/>
              </a:rPr>
              <a:t>Use two browser sessions to demonstrate live updates.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2560320"/>
            <a:ext cx="2011680" cy="1874519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2761488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8D2E1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3" y="3246120"/>
            <a:ext cx="1664208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Save + 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3" y="3703320"/>
            <a:ext cx="1664208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  <a:latin typeface="Aptos"/>
              </a:rPr>
              <a:t>Verify persistence after reload.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57232" y="2560320"/>
            <a:ext cx="2011680" cy="1874519"/>
          </a:xfrm>
          <a:prstGeom prst="round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21824" y="2761488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8D2E1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1824" y="3246120"/>
            <a:ext cx="1664208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7DCAA"/>
                </a:solidFill>
                <a:latin typeface="Aptos"/>
              </a:rPr>
              <a:t>History + comments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21824" y="3703320"/>
            <a:ext cx="1664208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  <a:latin typeface="Aptos"/>
              </a:rPr>
              <a:t>Show a previous version, restore flow, and discussion.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212080"/>
            <a:ext cx="10332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Presentation tip: state the objective, demonstrate the action, then explain the observed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08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A shared workspace built for reliable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C2D8"/>
                </a:solidFill>
                <a:latin typeface="Aptos"/>
              </a:rPr>
              <a:t>The project brings document organization, real-time interaction, and revision tracking into one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658368" cy="41148"/>
          </a:xfrm>
          <a:prstGeom prst="rect">
            <a:avLst/>
          </a:prstGeom>
          <a:solidFill>
            <a:srgbClr val="3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8346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B0C2D8"/>
                </a:solidFill>
                <a:latin typeface="Aptos"/>
              </a:rPr>
              <a:t>PROJECT REVIEW 4  •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2860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D2E1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57DCAA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834640"/>
            <a:ext cx="8869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One place to organize and access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01568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57DCAA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401568"/>
            <a:ext cx="8869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Real-time collaboration through WebSockets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68496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57DCAA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968496"/>
            <a:ext cx="8869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Version history and comments for traceability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35424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57DCAA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535424"/>
            <a:ext cx="8869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Clear testing path for accuracy and persistence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514600"/>
            <a:ext cx="2148840" cy="2011680"/>
          </a:xfrm>
          <a:prstGeom prst="roundRect">
            <a:avLst/>
          </a:prstGeom>
          <a:solidFill>
            <a:srgbClr val="162A48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063240"/>
            <a:ext cx="17830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57DCAA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657600"/>
            <a:ext cx="1783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F5F8FF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