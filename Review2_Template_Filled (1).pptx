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114800" cy="4114800"/>
          </a:xfrm>
          <a:prstGeom prst="ellipse">
            <a:avLst/>
          </a:prstGeom>
          <a:solidFill>
            <a:srgbClr val="141A45"/>
          </a:solidFill>
        </p:spPr>
      </p:sp>
      <p:sp>
        <p:nvSpPr>
          <p:cNvPr id="3" name="Shape 1"/>
          <p:cNvSpPr/>
          <p:nvPr/>
        </p:nvSpPr>
        <p:spPr>
          <a:xfrm>
            <a:off x="10789920" y="4389120"/>
            <a:ext cx="2926080" cy="2926080"/>
          </a:xfrm>
          <a:prstGeom prst="ellipse">
            <a:avLst/>
          </a:prstGeom>
          <a:solidFill>
            <a:srgbClr val="141A45"/>
          </a:solidFill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–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868680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Collaborative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Management System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— Database Systems Engineering &amp; Distributed Backend Development (DBS-DBD)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2743200" cy="0"/>
          </a:xfrm>
          <a:prstGeom prst="line">
            <a:avLst/>
          </a:prstGeom>
          <a:noFill/>
          <a:ln w="19050">
            <a:solidFill>
              <a:srgbClr val="FF7A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5196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4988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Sasidhar Kothuru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93776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5184648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Lakshith – 2510030332      Ranadeep – 2510030337      Jivith – 2510030430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– 2510030322     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98932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Comparison · Gap Analysis · Proposed Novelty · Final Solution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STUDIED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698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64208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</p:spPr>
      </p:sp>
      <p:sp>
        <p:nvSpPr>
          <p:cNvPr id="5" name="Shape 3"/>
          <p:cNvSpPr/>
          <p:nvPr/>
        </p:nvSpPr>
        <p:spPr>
          <a:xfrm>
            <a:off x="658368" y="1828800"/>
            <a:ext cx="438912" cy="43891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658368" y="1828800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10195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Devansh-ds, Collaborative-text-editor (Open Source)  </a:t>
            </a:r>
            <a:r>
              <a:rPr lang="en-US" alt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Conflict-free Replicated Data Type</a:t>
            </a:r>
            <a:endParaRPr lang="en-US" altLang="en-US" sz="1250" b="1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80160" y="2057400"/>
            <a:ext cx="10195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Spring Boot + PostgreSQL real-time editor with CRDT-based conflict resolution.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</p:spPr>
      </p:sp>
      <p:sp>
        <p:nvSpPr>
          <p:cNvPr id="10" name="Shape 8"/>
          <p:cNvSpPr/>
          <p:nvPr/>
        </p:nvSpPr>
        <p:spPr>
          <a:xfrm>
            <a:off x="658368" y="2724912"/>
            <a:ext cx="438912" cy="43891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658368" y="2724912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633472"/>
            <a:ext cx="10195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Li, M. et al. (2025) — CRDT-OT Hybrid Client-Based System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80160" y="2953512"/>
            <a:ext cx="10195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ResearchGate. Hybrid CRDT-OT model for real-time engineering document collaboration.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</p:spPr>
      </p:sp>
      <p:sp>
        <p:nvSpPr>
          <p:cNvPr id="15" name="Shape 13"/>
          <p:cNvSpPr/>
          <p:nvPr/>
        </p:nvSpPr>
        <p:spPr>
          <a:xfrm>
            <a:off x="658368" y="3621024"/>
            <a:ext cx="438912" cy="43891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658368" y="3621024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529584"/>
            <a:ext cx="10195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Symposium on Document Engineering — Evaluating CRDTs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80160" y="3849624"/>
            <a:ext cx="10195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evaluation of CRDT variants (WOOT, Logoot, Treedoc, RGA) for real-time editing.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352544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</p:spPr>
      </p:sp>
      <p:sp>
        <p:nvSpPr>
          <p:cNvPr id="20" name="Shape 18"/>
          <p:cNvSpPr/>
          <p:nvPr/>
        </p:nvSpPr>
        <p:spPr>
          <a:xfrm>
            <a:off x="658368" y="4517136"/>
            <a:ext cx="438912" cy="43891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/>
          <p:nvPr/>
        </p:nvSpPr>
        <p:spPr>
          <a:xfrm>
            <a:off x="658368" y="4517136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4425696"/>
            <a:ext cx="10195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Stars — Collaborative Editing Tool System Design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80160" y="4745736"/>
            <a:ext cx="10195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architecture using Django + PostgreSQL + WebSockets + Yjs CRDT.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248656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</p:spPr>
      </p:sp>
      <p:sp>
        <p:nvSpPr>
          <p:cNvPr id="25" name="Shape 23"/>
          <p:cNvSpPr/>
          <p:nvPr/>
        </p:nvSpPr>
        <p:spPr>
          <a:xfrm>
            <a:off x="658495" y="5413375"/>
            <a:ext cx="460375" cy="438785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4"/>
          <p:cNvSpPr/>
          <p:nvPr/>
        </p:nvSpPr>
        <p:spPr>
          <a:xfrm>
            <a:off x="658368" y="5413248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5321808"/>
            <a:ext cx="10195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Docs / Permit.io — Role-Based Access Control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80160" y="5641848"/>
            <a:ext cx="10195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design patterns for document-level and multi-tenant authorization.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– DBS-DBD  |  Project Review-2  |  Literature Review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| DB | MAIN FEATURE | ADVANTAGE | LIMITATION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698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286000" cy="4572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548640" y="169164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691640"/>
            <a:ext cx="1463040" cy="4572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2834640" y="1691640"/>
            <a:ext cx="1280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691640"/>
            <a:ext cx="2651760" cy="4572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4297680" y="169164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Feature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691640"/>
            <a:ext cx="2468880" cy="4572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6949440" y="169164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326880" y="1691640"/>
            <a:ext cx="2377440" cy="4572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9418320" y="16916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11247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48840"/>
            <a:ext cx="21031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 Editor)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834640" y="2148840"/>
            <a:ext cx="1280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97680" y="2148840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CRDT-based real-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text editing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49440" y="2148840"/>
            <a:ext cx="2286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our React +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+ PG stack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418320" y="2148840"/>
            <a:ext cx="21945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RBAC, folders,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DMS features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11247120" cy="777240"/>
          </a:xfrm>
          <a:prstGeom prst="rect">
            <a:avLst/>
          </a:prstGeom>
          <a:solidFill>
            <a:srgbClr val="F3F6FC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926080"/>
            <a:ext cx="21031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B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(CRDT-OT Hybrid)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834640" y="2926080"/>
            <a:ext cx="1280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97680" y="2926080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CRDT + OT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engineering docs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949440" y="2926080"/>
            <a:ext cx="2286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throughput &amp;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consumption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418320" y="2926080"/>
            <a:ext cx="21945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(CAD), not general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11247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703320"/>
            <a:ext cx="21031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(CRDT Evaluation)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834640" y="3703320"/>
            <a:ext cx="1280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97680" y="3703320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CRDT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(WOOT, RGA)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49440" y="3703320"/>
            <a:ext cx="2286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algorithmic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418320" y="3703320"/>
            <a:ext cx="21945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storage, auth, or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layer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480560"/>
            <a:ext cx="11247120" cy="777240"/>
          </a:xfrm>
          <a:prstGeom prst="rect">
            <a:avLst/>
          </a:prstGeom>
          <a:solidFill>
            <a:srgbClr val="F3F6FC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480560"/>
            <a:ext cx="21031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(Django Collab Tool)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834640" y="4480560"/>
            <a:ext cx="1280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97680" y="4480560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design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Yjs CRDT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49440" y="4480560"/>
            <a:ext cx="2286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Production-oriented,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our design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418320" y="4480560"/>
            <a:ext cx="21945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blog, not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5257800"/>
            <a:ext cx="11247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5257800"/>
            <a:ext cx="21031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E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(MongoDB RBAC)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834640" y="5257800"/>
            <a:ext cx="1280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297680" y="5257800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model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49440" y="5257800"/>
            <a:ext cx="2286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granular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design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418320" y="5257800"/>
            <a:ext cx="21945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document-level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 built-in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– DBS-DBD  |  Project Review-2  |  Literature Comparison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IN EXISTING WORK?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698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108960" cy="43891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548640" y="1645920"/>
            <a:ext cx="29260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Study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566160" y="1645920"/>
            <a:ext cx="1737360" cy="43891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3657600" y="1645920"/>
            <a:ext cx="15544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0" y="1645920"/>
            <a:ext cx="3108960" cy="43891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5394960" y="1645920"/>
            <a:ext cx="29260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0" y="1645920"/>
            <a:ext cx="3291840" cy="43891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8503920" y="1645920"/>
            <a:ext cx="31089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/ Gap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84832"/>
            <a:ext cx="11247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84832"/>
            <a:ext cx="29260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 — Text Editor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0" y="2084832"/>
            <a:ext cx="15544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94960" y="2084832"/>
            <a:ext cx="29260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CRDT editing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03920" y="2084832"/>
            <a:ext cx="31089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RBAC or folder hierarchy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11247120" cy="566928"/>
          </a:xfrm>
          <a:prstGeom prst="rect">
            <a:avLst/>
          </a:prstGeom>
          <a:solidFill>
            <a:srgbClr val="F3F6FC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51760"/>
            <a:ext cx="29260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B — CRDT-OT Hybrid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0" y="2651760"/>
            <a:ext cx="15544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94960" y="2651760"/>
            <a:ext cx="29260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conflict resolution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03920" y="2651760"/>
            <a:ext cx="31089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Domain-specific, not general docs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218688"/>
            <a:ext cx="11247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218688"/>
            <a:ext cx="29260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 — CRDT Evaluation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0" y="3218688"/>
            <a:ext cx="15544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94960" y="3218688"/>
            <a:ext cx="29260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CRDT comparison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03920" y="3218688"/>
            <a:ext cx="31089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storage / auth / search integration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785616"/>
            <a:ext cx="11247120" cy="566928"/>
          </a:xfrm>
          <a:prstGeom prst="rect">
            <a:avLst/>
          </a:prstGeom>
          <a:solidFill>
            <a:srgbClr val="F3F6FC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85616"/>
            <a:ext cx="29260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 — Django Collab Tool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0" y="3785616"/>
            <a:ext cx="15544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94960" y="3785616"/>
            <a:ext cx="29260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real-time system design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503920" y="3785616"/>
            <a:ext cx="31089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or governance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4352544"/>
            <a:ext cx="11247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352544"/>
            <a:ext cx="29260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E — MongoDB RBAC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0" y="4352544"/>
            <a:ext cx="15544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94960" y="4352544"/>
            <a:ext cx="29260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role-based access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503920" y="4352544"/>
            <a:ext cx="31089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document-level granularity / versioning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</p:spPr>
      </p:sp>
      <p:sp>
        <p:nvSpPr>
          <p:cNvPr id="38" name="Text 36"/>
          <p:cNvSpPr/>
          <p:nvPr/>
        </p:nvSpPr>
        <p:spPr>
          <a:xfrm>
            <a:off x="685800" y="55778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GAP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" y="5824728"/>
            <a:ext cx="10789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existing study combines real-time CRDT collaboration with RBAC, full-text search, versioning, and audit governance in one platform.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– DBS-DBD  |  Project Review-2  |  Gap Analysis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IN OUR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698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Novelty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" cy="4572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548640" y="1691640"/>
            <a:ext cx="18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1828800" cy="4572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914400" y="1691640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691640"/>
            <a:ext cx="1371600" cy="4572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2743200" y="169164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/ DB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0" y="1691640"/>
            <a:ext cx="1554480" cy="4572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4114800" y="169164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1691640"/>
            <a:ext cx="1463040" cy="4572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5669280" y="1691640"/>
            <a:ext cx="1280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1691640"/>
            <a:ext cx="1554480" cy="4572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7132320" y="169164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95360" y="1691640"/>
            <a:ext cx="1737360" cy="4572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7" name="Text 15"/>
          <p:cNvSpPr/>
          <p:nvPr/>
        </p:nvSpPr>
        <p:spPr>
          <a:xfrm>
            <a:off x="8686800" y="169164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148840"/>
            <a:ext cx="9875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148840"/>
            <a:ext cx="182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914400" y="2148840"/>
            <a:ext cx="1645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Editor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(Study A)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2743200" y="2148840"/>
            <a:ext cx="1188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4114800" y="2148840"/>
            <a:ext cx="1371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CRDT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5669280" y="2148840"/>
            <a:ext cx="1280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RBAC or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7132320" y="2148840"/>
            <a:ext cx="1371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8686800" y="2148840"/>
            <a:ext cx="1554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4-tier RBAC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(Admin/Editor/...)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457200" y="2926080"/>
            <a:ext cx="9875520" cy="777240"/>
          </a:xfrm>
          <a:prstGeom prst="rect">
            <a:avLst/>
          </a:prstGeom>
          <a:solidFill>
            <a:srgbClr val="F3F6FC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926080"/>
            <a:ext cx="182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914400" y="2926080"/>
            <a:ext cx="1645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CRDT-OT Hybrid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(Study B)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2743200" y="2926080"/>
            <a:ext cx="1188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Event-driven,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4114800" y="2926080"/>
            <a:ext cx="1371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conflict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5669280" y="2926080"/>
            <a:ext cx="1280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(CAD)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7132320" y="2926080"/>
            <a:ext cx="1371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generalized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business docs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8686800" y="2926080"/>
            <a:ext cx="1554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CRDT to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doc mgmt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457200" y="3703320"/>
            <a:ext cx="9875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703320"/>
            <a:ext cx="182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914400" y="3703320"/>
            <a:ext cx="1645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CRDT Evaluation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(Study C)</a:t>
            </a:r>
            <a:endParaRPr lang="en-US" sz="830" dirty="0"/>
          </a:p>
        </p:txBody>
      </p:sp>
      <p:sp>
        <p:nvSpPr>
          <p:cNvPr id="37" name="Text 35"/>
          <p:cNvSpPr/>
          <p:nvPr/>
        </p:nvSpPr>
        <p:spPr>
          <a:xfrm>
            <a:off x="2743200" y="3703320"/>
            <a:ext cx="1188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4114800" y="3703320"/>
            <a:ext cx="1371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CRDT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830" dirty="0"/>
          </a:p>
        </p:txBody>
      </p:sp>
      <p:sp>
        <p:nvSpPr>
          <p:cNvPr id="39" name="Text 37"/>
          <p:cNvSpPr/>
          <p:nvPr/>
        </p:nvSpPr>
        <p:spPr>
          <a:xfrm>
            <a:off x="5669280" y="3703320"/>
            <a:ext cx="1280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storage /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layer</a:t>
            </a:r>
            <a:endParaRPr lang="en-US" sz="830" dirty="0"/>
          </a:p>
        </p:txBody>
      </p:sp>
      <p:sp>
        <p:nvSpPr>
          <p:cNvPr id="40" name="Text 38"/>
          <p:cNvSpPr/>
          <p:nvPr/>
        </p:nvSpPr>
        <p:spPr>
          <a:xfrm>
            <a:off x="7132320" y="3703320"/>
            <a:ext cx="1371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830" dirty="0"/>
          </a:p>
        </p:txBody>
      </p:sp>
      <p:sp>
        <p:nvSpPr>
          <p:cNvPr id="41" name="Text 39"/>
          <p:cNvSpPr/>
          <p:nvPr/>
        </p:nvSpPr>
        <p:spPr>
          <a:xfrm>
            <a:off x="8686800" y="3703320"/>
            <a:ext cx="1554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PostgreSQL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MinIO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457200" y="4480560"/>
            <a:ext cx="9875520" cy="777240"/>
          </a:xfrm>
          <a:prstGeom prst="rect">
            <a:avLst/>
          </a:prstGeom>
          <a:solidFill>
            <a:srgbClr val="F3F6FC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480560"/>
            <a:ext cx="182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30" dirty="0"/>
          </a:p>
        </p:txBody>
      </p:sp>
      <p:sp>
        <p:nvSpPr>
          <p:cNvPr id="44" name="Text 42"/>
          <p:cNvSpPr/>
          <p:nvPr/>
        </p:nvSpPr>
        <p:spPr>
          <a:xfrm>
            <a:off x="914400" y="4480560"/>
            <a:ext cx="1645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Collab Tool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(Study D)</a:t>
            </a:r>
            <a:endParaRPr lang="en-US" sz="830" dirty="0"/>
          </a:p>
        </p:txBody>
      </p:sp>
      <p:sp>
        <p:nvSpPr>
          <p:cNvPr id="45" name="Text 43"/>
          <p:cNvSpPr/>
          <p:nvPr/>
        </p:nvSpPr>
        <p:spPr>
          <a:xfrm>
            <a:off x="2743200" y="4480560"/>
            <a:ext cx="1188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Yjs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4114800" y="4480560"/>
            <a:ext cx="1371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real-time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830" dirty="0"/>
          </a:p>
        </p:txBody>
      </p:sp>
      <p:sp>
        <p:nvSpPr>
          <p:cNvPr id="47" name="Text 45"/>
          <p:cNvSpPr/>
          <p:nvPr/>
        </p:nvSpPr>
        <p:spPr>
          <a:xfrm>
            <a:off x="5669280" y="4480560"/>
            <a:ext cx="1280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</a:t>
            </a:r>
            <a:endParaRPr lang="en-US" sz="830" dirty="0"/>
          </a:p>
        </p:txBody>
      </p:sp>
      <p:sp>
        <p:nvSpPr>
          <p:cNvPr id="48" name="Text 46"/>
          <p:cNvSpPr/>
          <p:nvPr/>
        </p:nvSpPr>
        <p:spPr>
          <a:xfrm>
            <a:off x="7132320" y="4480560"/>
            <a:ext cx="1371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830" dirty="0"/>
          </a:p>
        </p:txBody>
      </p:sp>
      <p:sp>
        <p:nvSpPr>
          <p:cNvPr id="49" name="Text 47"/>
          <p:cNvSpPr/>
          <p:nvPr/>
        </p:nvSpPr>
        <p:spPr>
          <a:xfrm>
            <a:off x="8686800" y="4480560"/>
            <a:ext cx="1554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full audit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830" dirty="0"/>
          </a:p>
        </p:txBody>
      </p:sp>
      <p:sp>
        <p:nvSpPr>
          <p:cNvPr id="50" name="Shape 48"/>
          <p:cNvSpPr/>
          <p:nvPr/>
        </p:nvSpPr>
        <p:spPr>
          <a:xfrm>
            <a:off x="457200" y="5257800"/>
            <a:ext cx="9875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5257800"/>
            <a:ext cx="182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30" dirty="0"/>
          </a:p>
        </p:txBody>
      </p:sp>
      <p:sp>
        <p:nvSpPr>
          <p:cNvPr id="52" name="Text 50"/>
          <p:cNvSpPr/>
          <p:nvPr/>
        </p:nvSpPr>
        <p:spPr>
          <a:xfrm>
            <a:off x="914400" y="5257800"/>
            <a:ext cx="1645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RBAC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(Study E)</a:t>
            </a:r>
            <a:endParaRPr lang="en-US" sz="830" dirty="0"/>
          </a:p>
        </p:txBody>
      </p:sp>
      <p:sp>
        <p:nvSpPr>
          <p:cNvPr id="53" name="Text 51"/>
          <p:cNvSpPr/>
          <p:nvPr/>
        </p:nvSpPr>
        <p:spPr>
          <a:xfrm>
            <a:off x="2743200" y="5257800"/>
            <a:ext cx="1188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830" dirty="0"/>
          </a:p>
        </p:txBody>
      </p:sp>
      <p:sp>
        <p:nvSpPr>
          <p:cNvPr id="54" name="Text 52"/>
          <p:cNvSpPr/>
          <p:nvPr/>
        </p:nvSpPr>
        <p:spPr>
          <a:xfrm>
            <a:off x="4114800" y="5257800"/>
            <a:ext cx="1371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role-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access</a:t>
            </a:r>
            <a:endParaRPr lang="en-US" sz="830" dirty="0"/>
          </a:p>
        </p:txBody>
      </p:sp>
      <p:sp>
        <p:nvSpPr>
          <p:cNvPr id="55" name="Text 53"/>
          <p:cNvSpPr/>
          <p:nvPr/>
        </p:nvSpPr>
        <p:spPr>
          <a:xfrm>
            <a:off x="5669280" y="5257800"/>
            <a:ext cx="1280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versioning /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830" dirty="0"/>
          </a:p>
        </p:txBody>
      </p:sp>
      <p:sp>
        <p:nvSpPr>
          <p:cNvPr id="56" name="Text 54"/>
          <p:cNvSpPr/>
          <p:nvPr/>
        </p:nvSpPr>
        <p:spPr>
          <a:xfrm>
            <a:off x="7132320" y="5257800"/>
            <a:ext cx="1371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Document-level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missing</a:t>
            </a:r>
            <a:endParaRPr lang="en-US" sz="830" dirty="0"/>
          </a:p>
        </p:txBody>
      </p:sp>
      <p:sp>
        <p:nvSpPr>
          <p:cNvPr id="57" name="Text 55"/>
          <p:cNvSpPr/>
          <p:nvPr/>
        </p:nvSpPr>
        <p:spPr>
          <a:xfrm>
            <a:off x="8686800" y="5257800"/>
            <a:ext cx="1554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RBAC +</a:t>
            </a:r>
            <a:endParaRPr lang="en-US" sz="830" dirty="0"/>
          </a:p>
          <a:p>
            <a:pPr marL="0" indent="0">
              <a:lnSpc>
                <a:spcPts val="103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830" dirty="0"/>
          </a:p>
        </p:txBody>
      </p:sp>
      <p:sp>
        <p:nvSpPr>
          <p:cNvPr id="58" name="Text 5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– DBS-DBD  |  Project Review-2  |  Proposed Novelty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&amp; FINAL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698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Proposed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self-hosted, governed document platform that closes every gap identified above.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141A45"/>
          </a:solidFill>
        </p:spPr>
      </p:sp>
      <p:sp>
        <p:nvSpPr>
          <p:cNvPr id="6" name="Text 4"/>
          <p:cNvSpPr/>
          <p:nvPr/>
        </p:nvSpPr>
        <p:spPr>
          <a:xfrm>
            <a:off x="502920" y="2011680"/>
            <a:ext cx="138988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92808" y="2240280"/>
            <a:ext cx="274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57400" y="201168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141A45"/>
          </a:solidFill>
        </p:spPr>
      </p:sp>
      <p:sp>
        <p:nvSpPr>
          <p:cNvPr id="9" name="Text 7"/>
          <p:cNvSpPr/>
          <p:nvPr/>
        </p:nvSpPr>
        <p:spPr>
          <a:xfrm>
            <a:off x="2103120" y="2011680"/>
            <a:ext cx="138988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93008" y="2240280"/>
            <a:ext cx="274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201168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141A45"/>
          </a:solidFill>
        </p:spPr>
      </p:sp>
      <p:sp>
        <p:nvSpPr>
          <p:cNvPr id="12" name="Text 10"/>
          <p:cNvSpPr/>
          <p:nvPr/>
        </p:nvSpPr>
        <p:spPr>
          <a:xfrm>
            <a:off x="3703320" y="2011680"/>
            <a:ext cx="138988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Folder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93208" y="2240280"/>
            <a:ext cx="274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57800" y="201168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141A45"/>
          </a:solidFill>
        </p:spPr>
      </p:sp>
      <p:sp>
        <p:nvSpPr>
          <p:cNvPr id="15" name="Text 13"/>
          <p:cNvSpPr/>
          <p:nvPr/>
        </p:nvSpPr>
        <p:spPr>
          <a:xfrm>
            <a:off x="5303520" y="2011680"/>
            <a:ext cx="138988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93408" y="2240280"/>
            <a:ext cx="274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0" y="201168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141A45"/>
          </a:solidFill>
        </p:spPr>
      </p:sp>
      <p:sp>
        <p:nvSpPr>
          <p:cNvPr id="18" name="Text 16"/>
          <p:cNvSpPr/>
          <p:nvPr/>
        </p:nvSpPr>
        <p:spPr>
          <a:xfrm>
            <a:off x="6903720" y="2011680"/>
            <a:ext cx="138988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93608" y="2240280"/>
            <a:ext cx="274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58200" y="201168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141A45"/>
          </a:solidFill>
        </p:spPr>
      </p:sp>
      <p:sp>
        <p:nvSpPr>
          <p:cNvPr id="21" name="Text 19"/>
          <p:cNvSpPr/>
          <p:nvPr/>
        </p:nvSpPr>
        <p:spPr>
          <a:xfrm>
            <a:off x="8503920" y="2011680"/>
            <a:ext cx="138988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&amp;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Co-Edit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893808" y="2240280"/>
            <a:ext cx="274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058400" y="201168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141A45"/>
          </a:solidFill>
        </p:spPr>
      </p:sp>
      <p:sp>
        <p:nvSpPr>
          <p:cNvPr id="24" name="Text 22"/>
          <p:cNvSpPr/>
          <p:nvPr/>
        </p:nvSpPr>
        <p:spPr>
          <a:xfrm>
            <a:off x="10104120" y="2011680"/>
            <a:ext cx="138988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1546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41A45"/>
          </a:solidFill>
        </p:spPr>
      </p:sp>
      <p:sp>
        <p:nvSpPr>
          <p:cNvPr id="26" name="Text 24"/>
          <p:cNvSpPr/>
          <p:nvPr/>
        </p:nvSpPr>
        <p:spPr>
          <a:xfrm>
            <a:off x="685800" y="3319272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Governance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3685032"/>
            <a:ext cx="49377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 RBAC (Admin/Editor/Commenter/Viewer) + full audit trail (actor, action, timestamp, IP)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31546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41A45"/>
          </a:solidFill>
        </p:spPr>
      </p:sp>
      <p:sp>
        <p:nvSpPr>
          <p:cNvPr id="29" name="Text 27"/>
          <p:cNvSpPr/>
          <p:nvPr/>
        </p:nvSpPr>
        <p:spPr>
          <a:xfrm>
            <a:off x="6537960" y="3319272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Search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37960" y="3685032"/>
            <a:ext cx="49377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for metadata/permissions + MinIO object storage + PostgreSQL full-text search (Elasticsearch Phase 2)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800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41A45"/>
          </a:solidFill>
        </p:spPr>
      </p:sp>
      <p:sp>
        <p:nvSpPr>
          <p:cNvPr id="32" name="Text 30"/>
          <p:cNvSpPr/>
          <p:nvPr/>
        </p:nvSpPr>
        <p:spPr>
          <a:xfrm>
            <a:off x="685800" y="4965192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" y="5330952"/>
            <a:ext cx="49377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(STOMP) + Yjs CRDT — conflict-free concurrent editing with live cursors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4800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41A45"/>
          </a:solidFill>
        </p:spPr>
      </p:sp>
      <p:sp>
        <p:nvSpPr>
          <p:cNvPr id="35" name="Text 33"/>
          <p:cNvSpPr/>
          <p:nvPr/>
        </p:nvSpPr>
        <p:spPr>
          <a:xfrm>
            <a:off x="6537960" y="4965192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37960" y="5330952"/>
            <a:ext cx="49377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Diff-based snapshots per document save, with one-click restore from history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– DBS-DBD  |  Project Review-2  |  Final Proposed Solution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4347</Words>
  <Application>WPS Presentation</Application>
  <PresentationFormat>On-screen Show (16:9)</PresentationFormat>
  <Paragraphs>383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Cambria</vt:lpstr>
      <vt:lpstr>Cambria</vt:lpstr>
      <vt:lpstr>Cambria</vt:lpstr>
      <vt:lpstr>苹方-简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Lakshith Reddy</cp:lastModifiedBy>
  <cp:revision>2</cp:revision>
  <dcterms:created xsi:type="dcterms:W3CDTF">2026-08-16T12:05:58Z</dcterms:created>
  <dcterms:modified xsi:type="dcterms:W3CDTF">2026-08-16T12:05:58Z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7B5E9C716126FB16A6A7816AFF89DC07_43</vt:lpwstr>
  </property>
</Properties>
</file>